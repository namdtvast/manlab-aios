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6" r:id="rId2"/>
    <p:sldId id="282" r:id="rId3"/>
    <p:sldId id="280" r:id="rId4"/>
    <p:sldId id="273" r:id="rId5"/>
    <p:sldId id="285" r:id="rId6"/>
    <p:sldId id="286" r:id="rId7"/>
    <p:sldId id="283" r:id="rId8"/>
    <p:sldId id="270" r:id="rId9"/>
    <p:sldId id="279" r:id="rId10"/>
    <p:sldId id="281" r:id="rId11"/>
    <p:sldId id="284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706" autoAdjust="0"/>
  </p:normalViewPr>
  <p:slideViewPr>
    <p:cSldViewPr>
      <p:cViewPr varScale="1">
        <p:scale>
          <a:sx n="110" d="100"/>
          <a:sy n="110" d="100"/>
        </p:scale>
        <p:origin x="165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824F5-A2CD-4820-AA46-447FE198F85A}" type="datetimeFigureOut">
              <a:rPr lang="en-GB" smtClean="0"/>
              <a:pPr/>
              <a:t>09/06/2015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860C2-541E-42C6-B40D-A3B07D80381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91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8742D01-CD2B-4BF6-A337-42B51E4008FB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579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26049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859231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lnSpc>
                <a:spcPct val="90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lnSpc>
                <a:spcPct val="90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lnSpc>
                <a:spcPct val="90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lnSpc>
                <a:spcPct val="90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lnSpc>
                <a:spcPct val="90000"/>
              </a:lnSpc>
              <a:spcBef>
                <a:spcPct val="4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fld id="{86300F39-462F-4311-9AD1-52C93D013322}" type="slidenum">
              <a:rPr lang="en-US" altLang="en-US" sz="1000" smtClean="0"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</a:pPr>
              <a:t>7</a:t>
            </a:fld>
            <a:endParaRPr lang="en-US" altLang="en-US" sz="1000" smtClean="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070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A6E40F-4BAF-4413-8444-18CCB3D04B8A}" type="slidenum">
              <a:rPr lang="en-GB" altLang="en-US" smtClean="0"/>
              <a:pPr/>
              <a:t>9</a:t>
            </a:fld>
            <a:endParaRPr lang="en-GB" altLang="en-US" smtClean="0"/>
          </a:p>
        </p:txBody>
      </p:sp>
      <p:sp>
        <p:nvSpPr>
          <p:cNvPr id="35843" name="Rectangle 5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50" tIns="0" rIns="19050" bIns="0" anchor="b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/>
            <a:fld id="{EFA8D6DB-5160-4FA9-9C51-5C0CD2699B53}" type="slidenum">
              <a:rPr lang="en-US" altLang="en-US" sz="1000" i="1">
                <a:latin typeface="Times New Roman" panose="02020603050405020304" pitchFamily="18" charset="0"/>
              </a:rPr>
              <a:pPr algn="r"/>
              <a:t>9</a:t>
            </a:fld>
            <a:endParaRPr lang="en-US" altLang="en-US" sz="1000" i="1">
              <a:latin typeface="Times New Roman" panose="02020603050405020304" pitchFamily="18" charset="0"/>
            </a:endParaRPr>
          </a:p>
        </p:txBody>
      </p:sp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125413"/>
            <a:ext cx="6069013" cy="4551362"/>
          </a:xfrm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813" y="4343400"/>
            <a:ext cx="5030787" cy="4114800"/>
          </a:xfrm>
          <a:noFill/>
        </p:spPr>
        <p:txBody>
          <a:bodyPr lIns="92075" tIns="46038" rIns="92075" bIns="46038"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48526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7386E1-6046-4A50-AC57-31E666722448}" type="slidenum">
              <a:rPr lang="en-US"/>
              <a:pPr/>
              <a:t>10</a:t>
            </a:fld>
            <a:endParaRPr lang="en-US"/>
          </a:p>
        </p:txBody>
      </p:sp>
      <p:sp>
        <p:nvSpPr>
          <p:cNvPr id="73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800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9"/>
          <p:cNvGrpSpPr>
            <a:grpSpLocks/>
          </p:cNvGrpSpPr>
          <p:nvPr userDrawn="1"/>
        </p:nvGrpSpPr>
        <p:grpSpPr bwMode="auto">
          <a:xfrm>
            <a:off x="0" y="0"/>
            <a:ext cx="9144000" cy="6885384"/>
            <a:chOff x="0" y="0"/>
            <a:chExt cx="9144000" cy="6885384"/>
          </a:xfrm>
        </p:grpSpPr>
        <p:pic>
          <p:nvPicPr>
            <p:cNvPr id="8" name="Image 10" descr="nuage_dégradé.jpg"/>
            <p:cNvPicPr>
              <a:picLocks noChangeAspect="1"/>
            </p:cNvPicPr>
            <p:nvPr/>
          </p:nvPicPr>
          <p:blipFill>
            <a:blip r:embed="rId2" cstate="print"/>
            <a:srcRect t="24800"/>
            <a:stretch>
              <a:fillRect/>
            </a:stretch>
          </p:blipFill>
          <p:spPr bwMode="auto">
            <a:xfrm>
              <a:off x="0" y="0"/>
              <a:ext cx="9144000" cy="685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Image 11" descr="logo_ENVIRONNEMENT_SA-300dpi.jpg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707904" y="620688"/>
              <a:ext cx="1512168" cy="1134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Image 9" descr="template_main_terre_slide_titre.jpg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31975"/>
            <a:stretch>
              <a:fillRect/>
            </a:stretch>
          </p:blipFill>
          <p:spPr>
            <a:xfrm>
              <a:off x="0" y="4464447"/>
              <a:ext cx="2195513" cy="242093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noProof="0" smtClean="0"/>
              <a:t>Cliquez pour modifier le style du titre</a:t>
            </a:r>
            <a:endParaRPr lang="en-US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 err="1" smtClean="0"/>
              <a:t>Cliquez</a:t>
            </a:r>
            <a:r>
              <a:rPr lang="en-US" noProof="0" dirty="0" smtClean="0"/>
              <a:t> pour modifier le style des </a:t>
            </a:r>
            <a:r>
              <a:rPr lang="en-US" noProof="0" dirty="0" err="1" smtClean="0"/>
              <a:t>sous-titres</a:t>
            </a:r>
            <a:r>
              <a:rPr lang="en-US" noProof="0" dirty="0" smtClean="0"/>
              <a:t> du masque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27584" y="58614"/>
            <a:ext cx="7869560" cy="562074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27584" y="836712"/>
            <a:ext cx="7859216" cy="5289451"/>
          </a:xfrm>
        </p:spPr>
        <p:txBody>
          <a:bodyPr/>
          <a:lstStyle>
            <a:lvl1pPr>
              <a:buFontTx/>
              <a:buBlip>
                <a:blip r:embed="rId2"/>
              </a:buBlip>
              <a:defRPr/>
            </a:lvl1pPr>
            <a:lvl2pPr>
              <a:buFont typeface="Wingdings" pitchFamily="2" charset="2"/>
              <a:buChar char="Ø"/>
              <a:defRPr/>
            </a:lvl2pPr>
            <a:lvl3pPr>
              <a:buFont typeface="Wingdings" pitchFamily="2" charset="2"/>
              <a:buChar char="ü"/>
              <a:defRPr/>
            </a:lvl3pPr>
            <a:lvl4pPr>
              <a:buFont typeface="Wingdings" pitchFamily="2" charset="2"/>
              <a:buChar char="v"/>
              <a:defRPr/>
            </a:lvl4pPr>
            <a:lvl5pPr>
              <a:defRPr sz="1800"/>
            </a:lvl5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0"/>
            <a:ext cx="7941568" cy="692696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3568" y="908720"/>
            <a:ext cx="4032448" cy="5217443"/>
          </a:xfrm>
        </p:spPr>
        <p:txBody>
          <a:bodyPr/>
          <a:lstStyle>
            <a:lvl1pPr>
              <a:buFontTx/>
              <a:buBlip>
                <a:blip r:embed="rId2"/>
              </a:buBlip>
              <a:defRPr sz="2800"/>
            </a:lvl1pPr>
            <a:lvl2pPr>
              <a:buFont typeface="Wingdings" pitchFamily="2" charset="2"/>
              <a:buChar char="Ø"/>
              <a:defRPr sz="2400"/>
            </a:lvl2pPr>
            <a:lvl3pPr>
              <a:buFont typeface="Wingdings" pitchFamily="2" charset="2"/>
              <a:buChar char="ü"/>
              <a:defRPr sz="2000"/>
            </a:lvl3pPr>
            <a:lvl4pPr>
              <a:buFont typeface="Courier New" pitchFamily="49" charset="0"/>
              <a:buChar char="o"/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16016" y="908720"/>
            <a:ext cx="3970784" cy="5217443"/>
          </a:xfrm>
        </p:spPr>
        <p:txBody>
          <a:bodyPr/>
          <a:lstStyle>
            <a:lvl1pPr>
              <a:buFontTx/>
              <a:buBlip>
                <a:blip r:embed="rId2"/>
              </a:buBlip>
              <a:defRPr sz="2800"/>
            </a:lvl1pPr>
            <a:lvl2pPr>
              <a:buFont typeface="Wingdings" pitchFamily="2" charset="2"/>
              <a:buChar char="Ø"/>
              <a:defRPr sz="2400"/>
            </a:lvl2pPr>
            <a:lvl3pPr>
              <a:buFont typeface="Wingdings" pitchFamily="2" charset="2"/>
              <a:buChar char="ü"/>
              <a:defRPr sz="2000"/>
            </a:lvl3pPr>
            <a:lvl4pPr>
              <a:buFont typeface="Courier New" pitchFamily="49" charset="0"/>
              <a:buChar char="o"/>
              <a:defRPr sz="18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5576" y="0"/>
            <a:ext cx="7941568" cy="692696"/>
          </a:xfrm>
        </p:spPr>
        <p:txBody>
          <a:bodyPr>
            <a:normAutofit/>
          </a:bodyPr>
          <a:lstStyle>
            <a:lvl1pPr algn="l">
              <a:defRPr sz="28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fr-FR" dirty="0" smtClean="0"/>
              <a:t>Cliquez pour modifier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5576" y="980728"/>
            <a:ext cx="3816424" cy="834107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rgbClr val="00B05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55576" y="2060848"/>
            <a:ext cx="3816424" cy="4065315"/>
          </a:xfrm>
        </p:spPr>
        <p:txBody>
          <a:bodyPr/>
          <a:lstStyle>
            <a:lvl1pPr>
              <a:buFontTx/>
              <a:buBlip>
                <a:blip r:embed="rId2"/>
              </a:buBlip>
              <a:defRPr sz="2400"/>
            </a:lvl1pPr>
            <a:lvl2pPr>
              <a:buFont typeface="Wingdings" pitchFamily="2" charset="2"/>
              <a:buChar char="Ø"/>
              <a:defRPr sz="2000"/>
            </a:lvl2pPr>
            <a:lvl3pPr>
              <a:buFont typeface="Wingdings" pitchFamily="2" charset="2"/>
              <a:buChar char="ü"/>
              <a:defRPr sz="1800"/>
            </a:lvl3pPr>
            <a:lvl4pPr>
              <a:buFont typeface="Courier New" pitchFamily="49" charset="0"/>
              <a:buChar char="o"/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788024" y="980728"/>
            <a:ext cx="3897759" cy="834107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rgbClr val="00B05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860032" y="2060848"/>
            <a:ext cx="3826768" cy="4065315"/>
          </a:xfrm>
        </p:spPr>
        <p:txBody>
          <a:bodyPr/>
          <a:lstStyle>
            <a:lvl1pPr>
              <a:buFontTx/>
              <a:buBlip>
                <a:blip r:embed="rId2"/>
              </a:buBlip>
              <a:defRPr sz="2400"/>
            </a:lvl1pPr>
            <a:lvl2pPr>
              <a:buFont typeface="Wingdings" pitchFamily="2" charset="2"/>
              <a:buChar char="Ø"/>
              <a:defRPr sz="2000"/>
            </a:lvl2pPr>
            <a:lvl3pPr>
              <a:buFont typeface="Wingdings" pitchFamily="2" charset="2"/>
              <a:buChar char="ü"/>
              <a:defRPr sz="1800"/>
            </a:lvl3pPr>
            <a:lvl4pPr>
              <a:buFont typeface="Courier New" pitchFamily="49" charset="0"/>
              <a:buChar char="o"/>
              <a:defRPr sz="16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04250" y="6581774"/>
            <a:ext cx="431800" cy="2762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58EAE9-66D8-4E8D-A888-56DF558A5B0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2155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27584" y="0"/>
            <a:ext cx="7869560" cy="620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 err="1" smtClean="0"/>
              <a:t>Cliquez</a:t>
            </a:r>
            <a:r>
              <a:rPr lang="en-US" noProof="0" dirty="0" smtClean="0"/>
              <a:t> pour modifier le style du </a:t>
            </a:r>
            <a:r>
              <a:rPr lang="en-US" noProof="0" dirty="0" err="1" smtClean="0"/>
              <a:t>titre</a:t>
            </a:r>
            <a:endParaRPr lang="en-US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27584" y="764704"/>
            <a:ext cx="7859216" cy="536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 smtClean="0"/>
              <a:t>Cliquez</a:t>
            </a:r>
            <a:r>
              <a:rPr lang="en-US" noProof="0" dirty="0" smtClean="0"/>
              <a:t> pour modifier les styles du </a:t>
            </a:r>
            <a:r>
              <a:rPr lang="en-US" noProof="0" dirty="0" err="1" smtClean="0"/>
              <a:t>texte</a:t>
            </a:r>
            <a:r>
              <a:rPr lang="en-US" noProof="0" dirty="0" smtClean="0"/>
              <a:t> du masque</a:t>
            </a:r>
          </a:p>
          <a:p>
            <a:pPr lvl="1"/>
            <a:r>
              <a:rPr lang="en-US" noProof="0" dirty="0" err="1" smtClean="0"/>
              <a:t>Deuxième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  <a:p>
            <a:pPr lvl="2"/>
            <a:r>
              <a:rPr lang="en-US" noProof="0" dirty="0" err="1" smtClean="0"/>
              <a:t>Troisième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  <a:p>
            <a:pPr lvl="3"/>
            <a:r>
              <a:rPr lang="en-US" noProof="0" dirty="0" err="1" smtClean="0"/>
              <a:t>Quatrième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 smtClean="0"/>
          </a:p>
          <a:p>
            <a:pPr lvl="4"/>
            <a:r>
              <a:rPr lang="en-US" noProof="0" dirty="0" err="1" smtClean="0"/>
              <a:t>Cinquième</a:t>
            </a:r>
            <a:r>
              <a:rPr lang="en-US" noProof="0" dirty="0" smtClean="0"/>
              <a:t> </a:t>
            </a:r>
            <a:r>
              <a:rPr lang="en-US" noProof="0" dirty="0" err="1" smtClean="0"/>
              <a:t>niveau</a:t>
            </a:r>
            <a:endParaRPr lang="en-US" noProof="0" dirty="0"/>
          </a:p>
        </p:txBody>
      </p:sp>
      <p:sp>
        <p:nvSpPr>
          <p:cNvPr id="12" name="Line 10"/>
          <p:cNvSpPr>
            <a:spLocks noChangeShapeType="1"/>
          </p:cNvSpPr>
          <p:nvPr userDrawn="1"/>
        </p:nvSpPr>
        <p:spPr bwMode="auto">
          <a:xfrm>
            <a:off x="0" y="628650"/>
            <a:ext cx="9144000" cy="0"/>
          </a:xfrm>
          <a:prstGeom prst="line">
            <a:avLst/>
          </a:prstGeom>
          <a:noFill/>
          <a:ln w="38100">
            <a:solidFill>
              <a:srgbClr val="0072BA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Line 10"/>
          <p:cNvSpPr>
            <a:spLocks noChangeShapeType="1"/>
          </p:cNvSpPr>
          <p:nvPr userDrawn="1"/>
        </p:nvSpPr>
        <p:spPr bwMode="auto">
          <a:xfrm>
            <a:off x="0" y="574675"/>
            <a:ext cx="9144000" cy="0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4" name="Image 10" descr="nuage_dégradé.jpg"/>
          <p:cNvPicPr>
            <a:picLocks noChangeAspect="1"/>
          </p:cNvPicPr>
          <p:nvPr userDrawn="1"/>
        </p:nvPicPr>
        <p:blipFill>
          <a:blip r:embed="rId7" cstate="print"/>
          <a:srcRect l="9813" t="9052" r="82307" b="398"/>
          <a:stretch>
            <a:fillRect/>
          </a:stretch>
        </p:blipFill>
        <p:spPr bwMode="auto">
          <a:xfrm>
            <a:off x="0" y="647700"/>
            <a:ext cx="755650" cy="621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Image 12" descr="nuage_bleu.jpg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69850"/>
            <a:ext cx="78740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10"/>
          <p:cNvSpPr txBox="1"/>
          <p:nvPr userDrawn="1"/>
        </p:nvSpPr>
        <p:spPr>
          <a:xfrm>
            <a:off x="2267744" y="6536377"/>
            <a:ext cx="51845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 smtClean="0"/>
              <a:t>Environnement S.A International Sales Conference &amp;</a:t>
            </a:r>
            <a:r>
              <a:rPr lang="en-US" sz="1200" b="1" i="1" baseline="0" dirty="0" smtClean="0"/>
              <a:t> Forum – Paris, France</a:t>
            </a:r>
            <a:endParaRPr lang="en-US" sz="1200" b="1" i="1" dirty="0"/>
          </a:p>
        </p:txBody>
      </p:sp>
      <p:sp>
        <p:nvSpPr>
          <p:cNvPr id="17" name="ZoneTexte 16"/>
          <p:cNvSpPr txBox="1"/>
          <p:nvPr userDrawn="1"/>
        </p:nvSpPr>
        <p:spPr>
          <a:xfrm>
            <a:off x="7740352" y="6577607"/>
            <a:ext cx="1224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C62D16B-C6BB-4F01-B9F3-0F9CAA52B760}" type="slidenum">
              <a:rPr lang="en-US" sz="1100" smtClean="0"/>
              <a:pPr algn="r"/>
              <a:t>‹#›</a:t>
            </a:fld>
            <a:r>
              <a:rPr lang="en-US" sz="1100" dirty="0" smtClean="0"/>
              <a:t> / xx</a:t>
            </a:r>
            <a:endParaRPr lang="en-US" sz="1100" dirty="0"/>
          </a:p>
        </p:txBody>
      </p:sp>
      <p:sp>
        <p:nvSpPr>
          <p:cNvPr id="20" name="ZoneTexte 19"/>
          <p:cNvSpPr txBox="1"/>
          <p:nvPr userDrawn="1"/>
        </p:nvSpPr>
        <p:spPr>
          <a:xfrm>
            <a:off x="755576" y="6551978"/>
            <a:ext cx="1440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F42F0B8-78ED-409A-B7DC-8AAE6F3525D3}" type="datetime8">
              <a:rPr lang="fr-FR" sz="1100" smtClean="0"/>
              <a:pPr/>
              <a:t>09/06/2015 09:56</a:t>
            </a:fld>
            <a:endParaRPr lang="en-US" sz="1100" dirty="0"/>
          </a:p>
        </p:txBody>
      </p:sp>
      <p:pic>
        <p:nvPicPr>
          <p:cNvPr id="15" name="Image 8" descr="template_main_éco_slide_titre.jpg"/>
          <p:cNvPicPr>
            <a:picLocks noChangeAspect="1"/>
          </p:cNvPicPr>
          <p:nvPr userDrawn="1"/>
        </p:nvPicPr>
        <p:blipFill>
          <a:blip r:embed="rId9" cstate="print"/>
          <a:srcRect r="32272"/>
          <a:stretch>
            <a:fillRect/>
          </a:stretch>
        </p:blipFill>
        <p:spPr bwMode="auto">
          <a:xfrm>
            <a:off x="0" y="6021388"/>
            <a:ext cx="755650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0"/>
        </a:buBlip>
        <a:defRPr sz="32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ü"/>
        <a:defRPr sz="2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20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PCME STACK 710 </a:t>
            </a:r>
            <a:br>
              <a:rPr lang="en-GB" dirty="0" smtClean="0"/>
            </a:br>
            <a:r>
              <a:rPr lang="en-GB" dirty="0" smtClean="0"/>
              <a:t>Opacity Measurement System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04250" y="6581774"/>
            <a:ext cx="431800" cy="2762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E673CC0-ECA1-48FD-AAD8-E016F2BA98CD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4991" y="6243445"/>
            <a:ext cx="1591059" cy="338329"/>
          </a:xfrm>
          <a:prstGeom prst="rect">
            <a:avLst/>
          </a:prstGeom>
        </p:spPr>
      </p:pic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Roberto Lopez-Garcia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76056" y="1268760"/>
            <a:ext cx="3744416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1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PCME STACK710 Overview</a:t>
            </a:r>
            <a:endParaRPr lang="en-US" altLang="en-US" dirty="0" smtClean="0"/>
          </a:p>
        </p:txBody>
      </p:sp>
      <p:grpSp>
        <p:nvGrpSpPr>
          <p:cNvPr id="5124" name="Group 4"/>
          <p:cNvGrpSpPr>
            <a:grpSpLocks/>
          </p:cNvGrpSpPr>
          <p:nvPr/>
        </p:nvGrpSpPr>
        <p:grpSpPr bwMode="auto">
          <a:xfrm>
            <a:off x="1132574" y="4509122"/>
            <a:ext cx="6679337" cy="1520827"/>
            <a:chOff x="672" y="2486"/>
            <a:chExt cx="3182" cy="958"/>
          </a:xfrm>
        </p:grpSpPr>
        <p:sp>
          <p:nvSpPr>
            <p:cNvPr id="5126" name="Rectangle 5"/>
            <p:cNvSpPr>
              <a:spLocks noChangeArrowheads="1"/>
            </p:cNvSpPr>
            <p:nvPr/>
          </p:nvSpPr>
          <p:spPr bwMode="auto">
            <a:xfrm>
              <a:off x="672" y="2486"/>
              <a:ext cx="2208" cy="240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000000"/>
                </a:gs>
              </a:gsLst>
              <a:lin ang="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5127" name="Text Box 6"/>
            <p:cNvSpPr txBox="1">
              <a:spLocks noChangeArrowheads="1"/>
            </p:cNvSpPr>
            <p:nvPr/>
          </p:nvSpPr>
          <p:spPr bwMode="auto">
            <a:xfrm>
              <a:off x="672" y="2804"/>
              <a:ext cx="3182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 sz="2400" dirty="0">
                  <a:solidFill>
                    <a:srgbClr val="000000"/>
                  </a:solidFill>
                </a:rPr>
                <a:t>0 - 20 - 40 - 60 - 80 - </a:t>
              </a:r>
              <a:r>
                <a:rPr lang="en-GB" altLang="en-US" sz="2400" dirty="0" smtClean="0">
                  <a:solidFill>
                    <a:srgbClr val="000000"/>
                  </a:solidFill>
                </a:rPr>
                <a:t>100</a:t>
              </a:r>
              <a:r>
                <a:rPr lang="en-GB" altLang="en-US" sz="2000" dirty="0" smtClean="0">
                  <a:solidFill>
                    <a:srgbClr val="000000"/>
                  </a:solidFill>
                </a:rPr>
                <a:t>% </a:t>
              </a:r>
              <a:r>
                <a:rPr lang="en-GB" altLang="en-US" sz="2400" dirty="0" smtClean="0">
                  <a:solidFill>
                    <a:srgbClr val="000000"/>
                  </a:solidFill>
                </a:rPr>
                <a:t>Opacity</a:t>
              </a:r>
            </a:p>
            <a:p>
              <a:pPr algn="l">
                <a:spcBef>
                  <a:spcPct val="50000"/>
                </a:spcBef>
              </a:pPr>
              <a:r>
                <a:rPr lang="en-GB" altLang="en-US" sz="2400" dirty="0" smtClean="0">
                  <a:solidFill>
                    <a:srgbClr val="000000"/>
                  </a:solidFill>
                </a:rPr>
                <a:t>0 - </a:t>
              </a:r>
              <a:r>
                <a:rPr lang="en-GB" altLang="en-US" sz="2400" dirty="0" smtClean="0">
                  <a:solidFill>
                    <a:schemeClr val="bg1"/>
                  </a:solidFill>
                </a:rPr>
                <a:t>0</a:t>
              </a:r>
              <a:r>
                <a:rPr lang="en-GB" altLang="en-US" sz="2400" dirty="0" smtClean="0">
                  <a:solidFill>
                    <a:srgbClr val="000000"/>
                  </a:solidFill>
                </a:rPr>
                <a:t>1 - </a:t>
              </a:r>
              <a:r>
                <a:rPr lang="en-GB" altLang="en-US" sz="2400" dirty="0" smtClean="0">
                  <a:solidFill>
                    <a:schemeClr val="bg1"/>
                  </a:solidFill>
                </a:rPr>
                <a:t>0</a:t>
              </a:r>
              <a:r>
                <a:rPr lang="en-GB" altLang="en-US" sz="2400" dirty="0" smtClean="0">
                  <a:solidFill>
                    <a:srgbClr val="000000"/>
                  </a:solidFill>
                </a:rPr>
                <a:t>2 - </a:t>
              </a:r>
              <a:r>
                <a:rPr lang="en-GB" altLang="en-US" sz="2400" dirty="0" smtClean="0">
                  <a:solidFill>
                    <a:schemeClr val="bg1"/>
                  </a:solidFill>
                </a:rPr>
                <a:t>0</a:t>
              </a:r>
              <a:r>
                <a:rPr lang="en-GB" altLang="en-US" sz="2400" dirty="0" smtClean="0">
                  <a:solidFill>
                    <a:srgbClr val="000000"/>
                  </a:solidFill>
                </a:rPr>
                <a:t>3 - </a:t>
              </a:r>
              <a:r>
                <a:rPr lang="en-GB" altLang="en-US" sz="2400" dirty="0" smtClean="0">
                  <a:solidFill>
                    <a:schemeClr val="bg1"/>
                  </a:solidFill>
                </a:rPr>
                <a:t>0</a:t>
              </a:r>
              <a:r>
                <a:rPr lang="en-GB" altLang="en-US" sz="2400" dirty="0" smtClean="0">
                  <a:solidFill>
                    <a:srgbClr val="000000"/>
                  </a:solidFill>
                </a:rPr>
                <a:t>4 - </a:t>
              </a:r>
              <a:r>
                <a:rPr lang="en-GB" altLang="en-US" sz="2400" dirty="0" smtClean="0">
                  <a:solidFill>
                    <a:schemeClr val="bg1"/>
                  </a:solidFill>
                </a:rPr>
                <a:t>0</a:t>
              </a:r>
              <a:r>
                <a:rPr lang="en-GB" altLang="en-US" sz="2400" dirty="0" smtClean="0">
                  <a:solidFill>
                    <a:srgbClr val="000000"/>
                  </a:solidFill>
                </a:rPr>
                <a:t>5 </a:t>
              </a:r>
              <a:r>
                <a:rPr lang="en-GB" altLang="en-US" sz="2400" dirty="0" err="1" smtClean="0">
                  <a:solidFill>
                    <a:srgbClr val="000000"/>
                  </a:solidFill>
                </a:rPr>
                <a:t>Ringelmann</a:t>
              </a:r>
              <a:r>
                <a:rPr lang="en-GB" altLang="en-US" sz="2400" dirty="0" smtClean="0">
                  <a:solidFill>
                    <a:srgbClr val="000000"/>
                  </a:solidFill>
                </a:rPr>
                <a:t> (visual)</a:t>
              </a:r>
              <a:endParaRPr lang="en-GB" altLang="en-US" sz="2400" dirty="0"/>
            </a:p>
          </p:txBody>
        </p:sp>
        <p:sp>
          <p:nvSpPr>
            <p:cNvPr id="5128" name="Rectangle 7"/>
            <p:cNvSpPr>
              <a:spLocks noChangeArrowheads="1"/>
            </p:cNvSpPr>
            <p:nvPr/>
          </p:nvSpPr>
          <p:spPr bwMode="auto">
            <a:xfrm>
              <a:off x="672" y="2486"/>
              <a:ext cx="432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5129" name="Rectangle 8"/>
            <p:cNvSpPr>
              <a:spLocks noChangeArrowheads="1"/>
            </p:cNvSpPr>
            <p:nvPr/>
          </p:nvSpPr>
          <p:spPr bwMode="auto">
            <a:xfrm>
              <a:off x="1536" y="2486"/>
              <a:ext cx="432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5130" name="Rectangle 9"/>
            <p:cNvSpPr>
              <a:spLocks noChangeArrowheads="1"/>
            </p:cNvSpPr>
            <p:nvPr/>
          </p:nvSpPr>
          <p:spPr bwMode="auto">
            <a:xfrm>
              <a:off x="2448" y="2486"/>
              <a:ext cx="432" cy="2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  <p:sp>
        <p:nvSpPr>
          <p:cNvPr id="5125" name="Rectangle 10"/>
          <p:cNvSpPr>
            <a:spLocks noChangeArrowheads="1"/>
          </p:cNvSpPr>
          <p:nvPr/>
        </p:nvSpPr>
        <p:spPr bwMode="auto">
          <a:xfrm>
            <a:off x="1043607" y="980728"/>
            <a:ext cx="64013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dirty="0"/>
              <a:t>Opacity </a:t>
            </a:r>
            <a:r>
              <a:rPr lang="en-GB" altLang="en-US" dirty="0" smtClean="0"/>
              <a:t>100% =  </a:t>
            </a:r>
            <a:r>
              <a:rPr lang="en-GB" altLang="en-US" dirty="0"/>
              <a:t>(1 </a:t>
            </a:r>
            <a:r>
              <a:rPr lang="en-GB" altLang="en-US" dirty="0" smtClean="0"/>
              <a:t>– Received </a:t>
            </a:r>
            <a:r>
              <a:rPr lang="en-GB" altLang="en-US" dirty="0"/>
              <a:t>Signal/Transmitted signal)</a:t>
            </a:r>
            <a:endParaRPr lang="en-US" altLang="en-US" dirty="0"/>
          </a:p>
        </p:txBody>
      </p:sp>
      <p:pic>
        <p:nvPicPr>
          <p:cNvPr id="11" name="Picture 3" descr="CHIMNE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799" y="1499845"/>
            <a:ext cx="2983988" cy="2577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4991" y="6243445"/>
            <a:ext cx="1591059" cy="338329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259632" y="1673706"/>
            <a:ext cx="4170025" cy="2511770"/>
          </a:xfrm>
          <a:prstGeom prst="rect">
            <a:avLst/>
          </a:prstGeom>
        </p:spPr>
      </p:pic>
      <p:sp>
        <p:nvSpPr>
          <p:cNvPr id="15" name="Text Box 50"/>
          <p:cNvSpPr txBox="1">
            <a:spLocks noChangeArrowheads="1"/>
          </p:cNvSpPr>
          <p:nvPr/>
        </p:nvSpPr>
        <p:spPr bwMode="auto">
          <a:xfrm rot="10800000" flipH="1" flipV="1">
            <a:off x="611560" y="3583051"/>
            <a:ext cx="22097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b="1" dirty="0" smtClean="0"/>
              <a:t>TRANSMITTER</a:t>
            </a:r>
            <a:endParaRPr lang="en-GB" b="1" dirty="0"/>
          </a:p>
        </p:txBody>
      </p:sp>
      <p:sp>
        <p:nvSpPr>
          <p:cNvPr id="16" name="Text Box 49"/>
          <p:cNvSpPr txBox="1">
            <a:spLocks noChangeArrowheads="1"/>
          </p:cNvSpPr>
          <p:nvPr/>
        </p:nvSpPr>
        <p:spPr bwMode="auto">
          <a:xfrm rot="-10800000" flipH="1" flipV="1">
            <a:off x="4658822" y="3583052"/>
            <a:ext cx="20558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b="1" dirty="0"/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148779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 Stack 710 can also be used for Dust Monitoring</a:t>
            </a:r>
            <a:endParaRPr lang="en-GB" dirty="0"/>
          </a:p>
        </p:txBody>
      </p:sp>
      <p:pic>
        <p:nvPicPr>
          <p:cNvPr id="4" name="Picture 9" descr="photo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1080" y="3339808"/>
            <a:ext cx="3083993" cy="2306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59264" y="1196752"/>
            <a:ext cx="4260343" cy="5217443"/>
          </a:xfrm>
        </p:spPr>
        <p:txBody>
          <a:bodyPr/>
          <a:lstStyle/>
          <a:p>
            <a:r>
              <a:rPr lang="en-GB" dirty="0" smtClean="0"/>
              <a:t>Provides representative dust measurement across  large stacks</a:t>
            </a:r>
          </a:p>
          <a:p>
            <a:pPr marL="0" indent="0">
              <a:buNone/>
            </a:pPr>
            <a:endParaRPr lang="en-GB" dirty="0" smtClean="0"/>
          </a:p>
          <a:p>
            <a:pPr marL="457200" lvl="1" indent="0">
              <a:buNone/>
            </a:pPr>
            <a:endParaRPr lang="en-GB" dirty="0"/>
          </a:p>
          <a:p>
            <a:pPr lvl="1"/>
            <a:endParaRPr lang="en-GB" dirty="0" smtClean="0"/>
          </a:p>
          <a:p>
            <a:pPr lvl="1"/>
            <a:endParaRPr lang="en-GB" dirty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 smtClean="0"/>
          </a:p>
          <a:p>
            <a:pPr lvl="1"/>
            <a:endParaRPr lang="en-GB" dirty="0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95536" y="965088"/>
            <a:ext cx="4320480" cy="3111984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0488" tIns="44450" rIns="90488" bIns="4445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ü"/>
              <a:defRPr sz="20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Courier New" pitchFamily="49" charset="0"/>
              <a:buChar char="o"/>
              <a:defRPr sz="1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endParaRPr lang="en-GB" altLang="en-US" sz="1600" b="1" dirty="0" smtClean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sz="1600" b="1" dirty="0" smtClean="0"/>
              <a:t>      </a:t>
            </a:r>
            <a:r>
              <a:rPr lang="en-GB" altLang="en-US" sz="1800" b="1" dirty="0" smtClean="0"/>
              <a:t>Optical Density (extinction)  </a:t>
            </a:r>
            <a:r>
              <a:rPr lang="en-GB" altLang="en-US" sz="1800" b="1" dirty="0" err="1" smtClean="0"/>
              <a:t>linearises</a:t>
            </a:r>
            <a:r>
              <a:rPr lang="en-GB" altLang="en-US" sz="1800" b="1" dirty="0"/>
              <a:t> </a:t>
            </a:r>
            <a:r>
              <a:rPr lang="en-GB" altLang="en-US" sz="1800" b="1" dirty="0" smtClean="0"/>
              <a:t>exponential relationship between dust and received light</a:t>
            </a:r>
          </a:p>
          <a:p>
            <a:pPr>
              <a:lnSpc>
                <a:spcPct val="90000"/>
              </a:lnSpc>
              <a:buFontTx/>
              <a:buNone/>
            </a:pPr>
            <a:endParaRPr lang="en-GB" altLang="en-US" sz="1800" b="1" dirty="0" smtClean="0"/>
          </a:p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1800" dirty="0" smtClean="0"/>
              <a:t>Extinction   = -Log</a:t>
            </a:r>
            <a:r>
              <a:rPr lang="en-GB" altLang="en-US" sz="1800" baseline="-25000" dirty="0" smtClean="0"/>
              <a:t>10</a:t>
            </a:r>
            <a:r>
              <a:rPr lang="en-GB" altLang="en-US" sz="1800" dirty="0" smtClean="0"/>
              <a:t> (Ʈ)</a:t>
            </a:r>
          </a:p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1800" dirty="0" smtClean="0"/>
              <a:t>Extinction   = -</a:t>
            </a:r>
            <a:r>
              <a:rPr lang="en-GB" altLang="en-US" sz="1800" dirty="0" err="1" smtClean="0"/>
              <a:t>acl</a:t>
            </a:r>
            <a:r>
              <a:rPr lang="en-GB" altLang="en-US" sz="1800" dirty="0" smtClean="0"/>
              <a:t>/2.303</a:t>
            </a:r>
          </a:p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1800" dirty="0" smtClean="0"/>
              <a:t>Where:   n  = Concentration of Pollutant</a:t>
            </a:r>
          </a:p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1800" dirty="0" smtClean="0"/>
              <a:t>                a  =  Attenuation Coefficient</a:t>
            </a:r>
          </a:p>
          <a:p>
            <a:pPr>
              <a:lnSpc>
                <a:spcPct val="90000"/>
              </a:lnSpc>
              <a:buFontTx/>
              <a:buChar char=" "/>
            </a:pPr>
            <a:r>
              <a:rPr lang="en-GB" altLang="en-US" sz="1800" dirty="0" smtClean="0"/>
              <a:t>                 l  =  </a:t>
            </a:r>
            <a:r>
              <a:rPr lang="en-GB" altLang="en-US" sz="1800" dirty="0" err="1" smtClean="0"/>
              <a:t>Pathlength</a:t>
            </a:r>
            <a:endParaRPr lang="en-GB" altLang="en-US" sz="1800" dirty="0" smtClean="0"/>
          </a:p>
          <a:p>
            <a:pPr>
              <a:lnSpc>
                <a:spcPct val="90000"/>
              </a:lnSpc>
              <a:buFontTx/>
              <a:buChar char=" "/>
            </a:pPr>
            <a:endParaRPr lang="en-GB" altLang="en-US" sz="1600" dirty="0" smtClean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4991" y="6243445"/>
            <a:ext cx="1591059" cy="3383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5736" y="3995772"/>
            <a:ext cx="1916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Optical </a:t>
            </a:r>
            <a:r>
              <a:rPr lang="en-GB" dirty="0" err="1" smtClean="0"/>
              <a:t>Pathlenght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36" y="4493221"/>
            <a:ext cx="4834547" cy="1981372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1789815" y="4365104"/>
            <a:ext cx="266429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1789815" y="4365104"/>
            <a:ext cx="5236" cy="7200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4454111" y="4365104"/>
            <a:ext cx="5236" cy="7200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89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PCME STACK </a:t>
            </a:r>
            <a:r>
              <a:rPr lang="en-GB" dirty="0"/>
              <a:t>710 </a:t>
            </a:r>
            <a:r>
              <a:rPr lang="en-GB" dirty="0" smtClean="0"/>
              <a:t>Compliance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615" y="1515594"/>
            <a:ext cx="6433674" cy="4897015"/>
          </a:xfrm>
        </p:spPr>
        <p:txBody>
          <a:bodyPr/>
          <a:lstStyle/>
          <a:p>
            <a:r>
              <a:rPr lang="en-GB" sz="2700" dirty="0" smtClean="0"/>
              <a:t>Meets </a:t>
            </a:r>
            <a:r>
              <a:rPr lang="en-GB" sz="2700" dirty="0"/>
              <a:t>or exceeds </a:t>
            </a:r>
            <a:r>
              <a:rPr lang="en-GB" sz="2700" dirty="0" smtClean="0"/>
              <a:t>US OPACITY Standards </a:t>
            </a:r>
          </a:p>
          <a:p>
            <a:pPr lvl="1"/>
            <a:r>
              <a:rPr lang="en-GB" sz="2400" dirty="0" smtClean="0">
                <a:solidFill>
                  <a:schemeClr val="tx2"/>
                </a:solidFill>
              </a:rPr>
              <a:t>US </a:t>
            </a:r>
            <a:r>
              <a:rPr lang="en-GB" sz="2400" dirty="0">
                <a:solidFill>
                  <a:schemeClr val="tx2"/>
                </a:solidFill>
              </a:rPr>
              <a:t>EPA </a:t>
            </a:r>
            <a:r>
              <a:rPr lang="en-GB" sz="2400" dirty="0" smtClean="0">
                <a:solidFill>
                  <a:schemeClr val="tx2"/>
                </a:solidFill>
              </a:rPr>
              <a:t>requirements </a:t>
            </a:r>
            <a:r>
              <a:rPr lang="en-GB" sz="2400" dirty="0">
                <a:solidFill>
                  <a:schemeClr val="tx2"/>
                </a:solidFill>
              </a:rPr>
              <a:t>for 40CFR60 Sections 13, </a:t>
            </a:r>
            <a:r>
              <a:rPr lang="en-GB" sz="2400" dirty="0" smtClean="0">
                <a:solidFill>
                  <a:schemeClr val="tx2"/>
                </a:solidFill>
              </a:rPr>
              <a:t>17 and </a:t>
            </a:r>
            <a:r>
              <a:rPr lang="en-GB" sz="2400" dirty="0">
                <a:solidFill>
                  <a:schemeClr val="tx2"/>
                </a:solidFill>
              </a:rPr>
              <a:t>App. B PS-1.</a:t>
            </a:r>
          </a:p>
          <a:p>
            <a:pPr lvl="1"/>
            <a:r>
              <a:rPr lang="en-GB" sz="2400" dirty="0" smtClean="0">
                <a:solidFill>
                  <a:schemeClr val="tx2"/>
                </a:solidFill>
              </a:rPr>
              <a:t>Meets </a:t>
            </a:r>
            <a:r>
              <a:rPr lang="en-GB" sz="2400" dirty="0">
                <a:solidFill>
                  <a:schemeClr val="tx2"/>
                </a:solidFill>
              </a:rPr>
              <a:t>or exceeds US EPA </a:t>
            </a:r>
            <a:r>
              <a:rPr lang="en-GB" sz="2400" dirty="0" smtClean="0">
                <a:solidFill>
                  <a:schemeClr val="tx2"/>
                </a:solidFill>
              </a:rPr>
              <a:t>requirements </a:t>
            </a:r>
            <a:r>
              <a:rPr lang="en-GB" sz="2400" dirty="0">
                <a:solidFill>
                  <a:schemeClr val="tx2"/>
                </a:solidFill>
              </a:rPr>
              <a:t>for proposed 40CFR60 App. F </a:t>
            </a:r>
            <a:r>
              <a:rPr lang="en-GB" sz="2400" dirty="0" smtClean="0">
                <a:solidFill>
                  <a:schemeClr val="tx2"/>
                </a:solidFill>
              </a:rPr>
              <a:t>procedure </a:t>
            </a:r>
            <a:r>
              <a:rPr lang="en-GB" sz="2400" dirty="0">
                <a:solidFill>
                  <a:schemeClr val="tx2"/>
                </a:solidFill>
              </a:rPr>
              <a:t>3.</a:t>
            </a:r>
          </a:p>
          <a:p>
            <a:pPr lvl="1"/>
            <a:r>
              <a:rPr lang="en-GB" sz="2400" dirty="0" smtClean="0">
                <a:solidFill>
                  <a:schemeClr val="tx2"/>
                </a:solidFill>
              </a:rPr>
              <a:t>Meets </a:t>
            </a:r>
            <a:r>
              <a:rPr lang="en-GB" sz="2400" dirty="0">
                <a:solidFill>
                  <a:schemeClr val="tx2"/>
                </a:solidFill>
              </a:rPr>
              <a:t>or exceeds ASTM Standard D6216</a:t>
            </a:r>
            <a:r>
              <a:rPr lang="en-GB" sz="2400" dirty="0" smtClean="0">
                <a:solidFill>
                  <a:schemeClr val="tx2"/>
                </a:solidFill>
              </a:rPr>
              <a:t>.</a:t>
            </a:r>
          </a:p>
          <a:p>
            <a:pPr lvl="1"/>
            <a:r>
              <a:rPr lang="en-GB" sz="2400" dirty="0" smtClean="0">
                <a:solidFill>
                  <a:schemeClr val="tx2"/>
                </a:solidFill>
              </a:rPr>
              <a:t>Certified to QAL1, EN15267-3, 0-15mg/m</a:t>
            </a:r>
            <a:r>
              <a:rPr lang="en-GB" sz="2400" baseline="30000" dirty="0" smtClean="0">
                <a:solidFill>
                  <a:schemeClr val="tx2"/>
                </a:solidFill>
              </a:rPr>
              <a:t>3</a:t>
            </a:r>
            <a:r>
              <a:rPr lang="en-GB" sz="2400" dirty="0" smtClean="0">
                <a:solidFill>
                  <a:schemeClr val="tx2"/>
                </a:solidFill>
              </a:rPr>
              <a:t> 	@5m </a:t>
            </a:r>
            <a:r>
              <a:rPr lang="en-GB" sz="2400" dirty="0" err="1" smtClean="0">
                <a:solidFill>
                  <a:schemeClr val="tx2"/>
                </a:solidFill>
              </a:rPr>
              <a:t>pathlength</a:t>
            </a:r>
            <a:endParaRPr lang="en-GB" sz="2400" dirty="0" smtClean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sz="1400" dirty="0" smtClean="0"/>
              <a:t>	* Some limitations (</a:t>
            </a:r>
            <a:r>
              <a:rPr lang="en-GB" sz="1400" dirty="0" err="1" smtClean="0"/>
              <a:t>Pathlength</a:t>
            </a:r>
            <a:r>
              <a:rPr lang="en-GB" sz="1400" dirty="0" smtClean="0"/>
              <a:t>)</a:t>
            </a:r>
          </a:p>
          <a:p>
            <a:pPr marL="0" indent="0">
              <a:buNone/>
            </a:pPr>
            <a:r>
              <a:rPr lang="en-GB" sz="1800" dirty="0"/>
              <a:t>	</a:t>
            </a:r>
            <a:r>
              <a:rPr lang="en-GB" sz="2800" dirty="0" smtClean="0"/>
              <a:t> </a:t>
            </a:r>
            <a:endParaRPr lang="en-GB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04250" y="6581774"/>
            <a:ext cx="431800" cy="2762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302D6F4-638A-47B2-979B-30E0B1574AF3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21504" y="1196665"/>
            <a:ext cx="1498646" cy="14986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5870" y="2735914"/>
            <a:ext cx="1981827" cy="16813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4991" y="6243445"/>
            <a:ext cx="1591059" cy="3383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3951" y="4393337"/>
            <a:ext cx="1853377" cy="165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8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2" descr="4500MkIII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81" t="32893" b="35483"/>
          <a:stretch>
            <a:fillRect/>
          </a:stretch>
        </p:blipFill>
        <p:spPr bwMode="auto">
          <a:xfrm>
            <a:off x="6192390" y="1520504"/>
            <a:ext cx="3132138" cy="249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6713" name="Picture 41" descr="4500MkIII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30" r="46194" b="35715"/>
          <a:stretch>
            <a:fillRect/>
          </a:stretch>
        </p:blipFill>
        <p:spPr bwMode="auto">
          <a:xfrm>
            <a:off x="331340" y="1517329"/>
            <a:ext cx="5221288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677" name="AutoShape 5"/>
          <p:cNvSpPr>
            <a:spLocks noChangeArrowheads="1"/>
          </p:cNvSpPr>
          <p:nvPr/>
        </p:nvSpPr>
        <p:spPr bwMode="auto">
          <a:xfrm rot="-8660396">
            <a:off x="1158428" y="1379216"/>
            <a:ext cx="1584325" cy="1820863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00FF00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10728" y="1052736"/>
            <a:ext cx="8410575" cy="3351213"/>
            <a:chOff x="113" y="1220"/>
            <a:chExt cx="5298" cy="2111"/>
          </a:xfrm>
        </p:grpSpPr>
        <p:sp>
          <p:nvSpPr>
            <p:cNvPr id="32778" name="Text Box 20"/>
            <p:cNvSpPr txBox="1">
              <a:spLocks noChangeArrowheads="1"/>
            </p:cNvSpPr>
            <p:nvPr/>
          </p:nvSpPr>
          <p:spPr bwMode="auto">
            <a:xfrm>
              <a:off x="113" y="1393"/>
              <a:ext cx="77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200" b="1">
                  <a:latin typeface="Arial" charset="0"/>
                </a:rPr>
                <a:t>Source LED</a:t>
              </a:r>
            </a:p>
          </p:txBody>
        </p:sp>
        <p:sp>
          <p:nvSpPr>
            <p:cNvPr id="32779" name="Text Box 21"/>
            <p:cNvSpPr txBox="1">
              <a:spLocks noChangeArrowheads="1"/>
            </p:cNvSpPr>
            <p:nvPr/>
          </p:nvSpPr>
          <p:spPr bwMode="auto">
            <a:xfrm>
              <a:off x="521" y="3158"/>
              <a:ext cx="69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200" b="1">
                  <a:latin typeface="Arial" charset="0"/>
                </a:rPr>
                <a:t>Flood LED</a:t>
              </a:r>
            </a:p>
          </p:txBody>
        </p:sp>
        <p:sp>
          <p:nvSpPr>
            <p:cNvPr id="32780" name="Text Box 22"/>
            <p:cNvSpPr txBox="1">
              <a:spLocks noChangeArrowheads="1"/>
            </p:cNvSpPr>
            <p:nvPr/>
          </p:nvSpPr>
          <p:spPr bwMode="auto">
            <a:xfrm>
              <a:off x="177" y="2870"/>
              <a:ext cx="5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200" b="1">
                  <a:latin typeface="Arial" charset="0"/>
                </a:rPr>
                <a:t>Diffusion Filter</a:t>
              </a:r>
            </a:p>
          </p:txBody>
        </p:sp>
        <p:sp>
          <p:nvSpPr>
            <p:cNvPr id="32781" name="Text Box 23"/>
            <p:cNvSpPr txBox="1">
              <a:spLocks noChangeArrowheads="1"/>
            </p:cNvSpPr>
            <p:nvPr/>
          </p:nvSpPr>
          <p:spPr bwMode="auto">
            <a:xfrm>
              <a:off x="1156" y="3067"/>
              <a:ext cx="4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200" b="1">
                  <a:latin typeface="Arial" charset="0"/>
                </a:rPr>
                <a:t>Mirror</a:t>
              </a:r>
            </a:p>
          </p:txBody>
        </p:sp>
        <p:sp>
          <p:nvSpPr>
            <p:cNvPr id="32782" name="Text Box 24"/>
            <p:cNvSpPr txBox="1">
              <a:spLocks noChangeArrowheads="1"/>
            </p:cNvSpPr>
            <p:nvPr/>
          </p:nvSpPr>
          <p:spPr bwMode="auto">
            <a:xfrm>
              <a:off x="1586" y="1306"/>
              <a:ext cx="94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200" b="1">
                  <a:latin typeface="Arial" charset="0"/>
                </a:rPr>
                <a:t>Beam Splitter</a:t>
              </a:r>
            </a:p>
          </p:txBody>
        </p:sp>
        <p:sp>
          <p:nvSpPr>
            <p:cNvPr id="32783" name="Text Box 25"/>
            <p:cNvSpPr txBox="1">
              <a:spLocks noChangeArrowheads="1"/>
            </p:cNvSpPr>
            <p:nvPr/>
          </p:nvSpPr>
          <p:spPr bwMode="auto">
            <a:xfrm>
              <a:off x="4468" y="3005"/>
              <a:ext cx="94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200" b="1">
                  <a:latin typeface="Arial" charset="0"/>
                </a:rPr>
                <a:t>Retroreflector</a:t>
              </a:r>
            </a:p>
          </p:txBody>
        </p:sp>
        <p:sp>
          <p:nvSpPr>
            <p:cNvPr id="32784" name="Text Box 26"/>
            <p:cNvSpPr txBox="1">
              <a:spLocks noChangeArrowheads="1"/>
            </p:cNvSpPr>
            <p:nvPr/>
          </p:nvSpPr>
          <p:spPr bwMode="auto">
            <a:xfrm>
              <a:off x="2057" y="3043"/>
              <a:ext cx="9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200" b="1">
                  <a:latin typeface="Arial" charset="0"/>
                </a:rPr>
                <a:t>Zero Point Reflector</a:t>
              </a:r>
            </a:p>
          </p:txBody>
        </p:sp>
        <p:sp>
          <p:nvSpPr>
            <p:cNvPr id="32785" name="Text Box 27"/>
            <p:cNvSpPr txBox="1">
              <a:spLocks noChangeArrowheads="1"/>
            </p:cNvSpPr>
            <p:nvPr/>
          </p:nvSpPr>
          <p:spPr bwMode="auto">
            <a:xfrm>
              <a:off x="1610" y="3022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200" b="1">
                  <a:latin typeface="Arial" charset="0"/>
                </a:rPr>
                <a:t>Span Filter</a:t>
              </a:r>
            </a:p>
          </p:txBody>
        </p:sp>
        <p:sp>
          <p:nvSpPr>
            <p:cNvPr id="32786" name="Text Box 28"/>
            <p:cNvSpPr txBox="1">
              <a:spLocks noChangeArrowheads="1"/>
            </p:cNvSpPr>
            <p:nvPr/>
          </p:nvSpPr>
          <p:spPr bwMode="auto">
            <a:xfrm>
              <a:off x="951" y="1220"/>
              <a:ext cx="63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200" b="1">
                  <a:latin typeface="Arial" charset="0"/>
                </a:rPr>
                <a:t>Detectors</a:t>
              </a:r>
            </a:p>
          </p:txBody>
        </p:sp>
        <p:sp>
          <p:nvSpPr>
            <p:cNvPr id="32787" name="Line 29"/>
            <p:cNvSpPr>
              <a:spLocks noChangeShapeType="1"/>
            </p:cNvSpPr>
            <p:nvPr/>
          </p:nvSpPr>
          <p:spPr bwMode="auto">
            <a:xfrm flipV="1">
              <a:off x="340" y="2229"/>
              <a:ext cx="226" cy="65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8" name="Line 30"/>
            <p:cNvSpPr>
              <a:spLocks noChangeShapeType="1"/>
            </p:cNvSpPr>
            <p:nvPr/>
          </p:nvSpPr>
          <p:spPr bwMode="auto">
            <a:xfrm>
              <a:off x="295" y="1566"/>
              <a:ext cx="136" cy="39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89" name="Line 31"/>
            <p:cNvSpPr>
              <a:spLocks noChangeShapeType="1"/>
            </p:cNvSpPr>
            <p:nvPr/>
          </p:nvSpPr>
          <p:spPr bwMode="auto">
            <a:xfrm flipH="1" flipV="1">
              <a:off x="703" y="2599"/>
              <a:ext cx="136" cy="49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0" name="Line 32"/>
            <p:cNvSpPr>
              <a:spLocks noChangeShapeType="1"/>
            </p:cNvSpPr>
            <p:nvPr/>
          </p:nvSpPr>
          <p:spPr bwMode="auto">
            <a:xfrm flipH="1" flipV="1">
              <a:off x="1097" y="2599"/>
              <a:ext cx="172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1" name="Line 33"/>
            <p:cNvSpPr>
              <a:spLocks noChangeShapeType="1"/>
            </p:cNvSpPr>
            <p:nvPr/>
          </p:nvSpPr>
          <p:spPr bwMode="auto">
            <a:xfrm flipH="1" flipV="1">
              <a:off x="1610" y="2444"/>
              <a:ext cx="146" cy="57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2" name="Line 34"/>
            <p:cNvSpPr>
              <a:spLocks noChangeShapeType="1"/>
            </p:cNvSpPr>
            <p:nvPr/>
          </p:nvSpPr>
          <p:spPr bwMode="auto">
            <a:xfrm flipH="1" flipV="1">
              <a:off x="2057" y="2489"/>
              <a:ext cx="107" cy="51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3" name="Line 35"/>
            <p:cNvSpPr>
              <a:spLocks noChangeShapeType="1"/>
            </p:cNvSpPr>
            <p:nvPr/>
          </p:nvSpPr>
          <p:spPr bwMode="auto">
            <a:xfrm>
              <a:off x="1215" y="1393"/>
              <a:ext cx="0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4" name="Line 36"/>
            <p:cNvSpPr>
              <a:spLocks noChangeShapeType="1"/>
            </p:cNvSpPr>
            <p:nvPr/>
          </p:nvSpPr>
          <p:spPr bwMode="auto">
            <a:xfrm flipH="1">
              <a:off x="1120" y="1479"/>
              <a:ext cx="671" cy="6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5" name="Line 37"/>
            <p:cNvSpPr>
              <a:spLocks noChangeShapeType="1"/>
            </p:cNvSpPr>
            <p:nvPr/>
          </p:nvSpPr>
          <p:spPr bwMode="auto">
            <a:xfrm flipV="1">
              <a:off x="4740" y="2432"/>
              <a:ext cx="363" cy="57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6710" name="Text Box 38"/>
          <p:cNvSpPr txBox="1">
            <a:spLocks noChangeArrowheads="1"/>
          </p:cNvSpPr>
          <p:nvPr/>
        </p:nvSpPr>
        <p:spPr bwMode="auto">
          <a:xfrm>
            <a:off x="711647" y="4869160"/>
            <a:ext cx="3716337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600" b="1" dirty="0">
                <a:latin typeface="Arial" charset="0"/>
              </a:rPr>
              <a:t>Source and Flood LED off – Measures the electronic zero of the detectors and automatically compensates.</a:t>
            </a:r>
          </a:p>
        </p:txBody>
      </p:sp>
      <p:sp>
        <p:nvSpPr>
          <p:cNvPr id="156711" name="Text Box 39"/>
          <p:cNvSpPr txBox="1">
            <a:spLocks noChangeArrowheads="1"/>
          </p:cNvSpPr>
          <p:nvPr/>
        </p:nvSpPr>
        <p:spPr bwMode="auto">
          <a:xfrm>
            <a:off x="5012878" y="4869160"/>
            <a:ext cx="431165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600" b="1" dirty="0">
                <a:latin typeface="Arial" charset="0"/>
              </a:rPr>
              <a:t>Flood LED on – Determines any gain </a:t>
            </a:r>
            <a:r>
              <a:rPr lang="en-GB" sz="1600" b="1" dirty="0" smtClean="0">
                <a:latin typeface="Arial" charset="0"/>
              </a:rPr>
              <a:t>difference between </a:t>
            </a:r>
            <a:r>
              <a:rPr lang="en-GB" sz="1600" b="1" dirty="0">
                <a:latin typeface="Arial" charset="0"/>
              </a:rPr>
              <a:t>the measurement and reference detectors and automatically compensates.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 </a:t>
            </a:r>
            <a:r>
              <a:rPr lang="en-GB" dirty="0" smtClean="0"/>
              <a:t>710 Operation</a:t>
            </a:r>
            <a:endParaRPr lang="en-GB" dirty="0"/>
          </a:p>
        </p:txBody>
      </p:sp>
      <p:sp>
        <p:nvSpPr>
          <p:cNvPr id="40" name="TextBox 39"/>
          <p:cNvSpPr txBox="1"/>
          <p:nvPr/>
        </p:nvSpPr>
        <p:spPr>
          <a:xfrm>
            <a:off x="1086916" y="2099667"/>
            <a:ext cx="576064" cy="18466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sz="600" dirty="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42528" y="1758629"/>
            <a:ext cx="7848600" cy="1470025"/>
            <a:chOff x="385" y="1673"/>
            <a:chExt cx="4944" cy="926"/>
          </a:xfrm>
        </p:grpSpPr>
        <p:sp>
          <p:nvSpPr>
            <p:cNvPr id="32796" name="Rectangle 7"/>
            <p:cNvSpPr>
              <a:spLocks noChangeArrowheads="1"/>
            </p:cNvSpPr>
            <p:nvPr/>
          </p:nvSpPr>
          <p:spPr bwMode="auto">
            <a:xfrm rot="2700000">
              <a:off x="1046" y="1824"/>
              <a:ext cx="125" cy="23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797" name="Rectangle 8"/>
            <p:cNvSpPr>
              <a:spLocks noChangeArrowheads="1"/>
            </p:cNvSpPr>
            <p:nvPr/>
          </p:nvSpPr>
          <p:spPr bwMode="auto">
            <a:xfrm>
              <a:off x="1041" y="1673"/>
              <a:ext cx="136" cy="91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798" name="Rectangle 9"/>
            <p:cNvSpPr>
              <a:spLocks noChangeArrowheads="1"/>
            </p:cNvSpPr>
            <p:nvPr/>
          </p:nvSpPr>
          <p:spPr bwMode="auto">
            <a:xfrm>
              <a:off x="1269" y="1673"/>
              <a:ext cx="136" cy="9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799" name="Rectangle 10"/>
            <p:cNvSpPr>
              <a:spLocks noChangeArrowheads="1"/>
            </p:cNvSpPr>
            <p:nvPr/>
          </p:nvSpPr>
          <p:spPr bwMode="auto">
            <a:xfrm rot="2700000">
              <a:off x="680" y="2149"/>
              <a:ext cx="635" cy="46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0" name="AutoShape 11"/>
            <p:cNvSpPr>
              <a:spLocks noChangeArrowheads="1"/>
            </p:cNvSpPr>
            <p:nvPr/>
          </p:nvSpPr>
          <p:spPr bwMode="auto">
            <a:xfrm rot="-8144510">
              <a:off x="4830" y="1945"/>
              <a:ext cx="499" cy="499"/>
            </a:xfrm>
            <a:prstGeom prst="rtTriangl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3399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1" name="Oval 12"/>
            <p:cNvSpPr>
              <a:spLocks noChangeArrowheads="1"/>
            </p:cNvSpPr>
            <p:nvPr/>
          </p:nvSpPr>
          <p:spPr bwMode="auto">
            <a:xfrm>
              <a:off x="612" y="2399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2" name="AutoShape 13"/>
            <p:cNvSpPr>
              <a:spLocks noChangeArrowheads="1"/>
            </p:cNvSpPr>
            <p:nvPr/>
          </p:nvSpPr>
          <p:spPr bwMode="auto">
            <a:xfrm rot="-5400000">
              <a:off x="988" y="2431"/>
              <a:ext cx="64" cy="272"/>
            </a:xfrm>
            <a:prstGeom prst="moon">
              <a:avLst>
                <a:gd name="adj" fmla="val 50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3" name="Rectangle 14"/>
            <p:cNvSpPr>
              <a:spLocks noChangeArrowheads="1"/>
            </p:cNvSpPr>
            <p:nvPr/>
          </p:nvSpPr>
          <p:spPr bwMode="auto">
            <a:xfrm rot="5400000" flipH="1">
              <a:off x="1932" y="2200"/>
              <a:ext cx="91" cy="37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4" name="Rectangle 15" descr="20%"/>
            <p:cNvSpPr>
              <a:spLocks noChangeArrowheads="1"/>
            </p:cNvSpPr>
            <p:nvPr/>
          </p:nvSpPr>
          <p:spPr bwMode="auto">
            <a:xfrm rot="5400000">
              <a:off x="1525" y="2200"/>
              <a:ext cx="90" cy="373"/>
            </a:xfrm>
            <a:prstGeom prst="rect">
              <a:avLst/>
            </a:prstGeom>
            <a:pattFill prst="pct20">
              <a:fgClr>
                <a:srgbClr val="99CCFF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5" name="Rectangle 16"/>
            <p:cNvSpPr>
              <a:spLocks noChangeArrowheads="1"/>
            </p:cNvSpPr>
            <p:nvPr/>
          </p:nvSpPr>
          <p:spPr bwMode="auto">
            <a:xfrm>
              <a:off x="566" y="1957"/>
              <a:ext cx="46" cy="272"/>
            </a:xfrm>
            <a:prstGeom prst="rect">
              <a:avLst/>
            </a:prstGeom>
            <a:solidFill>
              <a:srgbClr val="99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806" name="Oval 17"/>
            <p:cNvSpPr>
              <a:spLocks noChangeArrowheads="1"/>
            </p:cNvSpPr>
            <p:nvPr/>
          </p:nvSpPr>
          <p:spPr bwMode="auto">
            <a:xfrm>
              <a:off x="385" y="202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596828" y="620688"/>
            <a:ext cx="24313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Zero Offset Mode</a:t>
            </a:r>
            <a:endParaRPr lang="en-GB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106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35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 animBg="1"/>
      <p:bldP spid="156677" grpId="1" animBg="1"/>
      <p:bldP spid="1567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723" name="Picture 27" descr="4500MkIII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contrast="4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30" r="46194" b="35715"/>
          <a:stretch>
            <a:fillRect/>
          </a:stretch>
        </p:blipFill>
        <p:spPr bwMode="auto">
          <a:xfrm>
            <a:off x="259332" y="1340768"/>
            <a:ext cx="5221288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7724" name="Picture 28" descr="4500MkIII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81" t="32893" b="35483"/>
          <a:stretch>
            <a:fillRect/>
          </a:stretch>
        </p:blipFill>
        <p:spPr bwMode="auto">
          <a:xfrm>
            <a:off x="6120382" y="1343943"/>
            <a:ext cx="3132138" cy="2497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984820" y="1726530"/>
            <a:ext cx="7734300" cy="1276350"/>
            <a:chOff x="457" y="1764"/>
            <a:chExt cx="4872" cy="804"/>
          </a:xfrm>
        </p:grpSpPr>
        <p:sp>
          <p:nvSpPr>
            <p:cNvPr id="33800" name="Line 17"/>
            <p:cNvSpPr>
              <a:spLocks noChangeShapeType="1"/>
            </p:cNvSpPr>
            <p:nvPr/>
          </p:nvSpPr>
          <p:spPr bwMode="auto">
            <a:xfrm>
              <a:off x="5329" y="2093"/>
              <a:ext cx="0" cy="169"/>
            </a:xfrm>
            <a:prstGeom prst="line">
              <a:avLst/>
            </a:prstGeom>
            <a:noFill/>
            <a:ln w="19050">
              <a:solidFill>
                <a:srgbClr val="CC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3801" name="Group 18"/>
            <p:cNvGrpSpPr>
              <a:grpSpLocks/>
            </p:cNvGrpSpPr>
            <p:nvPr/>
          </p:nvGrpSpPr>
          <p:grpSpPr bwMode="auto">
            <a:xfrm>
              <a:off x="457" y="1764"/>
              <a:ext cx="4872" cy="804"/>
              <a:chOff x="457" y="1764"/>
              <a:chExt cx="4872" cy="804"/>
            </a:xfrm>
          </p:grpSpPr>
          <p:sp>
            <p:nvSpPr>
              <p:cNvPr id="33802" name="Line 19"/>
              <p:cNvSpPr>
                <a:spLocks noChangeShapeType="1"/>
              </p:cNvSpPr>
              <p:nvPr/>
            </p:nvSpPr>
            <p:spPr bwMode="auto">
              <a:xfrm flipV="1">
                <a:off x="1020" y="1773"/>
                <a:ext cx="318" cy="795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803" name="Line 20"/>
              <p:cNvSpPr>
                <a:spLocks noChangeShapeType="1"/>
              </p:cNvSpPr>
              <p:nvPr/>
            </p:nvSpPr>
            <p:spPr bwMode="auto">
              <a:xfrm>
                <a:off x="878" y="2093"/>
                <a:ext cx="4451" cy="0"/>
              </a:xfrm>
              <a:prstGeom prst="line">
                <a:avLst/>
              </a:prstGeom>
              <a:noFill/>
              <a:ln w="19050">
                <a:solidFill>
                  <a:srgbClr val="CCFFCC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804" name="Line 21"/>
              <p:cNvSpPr>
                <a:spLocks noChangeShapeType="1"/>
              </p:cNvSpPr>
              <p:nvPr/>
            </p:nvSpPr>
            <p:spPr bwMode="auto">
              <a:xfrm flipH="1">
                <a:off x="1111" y="2262"/>
                <a:ext cx="4218" cy="0"/>
              </a:xfrm>
              <a:prstGeom prst="line">
                <a:avLst/>
              </a:prstGeom>
              <a:noFill/>
              <a:ln w="19050">
                <a:solidFill>
                  <a:srgbClr val="CCFFCC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805" name="Line 22"/>
              <p:cNvSpPr>
                <a:spLocks noChangeShapeType="1"/>
              </p:cNvSpPr>
              <p:nvPr/>
            </p:nvSpPr>
            <p:spPr bwMode="auto">
              <a:xfrm>
                <a:off x="457" y="2093"/>
                <a:ext cx="421" cy="0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806" name="Line 23"/>
              <p:cNvSpPr>
                <a:spLocks noChangeShapeType="1"/>
              </p:cNvSpPr>
              <p:nvPr/>
            </p:nvSpPr>
            <p:spPr bwMode="auto">
              <a:xfrm>
                <a:off x="878" y="2093"/>
                <a:ext cx="142" cy="475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807" name="Line 24"/>
              <p:cNvSpPr>
                <a:spLocks noChangeShapeType="1"/>
              </p:cNvSpPr>
              <p:nvPr/>
            </p:nvSpPr>
            <p:spPr bwMode="auto">
              <a:xfrm flipV="1">
                <a:off x="1111" y="1764"/>
                <a:ext cx="0" cy="498"/>
              </a:xfrm>
              <a:prstGeom prst="line">
                <a:avLst/>
              </a:prstGeom>
              <a:noFill/>
              <a:ln w="19050">
                <a:solidFill>
                  <a:srgbClr val="CCFFCC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157722" name="Text Box 26"/>
          <p:cNvSpPr txBox="1">
            <a:spLocks noChangeArrowheads="1"/>
          </p:cNvSpPr>
          <p:nvPr/>
        </p:nvSpPr>
        <p:spPr bwMode="auto">
          <a:xfrm>
            <a:off x="683568" y="4005064"/>
            <a:ext cx="831691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sz="1600" b="1" dirty="0">
                <a:latin typeface="Arial" charset="0"/>
              </a:rPr>
              <a:t>Source LED on – The transmitted light intensity is measured by the reference detector, while the reflected light intensity is measured by the measurement detector. Opacity is calculated from the ratio of these.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STACK </a:t>
            </a:r>
            <a:r>
              <a:rPr lang="en-GB" dirty="0" smtClean="0"/>
              <a:t>710 Operation</a:t>
            </a:r>
            <a:endParaRPr lang="en-GB" dirty="0"/>
          </a:p>
        </p:txBody>
      </p:sp>
      <p:sp>
        <p:nvSpPr>
          <p:cNvPr id="27" name="TextBox 26"/>
          <p:cNvSpPr txBox="1"/>
          <p:nvPr/>
        </p:nvSpPr>
        <p:spPr>
          <a:xfrm>
            <a:off x="1014908" y="1923106"/>
            <a:ext cx="576064" cy="18466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GB" sz="6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70520" y="1582068"/>
            <a:ext cx="7848600" cy="1470025"/>
            <a:chOff x="385" y="1673"/>
            <a:chExt cx="4944" cy="926"/>
          </a:xfrm>
        </p:grpSpPr>
        <p:sp>
          <p:nvSpPr>
            <p:cNvPr id="33808" name="Rectangle 5"/>
            <p:cNvSpPr>
              <a:spLocks noChangeArrowheads="1"/>
            </p:cNvSpPr>
            <p:nvPr/>
          </p:nvSpPr>
          <p:spPr bwMode="auto">
            <a:xfrm rot="2700000">
              <a:off x="1046" y="1824"/>
              <a:ext cx="125" cy="23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09" name="Rectangle 6"/>
            <p:cNvSpPr>
              <a:spLocks noChangeArrowheads="1"/>
            </p:cNvSpPr>
            <p:nvPr/>
          </p:nvSpPr>
          <p:spPr bwMode="auto">
            <a:xfrm>
              <a:off x="1041" y="1673"/>
              <a:ext cx="136" cy="91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10" name="Rectangle 7"/>
            <p:cNvSpPr>
              <a:spLocks noChangeArrowheads="1"/>
            </p:cNvSpPr>
            <p:nvPr/>
          </p:nvSpPr>
          <p:spPr bwMode="auto">
            <a:xfrm>
              <a:off x="1269" y="1673"/>
              <a:ext cx="136" cy="9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11" name="Rectangle 8"/>
            <p:cNvSpPr>
              <a:spLocks noChangeArrowheads="1"/>
            </p:cNvSpPr>
            <p:nvPr/>
          </p:nvSpPr>
          <p:spPr bwMode="auto">
            <a:xfrm rot="2700000">
              <a:off x="680" y="2149"/>
              <a:ext cx="635" cy="46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12" name="AutoShape 9"/>
            <p:cNvSpPr>
              <a:spLocks noChangeArrowheads="1"/>
            </p:cNvSpPr>
            <p:nvPr/>
          </p:nvSpPr>
          <p:spPr bwMode="auto">
            <a:xfrm rot="-8144510">
              <a:off x="4830" y="1945"/>
              <a:ext cx="499" cy="499"/>
            </a:xfrm>
            <a:prstGeom prst="rtTriangl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3399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13" name="Oval 10"/>
            <p:cNvSpPr>
              <a:spLocks noChangeArrowheads="1"/>
            </p:cNvSpPr>
            <p:nvPr/>
          </p:nvSpPr>
          <p:spPr bwMode="auto">
            <a:xfrm>
              <a:off x="612" y="2399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14" name="AutoShape 11"/>
            <p:cNvSpPr>
              <a:spLocks noChangeArrowheads="1"/>
            </p:cNvSpPr>
            <p:nvPr/>
          </p:nvSpPr>
          <p:spPr bwMode="auto">
            <a:xfrm rot="-5400000">
              <a:off x="988" y="2431"/>
              <a:ext cx="64" cy="272"/>
            </a:xfrm>
            <a:prstGeom prst="moon">
              <a:avLst>
                <a:gd name="adj" fmla="val 50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15" name="Rectangle 12"/>
            <p:cNvSpPr>
              <a:spLocks noChangeArrowheads="1"/>
            </p:cNvSpPr>
            <p:nvPr/>
          </p:nvSpPr>
          <p:spPr bwMode="auto">
            <a:xfrm rot="5400000" flipH="1">
              <a:off x="1932" y="2200"/>
              <a:ext cx="91" cy="37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16" name="Rectangle 13" descr="20%"/>
            <p:cNvSpPr>
              <a:spLocks noChangeArrowheads="1"/>
            </p:cNvSpPr>
            <p:nvPr/>
          </p:nvSpPr>
          <p:spPr bwMode="auto">
            <a:xfrm rot="5400000">
              <a:off x="1525" y="2200"/>
              <a:ext cx="90" cy="373"/>
            </a:xfrm>
            <a:prstGeom prst="rect">
              <a:avLst/>
            </a:prstGeom>
            <a:pattFill prst="pct20">
              <a:fgClr>
                <a:srgbClr val="99CCFF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17" name="Rectangle 14"/>
            <p:cNvSpPr>
              <a:spLocks noChangeArrowheads="1"/>
            </p:cNvSpPr>
            <p:nvPr/>
          </p:nvSpPr>
          <p:spPr bwMode="auto">
            <a:xfrm>
              <a:off x="566" y="1957"/>
              <a:ext cx="46" cy="272"/>
            </a:xfrm>
            <a:prstGeom prst="rect">
              <a:avLst/>
            </a:prstGeom>
            <a:solidFill>
              <a:srgbClr val="99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3818" name="Oval 15"/>
            <p:cNvSpPr>
              <a:spLocks noChangeArrowheads="1"/>
            </p:cNvSpPr>
            <p:nvPr/>
          </p:nvSpPr>
          <p:spPr bwMode="auto">
            <a:xfrm>
              <a:off x="385" y="202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596828" y="620688"/>
            <a:ext cx="236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>
                <a:solidFill>
                  <a:srgbClr val="FF0000"/>
                </a:solidFill>
              </a:rPr>
              <a:t>Measuring Mode</a:t>
            </a:r>
            <a:endParaRPr lang="en-GB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462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altLang="en-US" dirty="0" smtClean="0"/>
              <a:t>Reliable Automatic Calibration for High QA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2900" y="1321147"/>
            <a:ext cx="4681746" cy="45561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200" dirty="0" smtClean="0"/>
              <a:t>Internal activation or External trigger of check cycles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dirty="0" smtClean="0">
                <a:solidFill>
                  <a:schemeClr val="accent1">
                    <a:lumMod val="75000"/>
                  </a:schemeClr>
                </a:solidFill>
              </a:rPr>
              <a:t>Contact closure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dirty="0" smtClean="0">
                <a:solidFill>
                  <a:schemeClr val="accent1">
                    <a:lumMod val="75000"/>
                  </a:schemeClr>
                </a:solidFill>
              </a:rPr>
              <a:t>Modbus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200" dirty="0" smtClean="0"/>
              <a:t>System zero calibration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dirty="0" smtClean="0">
                <a:solidFill>
                  <a:schemeClr val="accent1">
                    <a:lumMod val="75000"/>
                  </a:schemeClr>
                </a:solidFill>
              </a:rPr>
              <a:t>Corrects for drift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b="1" dirty="0" smtClean="0">
                <a:solidFill>
                  <a:schemeClr val="accent1">
                    <a:lumMod val="75000"/>
                  </a:schemeClr>
                </a:solidFill>
              </a:rPr>
              <a:t>Corrects for dust accumulation on lens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dirty="0" smtClean="0">
                <a:solidFill>
                  <a:schemeClr val="accent1">
                    <a:lumMod val="75000"/>
                  </a:schemeClr>
                </a:solidFill>
              </a:rPr>
              <a:t>Limited to 4% correction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200" dirty="0" smtClean="0"/>
              <a:t>System span calibration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 b="1" dirty="0" smtClean="0">
                <a:solidFill>
                  <a:schemeClr val="accent1">
                    <a:lumMod val="75000"/>
                  </a:schemeClr>
                </a:solidFill>
              </a:rPr>
              <a:t>Verifies upscale operation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44991" y="6243445"/>
            <a:ext cx="1591059" cy="338329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4716016" y="1124744"/>
            <a:ext cx="4277172" cy="1850890"/>
            <a:chOff x="4866828" y="1484784"/>
            <a:chExt cx="4277172" cy="1850890"/>
          </a:xfrm>
        </p:grpSpPr>
        <p:pic>
          <p:nvPicPr>
            <p:cNvPr id="9" name="Picture 27" descr="4500MkIII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contrast="40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430" r="46194" b="35715"/>
            <a:stretch>
              <a:fillRect/>
            </a:stretch>
          </p:blipFill>
          <p:spPr bwMode="auto">
            <a:xfrm>
              <a:off x="4866828" y="1484784"/>
              <a:ext cx="2483251" cy="1323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28" descr="4500MkIII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381" t="32893" b="35483"/>
            <a:stretch>
              <a:fillRect/>
            </a:stretch>
          </p:blipFill>
          <p:spPr bwMode="auto">
            <a:xfrm>
              <a:off x="7654351" y="1486491"/>
              <a:ext cx="1489649" cy="1342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26"/>
            <p:cNvSpPr txBox="1">
              <a:spLocks noChangeArrowheads="1"/>
            </p:cNvSpPr>
            <p:nvPr/>
          </p:nvSpPr>
          <p:spPr bwMode="auto">
            <a:xfrm>
              <a:off x="4938836" y="2966342"/>
              <a:ext cx="38151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b="1" dirty="0">
                  <a:latin typeface="Arial" charset="0"/>
                </a:rPr>
                <a:t>The Zero Point </a:t>
              </a:r>
              <a:r>
                <a:rPr lang="en-GB" sz="1800" b="1" dirty="0" smtClean="0">
                  <a:latin typeface="Arial" charset="0"/>
                </a:rPr>
                <a:t>Reflector</a:t>
              </a:r>
              <a:endParaRPr lang="en-GB" sz="1800" b="1" dirty="0">
                <a:latin typeface="Arial" charset="0"/>
              </a:endParaRPr>
            </a:p>
          </p:txBody>
        </p:sp>
        <p:sp>
          <p:nvSpPr>
            <p:cNvPr id="12" name="Line 28"/>
            <p:cNvSpPr>
              <a:spLocks noChangeShapeType="1"/>
            </p:cNvSpPr>
            <p:nvPr/>
          </p:nvSpPr>
          <p:spPr bwMode="auto">
            <a:xfrm flipH="1">
              <a:off x="6371577" y="2254579"/>
              <a:ext cx="6795" cy="68615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226181" y="1797846"/>
              <a:ext cx="273977" cy="9927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endParaRPr lang="en-GB" sz="600" dirty="0"/>
            </a:p>
          </p:txBody>
        </p:sp>
        <p:grpSp>
          <p:nvGrpSpPr>
            <p:cNvPr id="14" name="Group 16"/>
            <p:cNvGrpSpPr>
              <a:grpSpLocks/>
            </p:cNvGrpSpPr>
            <p:nvPr/>
          </p:nvGrpSpPr>
          <p:grpSpPr bwMode="auto">
            <a:xfrm>
              <a:off x="5211871" y="1692168"/>
              <a:ext cx="1113650" cy="686159"/>
              <a:chOff x="457" y="1764"/>
              <a:chExt cx="1475" cy="804"/>
            </a:xfrm>
          </p:grpSpPr>
          <p:sp>
            <p:nvSpPr>
              <p:cNvPr id="27" name="Line 17"/>
              <p:cNvSpPr>
                <a:spLocks noChangeShapeType="1"/>
              </p:cNvSpPr>
              <p:nvPr/>
            </p:nvSpPr>
            <p:spPr bwMode="auto">
              <a:xfrm>
                <a:off x="1932" y="2093"/>
                <a:ext cx="0" cy="169"/>
              </a:xfrm>
              <a:prstGeom prst="line">
                <a:avLst/>
              </a:prstGeom>
              <a:noFill/>
              <a:ln w="19050">
                <a:solidFill>
                  <a:srgbClr val="CCFF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8" name="Group 18"/>
              <p:cNvGrpSpPr>
                <a:grpSpLocks/>
              </p:cNvGrpSpPr>
              <p:nvPr/>
            </p:nvGrpSpPr>
            <p:grpSpPr bwMode="auto">
              <a:xfrm>
                <a:off x="457" y="1764"/>
                <a:ext cx="1475" cy="804"/>
                <a:chOff x="457" y="1764"/>
                <a:chExt cx="1475" cy="804"/>
              </a:xfrm>
            </p:grpSpPr>
            <p:sp>
              <p:nvSpPr>
                <p:cNvPr id="29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1020" y="1773"/>
                  <a:ext cx="318" cy="795"/>
                </a:xfrm>
                <a:prstGeom prst="line">
                  <a:avLst/>
                </a:prstGeom>
                <a:noFill/>
                <a:ln w="19050">
                  <a:solidFill>
                    <a:srgbClr val="00FF00"/>
                  </a:solidFill>
                  <a:round/>
                  <a:headEnd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0" name="Line 20"/>
                <p:cNvSpPr>
                  <a:spLocks noChangeShapeType="1"/>
                </p:cNvSpPr>
                <p:nvPr/>
              </p:nvSpPr>
              <p:spPr bwMode="auto">
                <a:xfrm>
                  <a:off x="878" y="2093"/>
                  <a:ext cx="1054" cy="0"/>
                </a:xfrm>
                <a:prstGeom prst="line">
                  <a:avLst/>
                </a:prstGeom>
                <a:noFill/>
                <a:ln w="19050">
                  <a:solidFill>
                    <a:srgbClr val="CCFFCC"/>
                  </a:solidFill>
                  <a:round/>
                  <a:headEnd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1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1111" y="2262"/>
                  <a:ext cx="821" cy="0"/>
                </a:xfrm>
                <a:prstGeom prst="line">
                  <a:avLst/>
                </a:prstGeom>
                <a:noFill/>
                <a:ln w="19050">
                  <a:solidFill>
                    <a:srgbClr val="CCFFCC"/>
                  </a:solidFill>
                  <a:round/>
                  <a:headEnd type="oval" w="sm" len="sm"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2" name="Line 22"/>
                <p:cNvSpPr>
                  <a:spLocks noChangeShapeType="1"/>
                </p:cNvSpPr>
                <p:nvPr/>
              </p:nvSpPr>
              <p:spPr bwMode="auto">
                <a:xfrm>
                  <a:off x="457" y="2093"/>
                  <a:ext cx="421" cy="0"/>
                </a:xfrm>
                <a:prstGeom prst="line">
                  <a:avLst/>
                </a:prstGeom>
                <a:noFill/>
                <a:ln w="19050">
                  <a:solidFill>
                    <a:srgbClr val="00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3" name="Line 23"/>
                <p:cNvSpPr>
                  <a:spLocks noChangeShapeType="1"/>
                </p:cNvSpPr>
                <p:nvPr/>
              </p:nvSpPr>
              <p:spPr bwMode="auto">
                <a:xfrm>
                  <a:off x="878" y="2093"/>
                  <a:ext cx="142" cy="475"/>
                </a:xfrm>
                <a:prstGeom prst="line">
                  <a:avLst/>
                </a:prstGeom>
                <a:noFill/>
                <a:ln w="19050">
                  <a:solidFill>
                    <a:srgbClr val="00FF00"/>
                  </a:solidFill>
                  <a:round/>
                  <a:headEnd type="oval" w="sm" len="sm"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4" name="Line 24"/>
                <p:cNvSpPr>
                  <a:spLocks noChangeShapeType="1"/>
                </p:cNvSpPr>
                <p:nvPr/>
              </p:nvSpPr>
              <p:spPr bwMode="auto">
                <a:xfrm flipV="1">
                  <a:off x="1111" y="1764"/>
                  <a:ext cx="0" cy="498"/>
                </a:xfrm>
                <a:prstGeom prst="line">
                  <a:avLst/>
                </a:prstGeom>
                <a:noFill/>
                <a:ln w="19050">
                  <a:solidFill>
                    <a:srgbClr val="CCFFCC"/>
                  </a:solidFill>
                  <a:round/>
                  <a:headEnd type="oval" w="sm" len="sm"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16" name="Rectangle 5"/>
            <p:cNvSpPr>
              <a:spLocks noChangeArrowheads="1"/>
            </p:cNvSpPr>
            <p:nvPr/>
          </p:nvSpPr>
          <p:spPr bwMode="auto">
            <a:xfrm rot="2700000">
              <a:off x="5650425" y="1744506"/>
              <a:ext cx="106679" cy="1736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5652801" y="1614506"/>
              <a:ext cx="102682" cy="7766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5824945" y="1614506"/>
              <a:ext cx="102682" cy="7766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 rot="2700000">
              <a:off x="5348994" y="2023003"/>
              <a:ext cx="541929" cy="34731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1" name="Oval 10"/>
            <p:cNvSpPr>
              <a:spLocks noChangeArrowheads="1"/>
            </p:cNvSpPr>
            <p:nvPr/>
          </p:nvSpPr>
          <p:spPr bwMode="auto">
            <a:xfrm>
              <a:off x="5328899" y="2234097"/>
              <a:ext cx="102682" cy="116067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" name="AutoShape 11"/>
            <p:cNvSpPr>
              <a:spLocks noChangeArrowheads="1"/>
            </p:cNvSpPr>
            <p:nvPr/>
          </p:nvSpPr>
          <p:spPr bwMode="auto">
            <a:xfrm rot="16200000">
              <a:off x="5609636" y="2274791"/>
              <a:ext cx="54620" cy="205365"/>
            </a:xfrm>
            <a:prstGeom prst="moon">
              <a:avLst>
                <a:gd name="adj" fmla="val 50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 flipH="1">
              <a:off x="6325521" y="1875656"/>
              <a:ext cx="68707" cy="318330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4" name="Rectangle 13" descr="20%"/>
            <p:cNvSpPr>
              <a:spLocks noChangeArrowheads="1"/>
            </p:cNvSpPr>
            <p:nvPr/>
          </p:nvSpPr>
          <p:spPr bwMode="auto">
            <a:xfrm rot="5400000">
              <a:off x="6013801" y="2082618"/>
              <a:ext cx="76809" cy="281621"/>
            </a:xfrm>
            <a:prstGeom prst="rect">
              <a:avLst/>
            </a:prstGeom>
            <a:pattFill prst="pct20">
              <a:fgClr>
                <a:srgbClr val="99CCFF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5" name="Rectangle 14"/>
            <p:cNvSpPr>
              <a:spLocks noChangeArrowheads="1"/>
            </p:cNvSpPr>
            <p:nvPr/>
          </p:nvSpPr>
          <p:spPr bwMode="auto">
            <a:xfrm>
              <a:off x="5294168" y="1856880"/>
              <a:ext cx="34731" cy="232133"/>
            </a:xfrm>
            <a:prstGeom prst="rect">
              <a:avLst/>
            </a:prstGeom>
            <a:solidFill>
              <a:srgbClr val="99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6" name="Oval 15"/>
            <p:cNvSpPr>
              <a:spLocks noChangeArrowheads="1"/>
            </p:cNvSpPr>
            <p:nvPr/>
          </p:nvSpPr>
          <p:spPr bwMode="auto">
            <a:xfrm>
              <a:off x="5157510" y="1914060"/>
              <a:ext cx="102682" cy="116067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5598628" y="3927627"/>
            <a:ext cx="99062" cy="101209"/>
          </a:xfrm>
          <a:prstGeom prst="rect">
            <a:avLst/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5764703" y="3927627"/>
            <a:ext cx="99062" cy="101209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GB"/>
          </a:p>
        </p:txBody>
      </p:sp>
      <p:grpSp>
        <p:nvGrpSpPr>
          <p:cNvPr id="7" name="Group 6"/>
          <p:cNvGrpSpPr/>
          <p:nvPr/>
        </p:nvGrpSpPr>
        <p:grpSpPr>
          <a:xfrm>
            <a:off x="4614079" y="3943145"/>
            <a:ext cx="4682626" cy="1760540"/>
            <a:chOff x="4840369" y="3758575"/>
            <a:chExt cx="4265462" cy="2443324"/>
          </a:xfrm>
        </p:grpSpPr>
        <p:pic>
          <p:nvPicPr>
            <p:cNvPr id="36" name="Picture 26" descr="4500MkIII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contrast="40000"/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430" r="46194" b="35715"/>
            <a:stretch>
              <a:fillRect/>
            </a:stretch>
          </p:blipFill>
          <p:spPr bwMode="auto">
            <a:xfrm>
              <a:off x="4840369" y="3758575"/>
              <a:ext cx="2395693" cy="1725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27" descr="4500MkIII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381" t="32893" b="35483"/>
            <a:stretch>
              <a:fillRect/>
            </a:stretch>
          </p:blipFill>
          <p:spPr bwMode="auto">
            <a:xfrm>
              <a:off x="7529605" y="3760799"/>
              <a:ext cx="1437124" cy="1749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Line 16"/>
            <p:cNvSpPr>
              <a:spLocks noChangeShapeType="1"/>
            </p:cNvSpPr>
            <p:nvPr/>
          </p:nvSpPr>
          <p:spPr bwMode="auto">
            <a:xfrm>
              <a:off x="6247629" y="4394746"/>
              <a:ext cx="0" cy="187959"/>
            </a:xfrm>
            <a:prstGeom prst="line">
              <a:avLst/>
            </a:prstGeom>
            <a:noFill/>
            <a:ln w="19050">
              <a:solidFill>
                <a:srgbClr val="CCFF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9" name="Group 17"/>
            <p:cNvGrpSpPr>
              <a:grpSpLocks/>
            </p:cNvGrpSpPr>
            <p:nvPr/>
          </p:nvGrpSpPr>
          <p:grpSpPr bwMode="auto">
            <a:xfrm>
              <a:off x="5173246" y="4028836"/>
              <a:ext cx="1074383" cy="894198"/>
              <a:chOff x="457" y="1764"/>
              <a:chExt cx="1475" cy="804"/>
            </a:xfrm>
          </p:grpSpPr>
          <p:sp>
            <p:nvSpPr>
              <p:cNvPr id="55" name="Line 18"/>
              <p:cNvSpPr>
                <a:spLocks noChangeShapeType="1"/>
              </p:cNvSpPr>
              <p:nvPr/>
            </p:nvSpPr>
            <p:spPr bwMode="auto">
              <a:xfrm flipV="1">
                <a:off x="1020" y="1773"/>
                <a:ext cx="318" cy="795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6" name="Line 19"/>
              <p:cNvSpPr>
                <a:spLocks noChangeShapeType="1"/>
              </p:cNvSpPr>
              <p:nvPr/>
            </p:nvSpPr>
            <p:spPr bwMode="auto">
              <a:xfrm>
                <a:off x="878" y="2093"/>
                <a:ext cx="1054" cy="0"/>
              </a:xfrm>
              <a:prstGeom prst="line">
                <a:avLst/>
              </a:prstGeom>
              <a:noFill/>
              <a:ln w="19050">
                <a:solidFill>
                  <a:srgbClr val="CCFFCC"/>
                </a:solidFill>
                <a:round/>
                <a:headEnd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7" name="Line 20"/>
              <p:cNvSpPr>
                <a:spLocks noChangeShapeType="1"/>
              </p:cNvSpPr>
              <p:nvPr/>
            </p:nvSpPr>
            <p:spPr bwMode="auto">
              <a:xfrm flipH="1">
                <a:off x="1111" y="2262"/>
                <a:ext cx="821" cy="0"/>
              </a:xfrm>
              <a:prstGeom prst="line">
                <a:avLst/>
              </a:prstGeom>
              <a:noFill/>
              <a:ln w="19050">
                <a:solidFill>
                  <a:srgbClr val="CCFFCC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8" name="Line 21"/>
              <p:cNvSpPr>
                <a:spLocks noChangeShapeType="1"/>
              </p:cNvSpPr>
              <p:nvPr/>
            </p:nvSpPr>
            <p:spPr bwMode="auto">
              <a:xfrm>
                <a:off x="457" y="2093"/>
                <a:ext cx="421" cy="0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9" name="Line 22"/>
              <p:cNvSpPr>
                <a:spLocks noChangeShapeType="1"/>
              </p:cNvSpPr>
              <p:nvPr/>
            </p:nvSpPr>
            <p:spPr bwMode="auto">
              <a:xfrm>
                <a:off x="878" y="2093"/>
                <a:ext cx="142" cy="475"/>
              </a:xfrm>
              <a:prstGeom prst="line">
                <a:avLst/>
              </a:prstGeom>
              <a:noFill/>
              <a:ln w="19050">
                <a:solidFill>
                  <a:srgbClr val="00FF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0" name="Line 23"/>
              <p:cNvSpPr>
                <a:spLocks noChangeShapeType="1"/>
              </p:cNvSpPr>
              <p:nvPr/>
            </p:nvSpPr>
            <p:spPr bwMode="auto">
              <a:xfrm flipV="1">
                <a:off x="1111" y="1764"/>
                <a:ext cx="0" cy="498"/>
              </a:xfrm>
              <a:prstGeom prst="line">
                <a:avLst/>
              </a:prstGeom>
              <a:noFill/>
              <a:ln w="19050">
                <a:solidFill>
                  <a:srgbClr val="CCFFCC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40" name="Text Box 25"/>
            <p:cNvSpPr txBox="1">
              <a:spLocks noChangeArrowheads="1"/>
            </p:cNvSpPr>
            <p:nvPr/>
          </p:nvSpPr>
          <p:spPr bwMode="auto">
            <a:xfrm>
              <a:off x="4998818" y="5689330"/>
              <a:ext cx="4107013" cy="512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sz="1800" b="1" dirty="0">
                  <a:latin typeface="Arial" charset="0"/>
                </a:rPr>
                <a:t>A Span Filter (typically </a:t>
              </a:r>
              <a:r>
                <a:rPr lang="en-GB" sz="1800" b="1" dirty="0" smtClean="0">
                  <a:latin typeface="Arial" charset="0"/>
                </a:rPr>
                <a:t>25%)</a:t>
              </a:r>
              <a:endParaRPr lang="en-GB" sz="1800" b="1" dirty="0">
                <a:latin typeface="Arial" charset="0"/>
              </a:endParaRPr>
            </a:p>
          </p:txBody>
        </p:sp>
        <p:sp>
          <p:nvSpPr>
            <p:cNvPr id="41" name="Line 27"/>
            <p:cNvSpPr>
              <a:spLocks noChangeShapeType="1"/>
            </p:cNvSpPr>
            <p:nvPr/>
          </p:nvSpPr>
          <p:spPr bwMode="auto">
            <a:xfrm>
              <a:off x="5980001" y="4730626"/>
              <a:ext cx="0" cy="91532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7051" y="4166555"/>
              <a:ext cx="264316" cy="12937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endParaRPr lang="en-GB" sz="600" dirty="0"/>
            </a:p>
          </p:txBody>
        </p:sp>
        <p:sp>
          <p:nvSpPr>
            <p:cNvPr id="44" name="Rectangle 5"/>
            <p:cNvSpPr>
              <a:spLocks noChangeArrowheads="1"/>
            </p:cNvSpPr>
            <p:nvPr/>
          </p:nvSpPr>
          <p:spPr bwMode="auto">
            <a:xfrm rot="2700000">
              <a:off x="5578283" y="4099981"/>
              <a:ext cx="139023" cy="16753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7" name="Rectangle 8"/>
            <p:cNvSpPr>
              <a:spLocks noChangeArrowheads="1"/>
            </p:cNvSpPr>
            <p:nvPr/>
          </p:nvSpPr>
          <p:spPr bwMode="auto">
            <a:xfrm rot="2700000">
              <a:off x="5213824" y="4465855"/>
              <a:ext cx="706239" cy="33506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49" name="Oval 10"/>
            <p:cNvSpPr>
              <a:spLocks noChangeArrowheads="1"/>
            </p:cNvSpPr>
            <p:nvPr/>
          </p:nvSpPr>
          <p:spPr bwMode="auto">
            <a:xfrm>
              <a:off x="5286147" y="4735075"/>
              <a:ext cx="99062" cy="151257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0" name="AutoShape 11"/>
            <p:cNvSpPr>
              <a:spLocks noChangeArrowheads="1"/>
            </p:cNvSpPr>
            <p:nvPr/>
          </p:nvSpPr>
          <p:spPr bwMode="auto">
            <a:xfrm rot="16200000">
              <a:off x="5547742" y="4822860"/>
              <a:ext cx="71180" cy="198124"/>
            </a:xfrm>
            <a:prstGeom prst="moon">
              <a:avLst>
                <a:gd name="adj" fmla="val 50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1" name="Rectangle 12"/>
            <p:cNvSpPr>
              <a:spLocks noChangeArrowheads="1"/>
            </p:cNvSpPr>
            <p:nvPr/>
          </p:nvSpPr>
          <p:spPr bwMode="auto">
            <a:xfrm flipH="1">
              <a:off x="6247629" y="4267956"/>
              <a:ext cx="66284" cy="414846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2" name="Rectangle 13" descr="20%"/>
            <p:cNvSpPr>
              <a:spLocks noChangeArrowheads="1"/>
            </p:cNvSpPr>
            <p:nvPr/>
          </p:nvSpPr>
          <p:spPr bwMode="auto">
            <a:xfrm>
              <a:off x="5951172" y="4267956"/>
              <a:ext cx="65556" cy="414846"/>
            </a:xfrm>
            <a:prstGeom prst="rect">
              <a:avLst/>
            </a:prstGeom>
            <a:pattFill prst="pct20">
              <a:fgClr>
                <a:srgbClr val="99CCFF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3" name="Rectangle 14"/>
            <p:cNvSpPr>
              <a:spLocks noChangeArrowheads="1"/>
            </p:cNvSpPr>
            <p:nvPr/>
          </p:nvSpPr>
          <p:spPr bwMode="auto">
            <a:xfrm>
              <a:off x="5252641" y="4243488"/>
              <a:ext cx="33506" cy="302515"/>
            </a:xfrm>
            <a:prstGeom prst="rect">
              <a:avLst/>
            </a:prstGeom>
            <a:solidFill>
              <a:srgbClr val="99CC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54" name="Oval 15"/>
            <p:cNvSpPr>
              <a:spLocks noChangeArrowheads="1"/>
            </p:cNvSpPr>
            <p:nvPr/>
          </p:nvSpPr>
          <p:spPr bwMode="auto">
            <a:xfrm>
              <a:off x="5120801" y="4318005"/>
              <a:ext cx="99062" cy="151257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00FF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7346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PCME STACK 710 – Key Benefits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altLang="en-US" dirty="0" smtClean="0"/>
              <a:t>The PCME STACK 710 is a continuous, cross stack, double pass </a:t>
            </a:r>
            <a:r>
              <a:rPr lang="en-GB" altLang="en-US" dirty="0" err="1" smtClean="0"/>
              <a:t>transmissometer</a:t>
            </a:r>
            <a:r>
              <a:rPr lang="en-GB" altLang="en-US" dirty="0" smtClean="0"/>
              <a:t>.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4991" y="6243445"/>
            <a:ext cx="1591059" cy="3383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78" y="3068960"/>
            <a:ext cx="4859696" cy="2808312"/>
          </a:xfrm>
          <a:prstGeom prst="rect">
            <a:avLst/>
          </a:prstGeom>
        </p:spPr>
      </p:pic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GB" dirty="0" smtClean="0"/>
              <a:t>Easy maintenance and servicing </a:t>
            </a:r>
          </a:p>
          <a:p>
            <a:pPr lvl="0"/>
            <a:r>
              <a:rPr lang="en-GB" dirty="0" smtClean="0"/>
              <a:t>Ease of use with user  interface at both   transceiver and remote control unit</a:t>
            </a:r>
          </a:p>
          <a:p>
            <a:pPr lvl="0"/>
            <a:r>
              <a:rPr lang="en-GB" dirty="0" smtClean="0"/>
              <a:t>No continuously moving parts – high reliability</a:t>
            </a:r>
          </a:p>
          <a:p>
            <a:pPr lvl="0"/>
            <a:r>
              <a:rPr lang="en-GB" dirty="0" smtClean="0"/>
              <a:t>Patented LED technology and retro-reflector design for high accuracy and lower dust measurement than other </a:t>
            </a:r>
            <a:r>
              <a:rPr lang="en-GB" dirty="0" err="1" smtClean="0"/>
              <a:t>Transmissometers</a:t>
            </a:r>
            <a:endParaRPr lang="en-GB" dirty="0" smtClean="0"/>
          </a:p>
          <a:p>
            <a:pPr lvl="0"/>
            <a:r>
              <a:rPr lang="en-GB" dirty="0" smtClean="0"/>
              <a:t>Compliant with all International  Opacity standards</a:t>
            </a:r>
          </a:p>
          <a:p>
            <a:endParaRPr lang="en-GB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627784" y="2636912"/>
            <a:ext cx="144016" cy="1080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2987824" y="2636912"/>
            <a:ext cx="792088" cy="1728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07704" y="2348880"/>
            <a:ext cx="2150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Shutters + Alignment</a:t>
            </a:r>
            <a:endParaRPr lang="en-GB" dirty="0"/>
          </a:p>
        </p:txBody>
      </p:sp>
      <p:sp>
        <p:nvSpPr>
          <p:cNvPr id="14" name="TextBox 13"/>
          <p:cNvSpPr txBox="1"/>
          <p:nvPr/>
        </p:nvSpPr>
        <p:spPr>
          <a:xfrm>
            <a:off x="2123728" y="5517232"/>
            <a:ext cx="1201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Purge Inlet</a:t>
            </a:r>
            <a:endParaRPr lang="en-GB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2411760" y="4653136"/>
            <a:ext cx="288032" cy="936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2699792" y="5533666"/>
            <a:ext cx="1201879" cy="62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22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7584" y="59015"/>
            <a:ext cx="7067128" cy="523220"/>
          </a:xfrm>
        </p:spPr>
        <p:txBody>
          <a:bodyPr wrap="square" anchor="t">
            <a:spAutoFit/>
          </a:bodyPr>
          <a:lstStyle/>
          <a:p>
            <a:pPr eaLnBrk="1" hangingPunct="1">
              <a:defRPr/>
            </a:pPr>
            <a:r>
              <a:rPr lang="en-GB" altLang="en-US" dirty="0" smtClean="0"/>
              <a:t>PCME STACK 710 -  Patented Retro-reflector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44991" y="6243445"/>
            <a:ext cx="1591059" cy="338329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3851920" y="2860534"/>
            <a:ext cx="5193866" cy="3160754"/>
            <a:chOff x="4427984" y="2644510"/>
            <a:chExt cx="5193866" cy="3160754"/>
          </a:xfrm>
        </p:grpSpPr>
        <p:grpSp>
          <p:nvGrpSpPr>
            <p:cNvPr id="6" name="Group 5"/>
            <p:cNvGrpSpPr/>
            <p:nvPr/>
          </p:nvGrpSpPr>
          <p:grpSpPr>
            <a:xfrm>
              <a:off x="4427984" y="2644510"/>
              <a:ext cx="5193866" cy="3160754"/>
              <a:chOff x="4427984" y="2326398"/>
              <a:chExt cx="5193866" cy="3160754"/>
            </a:xfrm>
          </p:grpSpPr>
          <p:pic>
            <p:nvPicPr>
              <p:cNvPr id="2" name="Picture 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7984" y="2326398"/>
                <a:ext cx="5193866" cy="3160754"/>
              </a:xfrm>
              <a:prstGeom prst="rect">
                <a:avLst/>
              </a:prstGeom>
            </p:spPr>
          </p:pic>
          <p:sp>
            <p:nvSpPr>
              <p:cNvPr id="3" name="Oval 2"/>
              <p:cNvSpPr/>
              <p:nvPr/>
            </p:nvSpPr>
            <p:spPr>
              <a:xfrm>
                <a:off x="7168933" y="3169721"/>
                <a:ext cx="1219491" cy="1407608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" name="Up Arrow 6"/>
            <p:cNvSpPr/>
            <p:nvPr/>
          </p:nvSpPr>
          <p:spPr>
            <a:xfrm>
              <a:off x="7630018" y="3049652"/>
              <a:ext cx="254350" cy="438181"/>
            </a:xfrm>
            <a:prstGeom prst="up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48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7" y="1347564"/>
            <a:ext cx="4680520" cy="4018707"/>
          </a:xfrm>
        </p:spPr>
        <p:txBody>
          <a:bodyPr>
            <a:noAutofit/>
          </a:bodyPr>
          <a:lstStyle/>
          <a:p>
            <a:pPr marL="571500" lvl="1" indent="-227013" eaLnBrk="1" hangingPunct="1"/>
            <a:r>
              <a:rPr lang="en-GB" altLang="en-US" sz="2400" dirty="0" smtClean="0">
                <a:solidFill>
                  <a:schemeClr val="accent1">
                    <a:lumMod val="75000"/>
                  </a:schemeClr>
                </a:solidFill>
              </a:rPr>
              <a:t>Eliminates temperature drift found in traditional plastic retro-reflectors</a:t>
            </a:r>
          </a:p>
          <a:p>
            <a:pPr marL="912813" lvl="2" indent="-227013" eaLnBrk="1" hangingPunct="1"/>
            <a:r>
              <a:rPr lang="en-GB" altLang="en-US" dirty="0" smtClean="0"/>
              <a:t>Can lead to over reporting of emissions</a:t>
            </a:r>
          </a:p>
          <a:p>
            <a:pPr marL="571500" lvl="1" indent="-227013" eaLnBrk="1" hangingPunct="1"/>
            <a:r>
              <a:rPr lang="en-GB" altLang="en-US" sz="2400" dirty="0" smtClean="0">
                <a:solidFill>
                  <a:schemeClr val="accent1">
                    <a:lumMod val="75000"/>
                  </a:schemeClr>
                </a:solidFill>
              </a:rPr>
              <a:t>Added Benefits</a:t>
            </a:r>
          </a:p>
          <a:p>
            <a:pPr marL="912813" lvl="2" indent="-227013" eaLnBrk="1" hangingPunct="1"/>
            <a:r>
              <a:rPr lang="en-GB" altLang="en-US" dirty="0" smtClean="0"/>
              <a:t>Longer path lengths </a:t>
            </a:r>
          </a:p>
          <a:p>
            <a:pPr marL="1370013" lvl="3" indent="-227013"/>
            <a:r>
              <a:rPr lang="en-GB" altLang="en-US" sz="2400" dirty="0" smtClean="0"/>
              <a:t>10m now available</a:t>
            </a:r>
          </a:p>
          <a:p>
            <a:pPr marL="912813" lvl="2" indent="-227013" eaLnBrk="1" hangingPunct="1"/>
            <a:r>
              <a:rPr lang="en-GB" altLang="en-US" dirty="0" smtClean="0"/>
              <a:t>Better signal to noise </a:t>
            </a:r>
          </a:p>
          <a:p>
            <a:pPr marL="1370013" lvl="3" indent="-227013"/>
            <a:r>
              <a:rPr lang="en-GB" altLang="en-US" sz="2400" dirty="0" smtClean="0"/>
              <a:t> Lower detection limits</a:t>
            </a:r>
          </a:p>
        </p:txBody>
      </p:sp>
      <p:pic>
        <p:nvPicPr>
          <p:cNvPr id="79880" name="Picture 8" descr="Model 4500 Premier, 801"/>
          <p:cNvPicPr>
            <a:picLocks noChangeAspect="1" noChangeArrowheads="1"/>
          </p:cNvPicPr>
          <p:nvPr/>
        </p:nvPicPr>
        <p:blipFill>
          <a:blip r:embed="rId5" cstate="print">
            <a:lum bright="2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312015"/>
            <a:ext cx="2230741" cy="1900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70766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600" dirty="0" smtClean="0"/>
              <a:t>Stack 710 is a great Product for </a:t>
            </a:r>
            <a:r>
              <a:rPr lang="en-GB" sz="2600" dirty="0" err="1" smtClean="0"/>
              <a:t>Transmissometer</a:t>
            </a:r>
            <a:r>
              <a:rPr lang="en-GB" sz="2600" dirty="0" smtClean="0"/>
              <a:t> Applications</a:t>
            </a:r>
            <a:endParaRPr lang="en-US" sz="2600" dirty="0"/>
          </a:p>
        </p:txBody>
      </p:sp>
      <p:sp>
        <p:nvSpPr>
          <p:cNvPr id="7362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576" y="1351309"/>
            <a:ext cx="4032447" cy="4525963"/>
          </a:xfrm>
        </p:spPr>
        <p:txBody>
          <a:bodyPr>
            <a:normAutofit/>
          </a:bodyPr>
          <a:lstStyle/>
          <a:p>
            <a:r>
              <a:rPr lang="en-GB" sz="2000" dirty="0" smtClean="0"/>
              <a:t>Large stack /high dust (EP or no controls)</a:t>
            </a:r>
          </a:p>
          <a:p>
            <a:pPr lvl="1"/>
            <a:r>
              <a:rPr lang="en-GB" sz="2000" dirty="0" smtClean="0"/>
              <a:t>Fossil Fuel Boilers and Power Plant</a:t>
            </a:r>
          </a:p>
          <a:p>
            <a:pPr lvl="1"/>
            <a:r>
              <a:rPr lang="en-GB" sz="2000" dirty="0" smtClean="0"/>
              <a:t>Sinter </a:t>
            </a:r>
            <a:r>
              <a:rPr lang="en-GB" sz="2000" dirty="0"/>
              <a:t>plant (steel)</a:t>
            </a:r>
          </a:p>
          <a:p>
            <a:pPr lvl="1"/>
            <a:r>
              <a:rPr lang="en-GB" sz="2000" dirty="0"/>
              <a:t>Cement Kilns</a:t>
            </a:r>
          </a:p>
          <a:p>
            <a:r>
              <a:rPr lang="en-GB" sz="2000" dirty="0"/>
              <a:t>Process conditions</a:t>
            </a:r>
          </a:p>
          <a:p>
            <a:pPr lvl="1"/>
            <a:r>
              <a:rPr lang="en-GB" sz="2000" dirty="0" smtClean="0"/>
              <a:t>Opacity 0- 10% and 0-100%</a:t>
            </a:r>
          </a:p>
          <a:p>
            <a:pPr lvl="1"/>
            <a:r>
              <a:rPr lang="en-GB" sz="2000" dirty="0" smtClean="0"/>
              <a:t>Dust : 10 </a:t>
            </a:r>
            <a:r>
              <a:rPr lang="en-GB" sz="2000" dirty="0"/>
              <a:t>– 500mg/m</a:t>
            </a:r>
            <a:r>
              <a:rPr lang="en-GB" sz="2000" baseline="30000" dirty="0"/>
              <a:t>3</a:t>
            </a:r>
          </a:p>
          <a:p>
            <a:pPr lvl="1"/>
            <a:r>
              <a:rPr lang="en-GB" sz="2000" dirty="0" smtClean="0"/>
              <a:t>1 </a:t>
            </a:r>
            <a:r>
              <a:rPr lang="en-GB" sz="2000" dirty="0"/>
              <a:t>– 10m </a:t>
            </a:r>
            <a:r>
              <a:rPr lang="en-GB" sz="2000" dirty="0" smtClean="0"/>
              <a:t>stack diameter</a:t>
            </a:r>
            <a:endParaRPr lang="en-GB" sz="2000" dirty="0"/>
          </a:p>
          <a:p>
            <a:pPr lvl="1"/>
            <a:r>
              <a:rPr lang="en-GB" sz="2000" dirty="0"/>
              <a:t>Non </a:t>
            </a:r>
            <a:r>
              <a:rPr lang="en-GB" sz="2000" dirty="0" smtClean="0"/>
              <a:t>condensing flue gas</a:t>
            </a:r>
            <a:endParaRPr lang="en-US" sz="2000" dirty="0"/>
          </a:p>
          <a:p>
            <a:endParaRPr lang="en-GB" sz="2000" dirty="0"/>
          </a:p>
          <a:p>
            <a:pPr lvl="1"/>
            <a:endParaRPr lang="en-GB" sz="2000" dirty="0"/>
          </a:p>
          <a:p>
            <a:endParaRPr lang="en-US" sz="2000" dirty="0"/>
          </a:p>
        </p:txBody>
      </p:sp>
      <p:sp>
        <p:nvSpPr>
          <p:cNvPr id="73626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5172075" y="1340768"/>
            <a:ext cx="3514725" cy="452596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Strong performance versus major competitors</a:t>
            </a:r>
          </a:p>
          <a:p>
            <a:pPr lvl="1"/>
            <a:r>
              <a:rPr lang="en-US" sz="2000" dirty="0" err="1" smtClean="0"/>
              <a:t>Durag</a:t>
            </a:r>
            <a:r>
              <a:rPr lang="en-US" sz="2000" dirty="0" smtClean="0"/>
              <a:t>:  DR-290</a:t>
            </a:r>
          </a:p>
          <a:p>
            <a:pPr lvl="1"/>
            <a:r>
              <a:rPr lang="en-US" sz="2000" dirty="0" smtClean="0"/>
              <a:t>Sick:  Dust HunterT-200</a:t>
            </a:r>
          </a:p>
          <a:p>
            <a:pPr lvl="1"/>
            <a:r>
              <a:rPr lang="en-US" sz="2000" dirty="0" err="1" smtClean="0"/>
              <a:t>TeledyneML</a:t>
            </a:r>
            <a:r>
              <a:rPr lang="en-US" sz="2000" dirty="0" smtClean="0"/>
              <a:t> : Light Hawk </a:t>
            </a: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44991" y="6243445"/>
            <a:ext cx="1591059" cy="33832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06257" y="3206534"/>
            <a:ext cx="3528250" cy="264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2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91880" y="3068960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Thank You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98720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</TotalTime>
  <Words>502</Words>
  <Application>Microsoft Office PowerPoint</Application>
  <PresentationFormat>On-screen Show (4:3)</PresentationFormat>
  <Paragraphs>101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Wingdings</vt:lpstr>
      <vt:lpstr>Thème Office</vt:lpstr>
      <vt:lpstr>PCME STACK 710  Opacity Measurement System</vt:lpstr>
      <vt:lpstr>PCME STACK710 Overview</vt:lpstr>
      <vt:lpstr> Stack 710 can also be used for Dust Monitoring</vt:lpstr>
      <vt:lpstr>PCME STACK 710 Compliance</vt:lpstr>
      <vt:lpstr>STACK 710 Operation</vt:lpstr>
      <vt:lpstr>STACK 710 Operation</vt:lpstr>
      <vt:lpstr>Reliable Automatic Calibration for High QA</vt:lpstr>
      <vt:lpstr>PCME STACK 710 – Key Benefits</vt:lpstr>
      <vt:lpstr>PCME STACK 710 -  Patented Retro-reflector</vt:lpstr>
      <vt:lpstr>Stack 710 is a great Product for Transmissometer Applications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PSO</dc:creator>
  <cp:lastModifiedBy>Roberto Garcia</cp:lastModifiedBy>
  <cp:revision>80</cp:revision>
  <dcterms:created xsi:type="dcterms:W3CDTF">2015-05-13T13:32:17Z</dcterms:created>
  <dcterms:modified xsi:type="dcterms:W3CDTF">2015-06-09T09:03:30Z</dcterms:modified>
</cp:coreProperties>
</file>