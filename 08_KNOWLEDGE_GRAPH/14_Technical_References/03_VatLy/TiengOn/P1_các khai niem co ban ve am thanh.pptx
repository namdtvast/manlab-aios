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85" r:id="rId19"/>
    <p:sldId id="273" r:id="rId20"/>
    <p:sldId id="283" r:id="rId21"/>
    <p:sldId id="284" r:id="rId22"/>
    <p:sldId id="286" r:id="rId23"/>
    <p:sldId id="287" r:id="rId24"/>
    <p:sldId id="288" r:id="rId25"/>
    <p:sldId id="289" r:id="rId26"/>
    <p:sldId id="290" r:id="rId27"/>
    <p:sldId id="276" r:id="rId28"/>
    <p:sldId id="277" r:id="rId29"/>
    <p:sldId id="274" r:id="rId30"/>
    <p:sldId id="275" r:id="rId31"/>
    <p:sldId id="278" r:id="rId32"/>
    <p:sldId id="279" r:id="rId33"/>
    <p:sldId id="280" r:id="rId34"/>
    <p:sldId id="281" r:id="rId35"/>
    <p:sldId id="282" r:id="rId36"/>
  </p:sldIdLst>
  <p:sldSz cx="9144000" cy="6858000" type="screen4x3"/>
  <p:notesSz cx="7315200" cy="96012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3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79804" autoAdjust="0"/>
  </p:normalViewPr>
  <p:slideViewPr>
    <p:cSldViewPr>
      <p:cViewPr>
        <p:scale>
          <a:sx n="85" d="100"/>
          <a:sy n="85" d="100"/>
        </p:scale>
        <p:origin x="-840" y="78"/>
      </p:cViewPr>
      <p:guideLst>
        <p:guide orient="horz" pos="2160"/>
        <p:guide pos="2832"/>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4D2B38E2-27F4-3ECD-5126-C8E94423714A}"/>
              </a:ext>
            </a:extLst>
          </p:cNvPr>
          <p:cNvSpPr>
            <a:spLocks noGrp="1" noChangeArrowheads="1"/>
          </p:cNvSpPr>
          <p:nvPr>
            <p:ph type="hdr" sz="quarter"/>
          </p:nvPr>
        </p:nvSpPr>
        <p:spPr bwMode="auto">
          <a:xfrm>
            <a:off x="0" y="0"/>
            <a:ext cx="3170238" cy="481013"/>
          </a:xfrm>
          <a:prstGeom prst="rect">
            <a:avLst/>
          </a:prstGeom>
          <a:noFill/>
          <a:ln w="9525">
            <a:noFill/>
            <a:miter lim="800000"/>
            <a:headEnd/>
            <a:tailEnd/>
          </a:ln>
          <a:effectLst/>
        </p:spPr>
        <p:txBody>
          <a:bodyPr vert="horz" wrap="square" lIns="96639" tIns="48320" rIns="96639" bIns="48320" numCol="1" anchor="t" anchorCtr="0" compatLnSpc="1">
            <a:prstTxWarp prst="textNoShape">
              <a:avLst/>
            </a:prstTxWarp>
          </a:bodyPr>
          <a:lstStyle>
            <a:lvl1pPr defTabSz="966621">
              <a:defRPr sz="1200">
                <a:latin typeface="Arial" charset="0"/>
              </a:defRPr>
            </a:lvl1pPr>
          </a:lstStyle>
          <a:p>
            <a:pPr>
              <a:defRPr/>
            </a:pPr>
            <a:endParaRPr lang="en-US"/>
          </a:p>
        </p:txBody>
      </p:sp>
      <p:sp>
        <p:nvSpPr>
          <p:cNvPr id="4099" name="Rectangle 3">
            <a:extLst>
              <a:ext uri="{FF2B5EF4-FFF2-40B4-BE49-F238E27FC236}">
                <a16:creationId xmlns:a16="http://schemas.microsoft.com/office/drawing/2014/main" id="{57AFD3EB-29EF-2DFE-3AED-EF069869E0DA}"/>
              </a:ext>
            </a:extLst>
          </p:cNvPr>
          <p:cNvSpPr>
            <a:spLocks noGrp="1" noChangeArrowheads="1"/>
          </p:cNvSpPr>
          <p:nvPr>
            <p:ph type="dt" idx="1"/>
          </p:nvPr>
        </p:nvSpPr>
        <p:spPr bwMode="auto">
          <a:xfrm>
            <a:off x="4143375" y="0"/>
            <a:ext cx="3170238" cy="481013"/>
          </a:xfrm>
          <a:prstGeom prst="rect">
            <a:avLst/>
          </a:prstGeom>
          <a:noFill/>
          <a:ln w="9525">
            <a:noFill/>
            <a:miter lim="800000"/>
            <a:headEnd/>
            <a:tailEnd/>
          </a:ln>
          <a:effectLst/>
        </p:spPr>
        <p:txBody>
          <a:bodyPr vert="horz" wrap="square" lIns="96639" tIns="48320" rIns="96639" bIns="48320" numCol="1" anchor="t" anchorCtr="0" compatLnSpc="1">
            <a:prstTxWarp prst="textNoShape">
              <a:avLst/>
            </a:prstTxWarp>
          </a:bodyPr>
          <a:lstStyle>
            <a:lvl1pPr algn="r" defTabSz="966621">
              <a:defRPr sz="1200">
                <a:latin typeface="Arial" charset="0"/>
              </a:defRPr>
            </a:lvl1pPr>
          </a:lstStyle>
          <a:p>
            <a:pPr>
              <a:defRPr/>
            </a:pPr>
            <a:endParaRPr lang="en-US"/>
          </a:p>
        </p:txBody>
      </p:sp>
      <p:sp>
        <p:nvSpPr>
          <p:cNvPr id="38916" name="Rectangle 4">
            <a:extLst>
              <a:ext uri="{FF2B5EF4-FFF2-40B4-BE49-F238E27FC236}">
                <a16:creationId xmlns:a16="http://schemas.microsoft.com/office/drawing/2014/main" id="{CC48A43C-5912-1AE8-764F-F0B31D0AA5B7}"/>
              </a:ext>
            </a:extLst>
          </p:cNvPr>
          <p:cNvSpPr>
            <a:spLocks noGrp="1" noRot="1" noChangeAspect="1" noChangeArrowheads="1" noTextEdit="1"/>
          </p:cNvSpPr>
          <p:nvPr>
            <p:ph type="sldImg" idx="2"/>
          </p:nvPr>
        </p:nvSpPr>
        <p:spPr bwMode="auto">
          <a:xfrm>
            <a:off x="1257300" y="719138"/>
            <a:ext cx="4800600" cy="3600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A2F5901D-17C6-31FC-9B63-E446759031CD}"/>
              </a:ext>
            </a:extLst>
          </p:cNvPr>
          <p:cNvSpPr>
            <a:spLocks noGrp="1" noChangeArrowheads="1"/>
          </p:cNvSpPr>
          <p:nvPr>
            <p:ph type="body" sz="quarter" idx="3"/>
          </p:nvPr>
        </p:nvSpPr>
        <p:spPr bwMode="auto">
          <a:xfrm>
            <a:off x="731838" y="4560888"/>
            <a:ext cx="5851525" cy="4321175"/>
          </a:xfrm>
          <a:prstGeom prst="rect">
            <a:avLst/>
          </a:prstGeom>
          <a:noFill/>
          <a:ln w="9525">
            <a:noFill/>
            <a:miter lim="800000"/>
            <a:headEnd/>
            <a:tailEnd/>
          </a:ln>
          <a:effectLst/>
        </p:spPr>
        <p:txBody>
          <a:bodyPr vert="horz" wrap="square" lIns="96639" tIns="48320" rIns="96639" bIns="483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102" name="Rectangle 6">
            <a:extLst>
              <a:ext uri="{FF2B5EF4-FFF2-40B4-BE49-F238E27FC236}">
                <a16:creationId xmlns:a16="http://schemas.microsoft.com/office/drawing/2014/main" id="{5004C115-E7D9-2D55-B503-33946B84E2E0}"/>
              </a:ext>
            </a:extLst>
          </p:cNvPr>
          <p:cNvSpPr>
            <a:spLocks noGrp="1" noChangeArrowheads="1"/>
          </p:cNvSpPr>
          <p:nvPr>
            <p:ph type="ftr" sz="quarter" idx="4"/>
          </p:nvPr>
        </p:nvSpPr>
        <p:spPr bwMode="auto">
          <a:xfrm>
            <a:off x="0" y="9118600"/>
            <a:ext cx="3170238" cy="481013"/>
          </a:xfrm>
          <a:prstGeom prst="rect">
            <a:avLst/>
          </a:prstGeom>
          <a:noFill/>
          <a:ln w="9525">
            <a:noFill/>
            <a:miter lim="800000"/>
            <a:headEnd/>
            <a:tailEnd/>
          </a:ln>
          <a:effectLst/>
        </p:spPr>
        <p:txBody>
          <a:bodyPr vert="horz" wrap="square" lIns="96639" tIns="48320" rIns="96639" bIns="48320" numCol="1" anchor="b" anchorCtr="0" compatLnSpc="1">
            <a:prstTxWarp prst="textNoShape">
              <a:avLst/>
            </a:prstTxWarp>
          </a:bodyPr>
          <a:lstStyle>
            <a:lvl1pPr defTabSz="966621">
              <a:defRPr sz="1200">
                <a:latin typeface="Arial" charset="0"/>
              </a:defRPr>
            </a:lvl1pPr>
          </a:lstStyle>
          <a:p>
            <a:pPr>
              <a:defRPr/>
            </a:pPr>
            <a:endParaRPr lang="en-US"/>
          </a:p>
        </p:txBody>
      </p:sp>
      <p:sp>
        <p:nvSpPr>
          <p:cNvPr id="4103" name="Rectangle 7">
            <a:extLst>
              <a:ext uri="{FF2B5EF4-FFF2-40B4-BE49-F238E27FC236}">
                <a16:creationId xmlns:a16="http://schemas.microsoft.com/office/drawing/2014/main" id="{5B678A8B-0CF2-8D30-BAE3-DD94CC4D0DE6}"/>
              </a:ext>
            </a:extLst>
          </p:cNvPr>
          <p:cNvSpPr>
            <a:spLocks noGrp="1" noChangeArrowheads="1"/>
          </p:cNvSpPr>
          <p:nvPr>
            <p:ph type="sldNum" sz="quarter" idx="5"/>
          </p:nvPr>
        </p:nvSpPr>
        <p:spPr bwMode="auto">
          <a:xfrm>
            <a:off x="4143375" y="9118600"/>
            <a:ext cx="3170238" cy="481013"/>
          </a:xfrm>
          <a:prstGeom prst="rect">
            <a:avLst/>
          </a:prstGeom>
          <a:noFill/>
          <a:ln w="9525">
            <a:noFill/>
            <a:miter lim="800000"/>
            <a:headEnd/>
            <a:tailEnd/>
          </a:ln>
          <a:effectLst/>
        </p:spPr>
        <p:txBody>
          <a:bodyPr vert="horz" wrap="square" lIns="96639" tIns="48320" rIns="96639" bIns="48320" numCol="1" anchor="b" anchorCtr="0" compatLnSpc="1">
            <a:prstTxWarp prst="textNoShape">
              <a:avLst/>
            </a:prstTxWarp>
          </a:bodyPr>
          <a:lstStyle>
            <a:lvl1pPr algn="r" defTabSz="965200">
              <a:defRPr sz="1200"/>
            </a:lvl1pPr>
          </a:lstStyle>
          <a:p>
            <a:fld id="{D6A8F2EE-9822-4D3E-AF23-FFD0E27DACF1}"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8D0A9C55-0474-97CB-DE6F-53BBDA6D8DC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eaLnBrk="0" hangingPunct="0">
              <a:defRPr>
                <a:solidFill>
                  <a:schemeClr val="tx1"/>
                </a:solidFill>
                <a:latin typeface="Arial" panose="020B0604020202020204" pitchFamily="34" charset="0"/>
              </a:defRPr>
            </a:lvl1pPr>
            <a:lvl2pPr marL="742950" indent="-285750" defTabSz="965200" eaLnBrk="0" hangingPunct="0">
              <a:defRPr>
                <a:solidFill>
                  <a:schemeClr val="tx1"/>
                </a:solidFill>
                <a:latin typeface="Arial" panose="020B0604020202020204" pitchFamily="34" charset="0"/>
              </a:defRPr>
            </a:lvl2pPr>
            <a:lvl3pPr marL="1143000" indent="-228600" defTabSz="965200" eaLnBrk="0" hangingPunct="0">
              <a:defRPr>
                <a:solidFill>
                  <a:schemeClr val="tx1"/>
                </a:solidFill>
                <a:latin typeface="Arial" panose="020B0604020202020204" pitchFamily="34" charset="0"/>
              </a:defRPr>
            </a:lvl3pPr>
            <a:lvl4pPr marL="1600200" indent="-228600" defTabSz="965200" eaLnBrk="0" hangingPunct="0">
              <a:defRPr>
                <a:solidFill>
                  <a:schemeClr val="tx1"/>
                </a:solidFill>
                <a:latin typeface="Arial" panose="020B0604020202020204" pitchFamily="34" charset="0"/>
              </a:defRPr>
            </a:lvl4pPr>
            <a:lvl5pPr marL="2057400" indent="-228600" defTabSz="965200" eaLnBrk="0" hangingPunct="0">
              <a:defRPr>
                <a:solidFill>
                  <a:schemeClr val="tx1"/>
                </a:solidFill>
                <a:latin typeface="Arial" panose="020B0604020202020204" pitchFamily="34" charset="0"/>
              </a:defRPr>
            </a:lvl5pPr>
            <a:lvl6pPr marL="2514600" indent="-228600" defTabSz="965200" eaLnBrk="0" fontAlgn="base" hangingPunct="0">
              <a:spcBef>
                <a:spcPct val="0"/>
              </a:spcBef>
              <a:spcAft>
                <a:spcPct val="0"/>
              </a:spcAft>
              <a:defRPr>
                <a:solidFill>
                  <a:schemeClr val="tx1"/>
                </a:solidFill>
                <a:latin typeface="Arial" panose="020B0604020202020204" pitchFamily="34" charset="0"/>
              </a:defRPr>
            </a:lvl6pPr>
            <a:lvl7pPr marL="2971800" indent="-228600" defTabSz="965200" eaLnBrk="0" fontAlgn="base" hangingPunct="0">
              <a:spcBef>
                <a:spcPct val="0"/>
              </a:spcBef>
              <a:spcAft>
                <a:spcPct val="0"/>
              </a:spcAft>
              <a:defRPr>
                <a:solidFill>
                  <a:schemeClr val="tx1"/>
                </a:solidFill>
                <a:latin typeface="Arial" panose="020B0604020202020204" pitchFamily="34" charset="0"/>
              </a:defRPr>
            </a:lvl7pPr>
            <a:lvl8pPr marL="3429000" indent="-228600" defTabSz="965200" eaLnBrk="0" fontAlgn="base" hangingPunct="0">
              <a:spcBef>
                <a:spcPct val="0"/>
              </a:spcBef>
              <a:spcAft>
                <a:spcPct val="0"/>
              </a:spcAft>
              <a:defRPr>
                <a:solidFill>
                  <a:schemeClr val="tx1"/>
                </a:solidFill>
                <a:latin typeface="Arial" panose="020B0604020202020204" pitchFamily="34" charset="0"/>
              </a:defRPr>
            </a:lvl8pPr>
            <a:lvl9pPr marL="3886200" indent="-228600" defTabSz="9652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35C7DC5-EEFA-462C-813B-3328B0780B4D}" type="slidenum">
              <a:rPr lang="en-US" altLang="en-US"/>
              <a:pPr eaLnBrk="1" hangingPunct="1"/>
              <a:t>1</a:t>
            </a:fld>
            <a:endParaRPr lang="en-US" altLang="en-US"/>
          </a:p>
        </p:txBody>
      </p:sp>
      <p:sp>
        <p:nvSpPr>
          <p:cNvPr id="39939" name="Rectangle 2">
            <a:extLst>
              <a:ext uri="{FF2B5EF4-FFF2-40B4-BE49-F238E27FC236}">
                <a16:creationId xmlns:a16="http://schemas.microsoft.com/office/drawing/2014/main" id="{682B74C1-7C23-5148-4FA9-7B83C1EAFF6D}"/>
              </a:ext>
            </a:extLst>
          </p:cNvPr>
          <p:cNvSpPr>
            <a:spLocks noGrp="1" noRot="1" noChangeAspect="1" noChangeArrowheads="1" noTextEdit="1"/>
          </p:cNvSpPr>
          <p:nvPr>
            <p:ph type="sldImg"/>
          </p:nvPr>
        </p:nvSpPr>
        <p:spPr>
          <a:ln/>
        </p:spPr>
      </p:sp>
      <p:sp>
        <p:nvSpPr>
          <p:cNvPr id="39940" name="Rectangle 3">
            <a:extLst>
              <a:ext uri="{FF2B5EF4-FFF2-40B4-BE49-F238E27FC236}">
                <a16:creationId xmlns:a16="http://schemas.microsoft.com/office/drawing/2014/main" id="{FB973340-57DC-6CE6-C54F-CD1E0E1D566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5">
            <a:extLst>
              <a:ext uri="{FF2B5EF4-FFF2-40B4-BE49-F238E27FC236}">
                <a16:creationId xmlns:a16="http://schemas.microsoft.com/office/drawing/2014/main" id="{76E170BA-144E-20DE-82DE-C9FC075D28E1}"/>
              </a:ext>
            </a:extLst>
          </p:cNvPr>
          <p:cNvSpPr>
            <a:spLocks noGrp="1" noChangeArrowheads="1"/>
          </p:cNvSpPr>
          <p:nvPr>
            <p:ph type="ftr" sz="quarter" idx="10"/>
          </p:nvPr>
        </p:nvSpPr>
        <p:spPr>
          <a:ln/>
        </p:spPr>
        <p:txBody>
          <a:bodyPr/>
          <a:lstStyle>
            <a:lvl1pPr>
              <a:defRPr/>
            </a:lvl1pPr>
          </a:lstStyle>
          <a:p>
            <a:pPr>
              <a:defRPr/>
            </a:pPr>
            <a:r>
              <a:rPr lang="en-US"/>
              <a:t>ViÖn ®o l­êng viÖt nam</a:t>
            </a:r>
          </a:p>
          <a:p>
            <a:pPr>
              <a:defRPr/>
            </a:pPr>
            <a:r>
              <a:rPr lang="en-US"/>
              <a:t>Vietnam metrology institute</a:t>
            </a:r>
          </a:p>
        </p:txBody>
      </p:sp>
      <p:sp>
        <p:nvSpPr>
          <p:cNvPr id="5" name="Rectangle 6">
            <a:extLst>
              <a:ext uri="{FF2B5EF4-FFF2-40B4-BE49-F238E27FC236}">
                <a16:creationId xmlns:a16="http://schemas.microsoft.com/office/drawing/2014/main" id="{87DA4780-05CC-F73F-E2FE-3A524E30ACF2}"/>
              </a:ext>
            </a:extLst>
          </p:cNvPr>
          <p:cNvSpPr>
            <a:spLocks noGrp="1" noChangeArrowheads="1"/>
          </p:cNvSpPr>
          <p:nvPr>
            <p:ph type="sldNum" sz="quarter" idx="11"/>
          </p:nvPr>
        </p:nvSpPr>
        <p:spPr>
          <a:ln/>
        </p:spPr>
        <p:txBody>
          <a:bodyPr/>
          <a:lstStyle>
            <a:lvl1pPr>
              <a:defRPr/>
            </a:lvl1pPr>
          </a:lstStyle>
          <a:p>
            <a:fld id="{420960D5-D378-4DAA-8049-60EE617F6983}" type="slidenum">
              <a:rPr lang="en-US" altLang="en-US"/>
              <a:pPr/>
              <a:t>‹#›</a:t>
            </a:fld>
            <a:endParaRPr lang="en-US" altLang="en-US"/>
          </a:p>
        </p:txBody>
      </p:sp>
    </p:spTree>
    <p:extLst>
      <p:ext uri="{BB962C8B-B14F-4D97-AF65-F5344CB8AC3E}">
        <p14:creationId xmlns:p14="http://schemas.microsoft.com/office/powerpoint/2010/main" val="29195281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5EE94C33-7C49-0396-D9FA-80F5C98CCBE4}"/>
              </a:ext>
            </a:extLst>
          </p:cNvPr>
          <p:cNvSpPr>
            <a:spLocks noGrp="1" noChangeArrowheads="1"/>
          </p:cNvSpPr>
          <p:nvPr>
            <p:ph type="ftr" sz="quarter" idx="10"/>
          </p:nvPr>
        </p:nvSpPr>
        <p:spPr>
          <a:ln/>
        </p:spPr>
        <p:txBody>
          <a:bodyPr/>
          <a:lstStyle>
            <a:lvl1pPr>
              <a:defRPr/>
            </a:lvl1pPr>
          </a:lstStyle>
          <a:p>
            <a:pPr>
              <a:defRPr/>
            </a:pPr>
            <a:r>
              <a:rPr lang="en-US"/>
              <a:t>ViÖn ®o l­êng viÖt nam</a:t>
            </a:r>
          </a:p>
          <a:p>
            <a:pPr>
              <a:defRPr/>
            </a:pPr>
            <a:r>
              <a:rPr lang="en-US"/>
              <a:t>Vietnam metrology institute</a:t>
            </a:r>
          </a:p>
        </p:txBody>
      </p:sp>
      <p:sp>
        <p:nvSpPr>
          <p:cNvPr id="5" name="Rectangle 6">
            <a:extLst>
              <a:ext uri="{FF2B5EF4-FFF2-40B4-BE49-F238E27FC236}">
                <a16:creationId xmlns:a16="http://schemas.microsoft.com/office/drawing/2014/main" id="{2D5879DC-4689-E517-0145-6E84995C7642}"/>
              </a:ext>
            </a:extLst>
          </p:cNvPr>
          <p:cNvSpPr>
            <a:spLocks noGrp="1" noChangeArrowheads="1"/>
          </p:cNvSpPr>
          <p:nvPr>
            <p:ph type="sldNum" sz="quarter" idx="11"/>
          </p:nvPr>
        </p:nvSpPr>
        <p:spPr>
          <a:ln/>
        </p:spPr>
        <p:txBody>
          <a:bodyPr/>
          <a:lstStyle>
            <a:lvl1pPr>
              <a:defRPr/>
            </a:lvl1pPr>
          </a:lstStyle>
          <a:p>
            <a:fld id="{310204F6-88DA-4328-AE57-74D47F134A80}" type="slidenum">
              <a:rPr lang="en-US" altLang="en-US"/>
              <a:pPr/>
              <a:t>‹#›</a:t>
            </a:fld>
            <a:endParaRPr lang="en-US" altLang="en-US"/>
          </a:p>
        </p:txBody>
      </p:sp>
    </p:spTree>
    <p:extLst>
      <p:ext uri="{BB962C8B-B14F-4D97-AF65-F5344CB8AC3E}">
        <p14:creationId xmlns:p14="http://schemas.microsoft.com/office/powerpoint/2010/main" val="3241393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a:extLst>
              <a:ext uri="{FF2B5EF4-FFF2-40B4-BE49-F238E27FC236}">
                <a16:creationId xmlns:a16="http://schemas.microsoft.com/office/drawing/2014/main" id="{2550C7C9-AF40-6E49-A8BF-9BC551B1A6E0}"/>
              </a:ext>
            </a:extLst>
          </p:cNvPr>
          <p:cNvSpPr>
            <a:spLocks noGrp="1" noChangeArrowheads="1"/>
          </p:cNvSpPr>
          <p:nvPr>
            <p:ph type="ftr" sz="quarter" idx="10"/>
          </p:nvPr>
        </p:nvSpPr>
        <p:spPr>
          <a:ln/>
        </p:spPr>
        <p:txBody>
          <a:bodyPr/>
          <a:lstStyle>
            <a:lvl1pPr>
              <a:defRPr/>
            </a:lvl1pPr>
          </a:lstStyle>
          <a:p>
            <a:pPr>
              <a:defRPr/>
            </a:pPr>
            <a:r>
              <a:rPr lang="en-US"/>
              <a:t>ViÖn ®o l­êng viÖt nam</a:t>
            </a:r>
          </a:p>
          <a:p>
            <a:pPr>
              <a:defRPr/>
            </a:pPr>
            <a:r>
              <a:rPr lang="en-US"/>
              <a:t>Vietnam metrology institute</a:t>
            </a:r>
          </a:p>
        </p:txBody>
      </p:sp>
      <p:sp>
        <p:nvSpPr>
          <p:cNvPr id="5" name="Rectangle 6">
            <a:extLst>
              <a:ext uri="{FF2B5EF4-FFF2-40B4-BE49-F238E27FC236}">
                <a16:creationId xmlns:a16="http://schemas.microsoft.com/office/drawing/2014/main" id="{BC95DECD-7FA0-6122-96C3-0E5486356BE2}"/>
              </a:ext>
            </a:extLst>
          </p:cNvPr>
          <p:cNvSpPr>
            <a:spLocks noGrp="1" noChangeArrowheads="1"/>
          </p:cNvSpPr>
          <p:nvPr>
            <p:ph type="sldNum" sz="quarter" idx="11"/>
          </p:nvPr>
        </p:nvSpPr>
        <p:spPr>
          <a:ln/>
        </p:spPr>
        <p:txBody>
          <a:bodyPr/>
          <a:lstStyle>
            <a:lvl1pPr>
              <a:defRPr/>
            </a:lvl1pPr>
          </a:lstStyle>
          <a:p>
            <a:fld id="{DD3967BA-0B3F-4D1C-879A-2A8CD187F320}" type="slidenum">
              <a:rPr lang="en-US" altLang="en-US"/>
              <a:pPr/>
              <a:t>‹#›</a:t>
            </a:fld>
            <a:endParaRPr lang="en-US" altLang="en-US"/>
          </a:p>
        </p:txBody>
      </p:sp>
    </p:spTree>
    <p:extLst>
      <p:ext uri="{BB962C8B-B14F-4D97-AF65-F5344CB8AC3E}">
        <p14:creationId xmlns:p14="http://schemas.microsoft.com/office/powerpoint/2010/main" val="7093182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8229600" cy="411162"/>
          </a:xfrm>
          <a:prstGeom prst="rect">
            <a:avLst/>
          </a:prstGeom>
        </p:spPr>
        <p:txBody>
          <a:bodyPr/>
          <a:lstStyle>
            <a:lvl1pPr algn="l">
              <a:defRPr sz="1600" b="1" u="sng">
                <a:latin typeface="Times New Roman" pitchFamily="18" charset="0"/>
                <a:cs typeface="Times New Roman" pitchFamily="18" charset="0"/>
              </a:defRPr>
            </a:lvl1pPr>
          </a:lstStyle>
          <a:p>
            <a:r>
              <a:rPr lang="en-US" dirty="0"/>
              <a:t>Click to edit Master title style</a:t>
            </a:r>
          </a:p>
        </p:txBody>
      </p:sp>
      <p:sp>
        <p:nvSpPr>
          <p:cNvPr id="3" name="Content Placeholder 2"/>
          <p:cNvSpPr>
            <a:spLocks noGrp="1"/>
          </p:cNvSpPr>
          <p:nvPr>
            <p:ph sz="half" idx="1"/>
          </p:nvPr>
        </p:nvSpPr>
        <p:spPr>
          <a:xfrm>
            <a:off x="533400" y="762000"/>
            <a:ext cx="8229600" cy="2667000"/>
          </a:xfrm>
        </p:spPr>
        <p:txBody>
          <a:bodyPr/>
          <a:lstStyle>
            <a:lvl1pPr marL="0" indent="0" algn="ctr">
              <a:lnSpc>
                <a:spcPct val="150000"/>
              </a:lnSpc>
              <a:buNone/>
              <a:defRPr sz="1400">
                <a:latin typeface="Times New Roman" pitchFamily="18" charset="0"/>
                <a:cs typeface="Times New Roman" pitchFamily="18" charset="0"/>
              </a:defRPr>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endParaRPr lang="en-US" dirty="0"/>
          </a:p>
        </p:txBody>
      </p:sp>
      <p:sp>
        <p:nvSpPr>
          <p:cNvPr id="4" name="Content Placeholder 3"/>
          <p:cNvSpPr>
            <a:spLocks noGrp="1"/>
          </p:cNvSpPr>
          <p:nvPr>
            <p:ph sz="half" idx="2"/>
          </p:nvPr>
        </p:nvSpPr>
        <p:spPr>
          <a:xfrm>
            <a:off x="533400" y="3581400"/>
            <a:ext cx="8229600" cy="2590800"/>
          </a:xfrm>
        </p:spPr>
        <p:txBody>
          <a:bodyPr/>
          <a:lstStyle>
            <a:lvl1pPr marL="0" indent="0" algn="just">
              <a:lnSpc>
                <a:spcPct val="150000"/>
              </a:lnSpc>
              <a:buFont typeface="Arial" pitchFamily="34" charset="0"/>
              <a:buChar char="•"/>
              <a:defRPr sz="1400">
                <a:latin typeface="Times New Roman" pitchFamily="18" charset="0"/>
                <a:cs typeface="Times New Roman" pitchFamily="18" charset="0"/>
              </a:defRPr>
            </a:lvl1pPr>
            <a:lvl2pPr marL="0" indent="0" algn="just">
              <a:buFont typeface="Arial" pitchFamily="34" charset="0"/>
              <a:buNone/>
              <a:defRPr sz="1400">
                <a:latin typeface="Times New Roman" pitchFamily="18" charset="0"/>
                <a:cs typeface="Times New Roman" pitchFamily="18" charset="0"/>
              </a:defRPr>
            </a:lvl2pPr>
            <a:lvl3pPr algn="ctr">
              <a:defRPr sz="2000"/>
            </a:lvl3pPr>
            <a:lvl4pPr algn="ctr">
              <a:defRPr sz="1800"/>
            </a:lvl4pPr>
            <a:lvl5pPr algn="ctr">
              <a:defRPr sz="1800"/>
            </a:lvl5pPr>
            <a:lvl6pPr>
              <a:defRPr sz="1800"/>
            </a:lvl6pPr>
            <a:lvl7pPr>
              <a:defRPr sz="1800"/>
            </a:lvl7pPr>
            <a:lvl8pPr>
              <a:defRPr sz="1800"/>
            </a:lvl8pPr>
            <a:lvl9pPr>
              <a:defRPr sz="1800"/>
            </a:lvl9pPr>
          </a:lstStyle>
          <a:p>
            <a:pPr lvl="1"/>
            <a:endParaRPr lang="en-US" dirty="0"/>
          </a:p>
          <a:p>
            <a:pPr lvl="1"/>
            <a:endParaRPr lang="en-US" dirty="0"/>
          </a:p>
        </p:txBody>
      </p:sp>
      <p:sp>
        <p:nvSpPr>
          <p:cNvPr id="5" name="Rectangle 5">
            <a:extLst>
              <a:ext uri="{FF2B5EF4-FFF2-40B4-BE49-F238E27FC236}">
                <a16:creationId xmlns:a16="http://schemas.microsoft.com/office/drawing/2014/main" id="{B51A1A93-6E60-055C-E9AE-12152C69DF29}"/>
              </a:ext>
            </a:extLst>
          </p:cNvPr>
          <p:cNvSpPr>
            <a:spLocks noGrp="1" noChangeArrowheads="1"/>
          </p:cNvSpPr>
          <p:nvPr>
            <p:ph type="ftr" sz="quarter" idx="10"/>
          </p:nvPr>
        </p:nvSpPr>
        <p:spPr/>
        <p:txBody>
          <a:bodyPr/>
          <a:lstStyle>
            <a:lvl1pPr>
              <a:defRPr/>
            </a:lvl1pPr>
          </a:lstStyle>
          <a:p>
            <a:pPr>
              <a:defRPr/>
            </a:pPr>
            <a:r>
              <a:rPr lang="en-US"/>
              <a:t>ViÖn ®o l­êng viÖt nam</a:t>
            </a:r>
          </a:p>
          <a:p>
            <a:pPr>
              <a:defRPr/>
            </a:pPr>
            <a:r>
              <a:rPr lang="en-US"/>
              <a:t>Vietnam metrology institute</a:t>
            </a:r>
          </a:p>
        </p:txBody>
      </p:sp>
      <p:sp>
        <p:nvSpPr>
          <p:cNvPr id="6" name="Rectangle 6">
            <a:extLst>
              <a:ext uri="{FF2B5EF4-FFF2-40B4-BE49-F238E27FC236}">
                <a16:creationId xmlns:a16="http://schemas.microsoft.com/office/drawing/2014/main" id="{A41CE1E6-47A9-6669-A96E-32D12F3D1BED}"/>
              </a:ext>
            </a:extLst>
          </p:cNvPr>
          <p:cNvSpPr>
            <a:spLocks noGrp="1" noChangeArrowheads="1"/>
          </p:cNvSpPr>
          <p:nvPr>
            <p:ph type="sldNum" sz="quarter" idx="11"/>
          </p:nvPr>
        </p:nvSpPr>
        <p:spPr/>
        <p:txBody>
          <a:bodyPr/>
          <a:lstStyle>
            <a:lvl1pPr>
              <a:defRPr>
                <a:latin typeface="Times New Roman" panose="02020603050405020304" pitchFamily="18" charset="0"/>
                <a:cs typeface="Times New Roman" panose="02020603050405020304" pitchFamily="18" charset="0"/>
              </a:defRPr>
            </a:lvl1pPr>
          </a:lstStyle>
          <a:p>
            <a:fld id="{26304AF3-B89A-4AEC-88FC-A5C4848E43F4}" type="slidenum">
              <a:rPr lang="en-US" altLang="en-US"/>
              <a:pPr/>
              <a:t>‹#›</a:t>
            </a:fld>
            <a:endParaRPr lang="en-US" altLang="en-US"/>
          </a:p>
        </p:txBody>
      </p:sp>
    </p:spTree>
    <p:extLst>
      <p:ext uri="{BB962C8B-B14F-4D97-AF65-F5344CB8AC3E}">
        <p14:creationId xmlns:p14="http://schemas.microsoft.com/office/powerpoint/2010/main" val="23769338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a:extLst>
              <a:ext uri="{FF2B5EF4-FFF2-40B4-BE49-F238E27FC236}">
                <a16:creationId xmlns:a16="http://schemas.microsoft.com/office/drawing/2014/main" id="{D05D6C93-89BC-7FD6-5D14-00BCBF6C916D}"/>
              </a:ext>
            </a:extLst>
          </p:cNvPr>
          <p:cNvSpPr>
            <a:spLocks noGrp="1" noChangeArrowheads="1"/>
          </p:cNvSpPr>
          <p:nvPr>
            <p:ph type="ftr" sz="quarter" idx="10"/>
          </p:nvPr>
        </p:nvSpPr>
        <p:spPr>
          <a:ln/>
        </p:spPr>
        <p:txBody>
          <a:bodyPr/>
          <a:lstStyle>
            <a:lvl1pPr>
              <a:defRPr/>
            </a:lvl1pPr>
          </a:lstStyle>
          <a:p>
            <a:pPr>
              <a:defRPr/>
            </a:pPr>
            <a:r>
              <a:rPr lang="en-US"/>
              <a:t>ViÖn ®o l­êng viÖt nam</a:t>
            </a:r>
          </a:p>
          <a:p>
            <a:pPr>
              <a:defRPr/>
            </a:pPr>
            <a:r>
              <a:rPr lang="en-US"/>
              <a:t>Vietnam metrology institute</a:t>
            </a:r>
          </a:p>
        </p:txBody>
      </p:sp>
      <p:sp>
        <p:nvSpPr>
          <p:cNvPr id="8" name="Rectangle 6">
            <a:extLst>
              <a:ext uri="{FF2B5EF4-FFF2-40B4-BE49-F238E27FC236}">
                <a16:creationId xmlns:a16="http://schemas.microsoft.com/office/drawing/2014/main" id="{544648EA-79DB-CFFA-E6AE-F6E9FDF8ED49}"/>
              </a:ext>
            </a:extLst>
          </p:cNvPr>
          <p:cNvSpPr>
            <a:spLocks noGrp="1" noChangeArrowheads="1"/>
          </p:cNvSpPr>
          <p:nvPr>
            <p:ph type="sldNum" sz="quarter" idx="11"/>
          </p:nvPr>
        </p:nvSpPr>
        <p:spPr>
          <a:ln/>
        </p:spPr>
        <p:txBody>
          <a:bodyPr/>
          <a:lstStyle>
            <a:lvl1pPr>
              <a:defRPr/>
            </a:lvl1pPr>
          </a:lstStyle>
          <a:p>
            <a:fld id="{0A23C4C5-57D0-44EC-96D5-C2B7BD77FC93}" type="slidenum">
              <a:rPr lang="en-US" altLang="en-US"/>
              <a:pPr/>
              <a:t>‹#›</a:t>
            </a:fld>
            <a:endParaRPr lang="en-US" altLang="en-US"/>
          </a:p>
        </p:txBody>
      </p:sp>
    </p:spTree>
    <p:extLst>
      <p:ext uri="{BB962C8B-B14F-4D97-AF65-F5344CB8AC3E}">
        <p14:creationId xmlns:p14="http://schemas.microsoft.com/office/powerpoint/2010/main" val="35217425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Rectangle 5">
            <a:extLst>
              <a:ext uri="{FF2B5EF4-FFF2-40B4-BE49-F238E27FC236}">
                <a16:creationId xmlns:a16="http://schemas.microsoft.com/office/drawing/2014/main" id="{ED95785E-CFEA-C1C1-E5A5-638741912923}"/>
              </a:ext>
            </a:extLst>
          </p:cNvPr>
          <p:cNvSpPr>
            <a:spLocks noGrp="1" noChangeArrowheads="1"/>
          </p:cNvSpPr>
          <p:nvPr>
            <p:ph type="ftr" sz="quarter" idx="10"/>
          </p:nvPr>
        </p:nvSpPr>
        <p:spPr>
          <a:ln/>
        </p:spPr>
        <p:txBody>
          <a:bodyPr/>
          <a:lstStyle>
            <a:lvl1pPr>
              <a:defRPr/>
            </a:lvl1pPr>
          </a:lstStyle>
          <a:p>
            <a:pPr>
              <a:defRPr/>
            </a:pPr>
            <a:r>
              <a:rPr lang="en-US"/>
              <a:t>ViÖn ®o l­êng viÖt nam</a:t>
            </a:r>
          </a:p>
          <a:p>
            <a:pPr>
              <a:defRPr/>
            </a:pPr>
            <a:r>
              <a:rPr lang="en-US"/>
              <a:t>Vietnam metrology institute</a:t>
            </a:r>
          </a:p>
        </p:txBody>
      </p:sp>
      <p:sp>
        <p:nvSpPr>
          <p:cNvPr id="4" name="Rectangle 6">
            <a:extLst>
              <a:ext uri="{FF2B5EF4-FFF2-40B4-BE49-F238E27FC236}">
                <a16:creationId xmlns:a16="http://schemas.microsoft.com/office/drawing/2014/main" id="{6EBBD3AF-35F8-90BE-7307-AF8517B7A0BD}"/>
              </a:ext>
            </a:extLst>
          </p:cNvPr>
          <p:cNvSpPr>
            <a:spLocks noGrp="1" noChangeArrowheads="1"/>
          </p:cNvSpPr>
          <p:nvPr>
            <p:ph type="sldNum" sz="quarter" idx="11"/>
          </p:nvPr>
        </p:nvSpPr>
        <p:spPr>
          <a:ln/>
        </p:spPr>
        <p:txBody>
          <a:bodyPr/>
          <a:lstStyle>
            <a:lvl1pPr>
              <a:defRPr/>
            </a:lvl1pPr>
          </a:lstStyle>
          <a:p>
            <a:fld id="{BC515AFA-93DA-473B-AFE9-CED4E1132B2F}" type="slidenum">
              <a:rPr lang="en-US" altLang="en-US"/>
              <a:pPr/>
              <a:t>‹#›</a:t>
            </a:fld>
            <a:endParaRPr lang="en-US" altLang="en-US"/>
          </a:p>
        </p:txBody>
      </p:sp>
    </p:spTree>
    <p:extLst>
      <p:ext uri="{BB962C8B-B14F-4D97-AF65-F5344CB8AC3E}">
        <p14:creationId xmlns:p14="http://schemas.microsoft.com/office/powerpoint/2010/main" val="24595291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47ECD5E4-B9D3-22DC-3651-89BC87AFF50C}"/>
              </a:ext>
            </a:extLst>
          </p:cNvPr>
          <p:cNvSpPr>
            <a:spLocks noGrp="1" noChangeArrowheads="1"/>
          </p:cNvSpPr>
          <p:nvPr>
            <p:ph type="ftr" sz="quarter" idx="10"/>
          </p:nvPr>
        </p:nvSpPr>
        <p:spPr>
          <a:ln/>
        </p:spPr>
        <p:txBody>
          <a:bodyPr/>
          <a:lstStyle>
            <a:lvl1pPr>
              <a:defRPr/>
            </a:lvl1pPr>
          </a:lstStyle>
          <a:p>
            <a:pPr>
              <a:defRPr/>
            </a:pPr>
            <a:r>
              <a:rPr lang="en-US"/>
              <a:t>ViÖn ®o l­êng viÖt nam</a:t>
            </a:r>
          </a:p>
          <a:p>
            <a:pPr>
              <a:defRPr/>
            </a:pPr>
            <a:r>
              <a:rPr lang="en-US"/>
              <a:t>Vietnam metrology institute</a:t>
            </a:r>
          </a:p>
        </p:txBody>
      </p:sp>
      <p:sp>
        <p:nvSpPr>
          <p:cNvPr id="3" name="Rectangle 6">
            <a:extLst>
              <a:ext uri="{FF2B5EF4-FFF2-40B4-BE49-F238E27FC236}">
                <a16:creationId xmlns:a16="http://schemas.microsoft.com/office/drawing/2014/main" id="{B2935F13-B095-011D-795F-E93F46F23C23}"/>
              </a:ext>
            </a:extLst>
          </p:cNvPr>
          <p:cNvSpPr>
            <a:spLocks noGrp="1" noChangeArrowheads="1"/>
          </p:cNvSpPr>
          <p:nvPr>
            <p:ph type="sldNum" sz="quarter" idx="11"/>
          </p:nvPr>
        </p:nvSpPr>
        <p:spPr>
          <a:ln/>
        </p:spPr>
        <p:txBody>
          <a:bodyPr/>
          <a:lstStyle>
            <a:lvl1pPr>
              <a:defRPr/>
            </a:lvl1pPr>
          </a:lstStyle>
          <a:p>
            <a:fld id="{2A43DE50-2C4D-4750-811F-059C5D56D2E6}" type="slidenum">
              <a:rPr lang="en-US" altLang="en-US"/>
              <a:pPr/>
              <a:t>‹#›</a:t>
            </a:fld>
            <a:endParaRPr lang="en-US" altLang="en-US"/>
          </a:p>
        </p:txBody>
      </p:sp>
    </p:spTree>
    <p:extLst>
      <p:ext uri="{BB962C8B-B14F-4D97-AF65-F5344CB8AC3E}">
        <p14:creationId xmlns:p14="http://schemas.microsoft.com/office/powerpoint/2010/main" val="20835283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1B235492-71E5-B35A-4F33-596CEEC0064D}"/>
              </a:ext>
            </a:extLst>
          </p:cNvPr>
          <p:cNvSpPr>
            <a:spLocks noGrp="1" noChangeArrowheads="1"/>
          </p:cNvSpPr>
          <p:nvPr>
            <p:ph type="ftr" sz="quarter" idx="10"/>
          </p:nvPr>
        </p:nvSpPr>
        <p:spPr>
          <a:ln/>
        </p:spPr>
        <p:txBody>
          <a:bodyPr/>
          <a:lstStyle>
            <a:lvl1pPr>
              <a:defRPr/>
            </a:lvl1pPr>
          </a:lstStyle>
          <a:p>
            <a:pPr>
              <a:defRPr/>
            </a:pPr>
            <a:r>
              <a:rPr lang="en-US"/>
              <a:t>ViÖn ®o l­êng viÖt nam</a:t>
            </a:r>
          </a:p>
          <a:p>
            <a:pPr>
              <a:defRPr/>
            </a:pPr>
            <a:r>
              <a:rPr lang="en-US"/>
              <a:t>Vietnam metrology institute</a:t>
            </a:r>
          </a:p>
        </p:txBody>
      </p:sp>
      <p:sp>
        <p:nvSpPr>
          <p:cNvPr id="6" name="Rectangle 6">
            <a:extLst>
              <a:ext uri="{FF2B5EF4-FFF2-40B4-BE49-F238E27FC236}">
                <a16:creationId xmlns:a16="http://schemas.microsoft.com/office/drawing/2014/main" id="{8692AE70-633D-F203-0B15-DFBD32B702F1}"/>
              </a:ext>
            </a:extLst>
          </p:cNvPr>
          <p:cNvSpPr>
            <a:spLocks noGrp="1" noChangeArrowheads="1"/>
          </p:cNvSpPr>
          <p:nvPr>
            <p:ph type="sldNum" sz="quarter" idx="11"/>
          </p:nvPr>
        </p:nvSpPr>
        <p:spPr>
          <a:ln/>
        </p:spPr>
        <p:txBody>
          <a:bodyPr/>
          <a:lstStyle>
            <a:lvl1pPr>
              <a:defRPr/>
            </a:lvl1pPr>
          </a:lstStyle>
          <a:p>
            <a:fld id="{3844059F-2034-4A26-83F8-4C7CAB6A719F}" type="slidenum">
              <a:rPr lang="en-US" altLang="en-US"/>
              <a:pPr/>
              <a:t>‹#›</a:t>
            </a:fld>
            <a:endParaRPr lang="en-US" altLang="en-US"/>
          </a:p>
        </p:txBody>
      </p:sp>
    </p:spTree>
    <p:extLst>
      <p:ext uri="{BB962C8B-B14F-4D97-AF65-F5344CB8AC3E}">
        <p14:creationId xmlns:p14="http://schemas.microsoft.com/office/powerpoint/2010/main" val="12822884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69781959-CE95-A764-6B50-4D47DBA4E35D}"/>
              </a:ext>
            </a:extLst>
          </p:cNvPr>
          <p:cNvSpPr>
            <a:spLocks noGrp="1" noChangeArrowheads="1"/>
          </p:cNvSpPr>
          <p:nvPr>
            <p:ph type="ftr" sz="quarter" idx="10"/>
          </p:nvPr>
        </p:nvSpPr>
        <p:spPr>
          <a:ln/>
        </p:spPr>
        <p:txBody>
          <a:bodyPr/>
          <a:lstStyle>
            <a:lvl1pPr>
              <a:defRPr/>
            </a:lvl1pPr>
          </a:lstStyle>
          <a:p>
            <a:pPr>
              <a:defRPr/>
            </a:pPr>
            <a:r>
              <a:rPr lang="en-US"/>
              <a:t>ViÖn ®o l­êng viÖt nam</a:t>
            </a:r>
          </a:p>
          <a:p>
            <a:pPr>
              <a:defRPr/>
            </a:pPr>
            <a:r>
              <a:rPr lang="en-US"/>
              <a:t>Vietnam metrology institute</a:t>
            </a:r>
          </a:p>
        </p:txBody>
      </p:sp>
      <p:sp>
        <p:nvSpPr>
          <p:cNvPr id="6" name="Rectangle 6">
            <a:extLst>
              <a:ext uri="{FF2B5EF4-FFF2-40B4-BE49-F238E27FC236}">
                <a16:creationId xmlns:a16="http://schemas.microsoft.com/office/drawing/2014/main" id="{3B7617B0-72A5-8B0A-CBF5-B85A8879AA23}"/>
              </a:ext>
            </a:extLst>
          </p:cNvPr>
          <p:cNvSpPr>
            <a:spLocks noGrp="1" noChangeArrowheads="1"/>
          </p:cNvSpPr>
          <p:nvPr>
            <p:ph type="sldNum" sz="quarter" idx="11"/>
          </p:nvPr>
        </p:nvSpPr>
        <p:spPr>
          <a:ln/>
        </p:spPr>
        <p:txBody>
          <a:bodyPr/>
          <a:lstStyle>
            <a:lvl1pPr>
              <a:defRPr/>
            </a:lvl1pPr>
          </a:lstStyle>
          <a:p>
            <a:fld id="{71FCA374-F0C2-448B-BFB2-A30F3AF69CF2}" type="slidenum">
              <a:rPr lang="en-US" altLang="en-US"/>
              <a:pPr/>
              <a:t>‹#›</a:t>
            </a:fld>
            <a:endParaRPr lang="en-US" altLang="en-US"/>
          </a:p>
        </p:txBody>
      </p:sp>
    </p:spTree>
    <p:extLst>
      <p:ext uri="{BB962C8B-B14F-4D97-AF65-F5344CB8AC3E}">
        <p14:creationId xmlns:p14="http://schemas.microsoft.com/office/powerpoint/2010/main" val="1666713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6B1A3A6E-29FD-A5F5-DB44-A33A64E3C98A}"/>
              </a:ext>
            </a:extLst>
          </p:cNvPr>
          <p:cNvSpPr>
            <a:spLocks noGrp="1" noChangeArrowheads="1"/>
          </p:cNvSpPr>
          <p:nvPr>
            <p:ph type="ftr" sz="quarter" idx="10"/>
          </p:nvPr>
        </p:nvSpPr>
        <p:spPr>
          <a:ln/>
        </p:spPr>
        <p:txBody>
          <a:bodyPr/>
          <a:lstStyle>
            <a:lvl1pPr>
              <a:defRPr/>
            </a:lvl1pPr>
          </a:lstStyle>
          <a:p>
            <a:pPr>
              <a:defRPr/>
            </a:pPr>
            <a:r>
              <a:rPr lang="en-US"/>
              <a:t>ViÖn ®o l­êng viÖt nam</a:t>
            </a:r>
          </a:p>
          <a:p>
            <a:pPr>
              <a:defRPr/>
            </a:pPr>
            <a:r>
              <a:rPr lang="en-US"/>
              <a:t>Vietnam metrology institute</a:t>
            </a:r>
          </a:p>
        </p:txBody>
      </p:sp>
      <p:sp>
        <p:nvSpPr>
          <p:cNvPr id="5" name="Rectangle 6">
            <a:extLst>
              <a:ext uri="{FF2B5EF4-FFF2-40B4-BE49-F238E27FC236}">
                <a16:creationId xmlns:a16="http://schemas.microsoft.com/office/drawing/2014/main" id="{0A8309CB-F91D-7505-5C6F-956F76F5122D}"/>
              </a:ext>
            </a:extLst>
          </p:cNvPr>
          <p:cNvSpPr>
            <a:spLocks noGrp="1" noChangeArrowheads="1"/>
          </p:cNvSpPr>
          <p:nvPr>
            <p:ph type="sldNum" sz="quarter" idx="11"/>
          </p:nvPr>
        </p:nvSpPr>
        <p:spPr>
          <a:ln/>
        </p:spPr>
        <p:txBody>
          <a:bodyPr/>
          <a:lstStyle>
            <a:lvl1pPr>
              <a:defRPr/>
            </a:lvl1pPr>
          </a:lstStyle>
          <a:p>
            <a:fld id="{18B1B479-251A-4162-89EE-B05DBD409213}" type="slidenum">
              <a:rPr lang="en-US" altLang="en-US"/>
              <a:pPr/>
              <a:t>‹#›</a:t>
            </a:fld>
            <a:endParaRPr lang="en-US" altLang="en-US"/>
          </a:p>
        </p:txBody>
      </p:sp>
    </p:spTree>
    <p:extLst>
      <p:ext uri="{BB962C8B-B14F-4D97-AF65-F5344CB8AC3E}">
        <p14:creationId xmlns:p14="http://schemas.microsoft.com/office/powerpoint/2010/main" val="37775352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F5221193-56D2-192F-0928-506CE68F3345}"/>
              </a:ext>
            </a:extLst>
          </p:cNvPr>
          <p:cNvSpPr>
            <a:spLocks noGrp="1" noChangeArrowheads="1"/>
          </p:cNvSpPr>
          <p:nvPr>
            <p:ph type="ftr" sz="quarter" idx="10"/>
          </p:nvPr>
        </p:nvSpPr>
        <p:spPr>
          <a:ln/>
        </p:spPr>
        <p:txBody>
          <a:bodyPr/>
          <a:lstStyle>
            <a:lvl1pPr>
              <a:defRPr/>
            </a:lvl1pPr>
          </a:lstStyle>
          <a:p>
            <a:pPr>
              <a:defRPr/>
            </a:pPr>
            <a:r>
              <a:rPr lang="en-US"/>
              <a:t>ViÖn ®o l­êng viÖt nam</a:t>
            </a:r>
          </a:p>
          <a:p>
            <a:pPr>
              <a:defRPr/>
            </a:pPr>
            <a:r>
              <a:rPr lang="en-US"/>
              <a:t>Vietnam metrology institute</a:t>
            </a:r>
          </a:p>
        </p:txBody>
      </p:sp>
      <p:sp>
        <p:nvSpPr>
          <p:cNvPr id="5" name="Rectangle 6">
            <a:extLst>
              <a:ext uri="{FF2B5EF4-FFF2-40B4-BE49-F238E27FC236}">
                <a16:creationId xmlns:a16="http://schemas.microsoft.com/office/drawing/2014/main" id="{5066B7EA-F64E-DFB7-B4C3-4516EA436571}"/>
              </a:ext>
            </a:extLst>
          </p:cNvPr>
          <p:cNvSpPr>
            <a:spLocks noGrp="1" noChangeArrowheads="1"/>
          </p:cNvSpPr>
          <p:nvPr>
            <p:ph type="sldNum" sz="quarter" idx="11"/>
          </p:nvPr>
        </p:nvSpPr>
        <p:spPr>
          <a:ln/>
        </p:spPr>
        <p:txBody>
          <a:bodyPr/>
          <a:lstStyle>
            <a:lvl1pPr>
              <a:defRPr/>
            </a:lvl1pPr>
          </a:lstStyle>
          <a:p>
            <a:fld id="{84DCC582-BCC8-4201-ABFC-E264F39E5822}" type="slidenum">
              <a:rPr lang="en-US" altLang="en-US"/>
              <a:pPr/>
              <a:t>‹#›</a:t>
            </a:fld>
            <a:endParaRPr lang="en-US" altLang="en-US"/>
          </a:p>
        </p:txBody>
      </p:sp>
    </p:spTree>
    <p:extLst>
      <p:ext uri="{BB962C8B-B14F-4D97-AF65-F5344CB8AC3E}">
        <p14:creationId xmlns:p14="http://schemas.microsoft.com/office/powerpoint/2010/main" val="35504849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OverTx" preserve="1">
  <p:cSld name="Title and 2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sz="quarter" idx="1"/>
          </p:nvPr>
        </p:nvSpPr>
        <p:spPr>
          <a:xfrm>
            <a:off x="457200" y="1600200"/>
            <a:ext cx="4038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0"/>
            <a:ext cx="4038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half" idx="3"/>
          </p:nvPr>
        </p:nvSpPr>
        <p:spPr>
          <a:xfrm>
            <a:off x="457200" y="3938588"/>
            <a:ext cx="8229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5">
            <a:extLst>
              <a:ext uri="{FF2B5EF4-FFF2-40B4-BE49-F238E27FC236}">
                <a16:creationId xmlns:a16="http://schemas.microsoft.com/office/drawing/2014/main" id="{919141EE-1654-4B40-96E0-02ED4B1BAE45}"/>
              </a:ext>
            </a:extLst>
          </p:cNvPr>
          <p:cNvSpPr>
            <a:spLocks noGrp="1" noChangeArrowheads="1"/>
          </p:cNvSpPr>
          <p:nvPr>
            <p:ph type="ftr" sz="quarter" idx="10"/>
          </p:nvPr>
        </p:nvSpPr>
        <p:spPr>
          <a:ln/>
        </p:spPr>
        <p:txBody>
          <a:bodyPr/>
          <a:lstStyle>
            <a:lvl1pPr>
              <a:defRPr/>
            </a:lvl1pPr>
          </a:lstStyle>
          <a:p>
            <a:pPr>
              <a:defRPr/>
            </a:pPr>
            <a:r>
              <a:rPr lang="en-US"/>
              <a:t>ViÖn ®o l­êng viÖt nam</a:t>
            </a:r>
          </a:p>
          <a:p>
            <a:pPr>
              <a:defRPr/>
            </a:pPr>
            <a:r>
              <a:rPr lang="en-US"/>
              <a:t>Vietnam metrology institute</a:t>
            </a:r>
          </a:p>
        </p:txBody>
      </p:sp>
      <p:sp>
        <p:nvSpPr>
          <p:cNvPr id="7" name="Rectangle 6">
            <a:extLst>
              <a:ext uri="{FF2B5EF4-FFF2-40B4-BE49-F238E27FC236}">
                <a16:creationId xmlns:a16="http://schemas.microsoft.com/office/drawing/2014/main" id="{481A1D62-9072-AAEA-D6E9-891B60AA421D}"/>
              </a:ext>
            </a:extLst>
          </p:cNvPr>
          <p:cNvSpPr>
            <a:spLocks noGrp="1" noChangeArrowheads="1"/>
          </p:cNvSpPr>
          <p:nvPr>
            <p:ph type="sldNum" sz="quarter" idx="11"/>
          </p:nvPr>
        </p:nvSpPr>
        <p:spPr>
          <a:ln/>
        </p:spPr>
        <p:txBody>
          <a:bodyPr/>
          <a:lstStyle>
            <a:lvl1pPr>
              <a:defRPr/>
            </a:lvl1pPr>
          </a:lstStyle>
          <a:p>
            <a:fld id="{3FB49FCA-3117-483C-8081-FD172718EB72}" type="slidenum">
              <a:rPr lang="en-US" altLang="en-US"/>
              <a:pPr/>
              <a:t>‹#›</a:t>
            </a:fld>
            <a:endParaRPr lang="en-US" altLang="en-US"/>
          </a:p>
        </p:txBody>
      </p:sp>
    </p:spTree>
    <p:extLst>
      <p:ext uri="{BB962C8B-B14F-4D97-AF65-F5344CB8AC3E}">
        <p14:creationId xmlns:p14="http://schemas.microsoft.com/office/powerpoint/2010/main" val="42307210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OverObj" preserve="1">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Text Placeholder 2"/>
          <p:cNvSpPr>
            <a:spLocks noGrp="1"/>
          </p:cNvSpPr>
          <p:nvPr>
            <p:ph type="body" sz="half" idx="1"/>
          </p:nvPr>
        </p:nvSpPr>
        <p:spPr>
          <a:xfrm>
            <a:off x="457200" y="1600200"/>
            <a:ext cx="8229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57200" y="3938588"/>
            <a:ext cx="8229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6FA77EA2-C021-9846-A1E9-BB8B569654DD}"/>
              </a:ext>
            </a:extLst>
          </p:cNvPr>
          <p:cNvSpPr>
            <a:spLocks noGrp="1" noChangeArrowheads="1"/>
          </p:cNvSpPr>
          <p:nvPr>
            <p:ph type="ftr" sz="quarter" idx="10"/>
          </p:nvPr>
        </p:nvSpPr>
        <p:spPr>
          <a:ln/>
        </p:spPr>
        <p:txBody>
          <a:bodyPr/>
          <a:lstStyle>
            <a:lvl1pPr>
              <a:defRPr/>
            </a:lvl1pPr>
          </a:lstStyle>
          <a:p>
            <a:pPr>
              <a:defRPr/>
            </a:pPr>
            <a:r>
              <a:rPr lang="en-US"/>
              <a:t>ViÖn ®o l­êng viÖt nam</a:t>
            </a:r>
          </a:p>
          <a:p>
            <a:pPr>
              <a:defRPr/>
            </a:pPr>
            <a:r>
              <a:rPr lang="en-US"/>
              <a:t>Vietnam metrology institute</a:t>
            </a:r>
          </a:p>
        </p:txBody>
      </p:sp>
      <p:sp>
        <p:nvSpPr>
          <p:cNvPr id="6" name="Rectangle 6">
            <a:extLst>
              <a:ext uri="{FF2B5EF4-FFF2-40B4-BE49-F238E27FC236}">
                <a16:creationId xmlns:a16="http://schemas.microsoft.com/office/drawing/2014/main" id="{2F2CCECE-BC23-182E-F4B1-46FED02638C6}"/>
              </a:ext>
            </a:extLst>
          </p:cNvPr>
          <p:cNvSpPr>
            <a:spLocks noGrp="1" noChangeArrowheads="1"/>
          </p:cNvSpPr>
          <p:nvPr>
            <p:ph type="sldNum" sz="quarter" idx="11"/>
          </p:nvPr>
        </p:nvSpPr>
        <p:spPr>
          <a:ln/>
        </p:spPr>
        <p:txBody>
          <a:bodyPr/>
          <a:lstStyle>
            <a:lvl1pPr>
              <a:defRPr/>
            </a:lvl1pPr>
          </a:lstStyle>
          <a:p>
            <a:fld id="{BF486795-04D0-4A2A-A530-F3C3B51B8D46}" type="slidenum">
              <a:rPr lang="en-US" altLang="en-US"/>
              <a:pPr/>
              <a:t>‹#›</a:t>
            </a:fld>
            <a:endParaRPr lang="en-US" altLang="en-US"/>
          </a:p>
        </p:txBody>
      </p:sp>
    </p:spTree>
    <p:extLst>
      <p:ext uri="{BB962C8B-B14F-4D97-AF65-F5344CB8AC3E}">
        <p14:creationId xmlns:p14="http://schemas.microsoft.com/office/powerpoint/2010/main" val="36146338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3C9FB686-A597-822C-7C3A-B2FCACC6A4FC}"/>
              </a:ext>
            </a:extLst>
          </p:cNvPr>
          <p:cNvSpPr>
            <a:spLocks noGrp="1" noChangeArrowheads="1"/>
          </p:cNvSpPr>
          <p:nvPr>
            <p:ph type="ftr" sz="quarter" idx="10"/>
          </p:nvPr>
        </p:nvSpPr>
        <p:spPr>
          <a:ln/>
        </p:spPr>
        <p:txBody>
          <a:bodyPr/>
          <a:lstStyle>
            <a:lvl1pPr>
              <a:defRPr/>
            </a:lvl1pPr>
          </a:lstStyle>
          <a:p>
            <a:pPr>
              <a:defRPr/>
            </a:pPr>
            <a:r>
              <a:rPr lang="en-US"/>
              <a:t>ViÖn ®o l­êng viÖt nam</a:t>
            </a:r>
          </a:p>
          <a:p>
            <a:pPr>
              <a:defRPr/>
            </a:pPr>
            <a:r>
              <a:rPr lang="en-US"/>
              <a:t>Vietnam metrology institute</a:t>
            </a:r>
          </a:p>
        </p:txBody>
      </p:sp>
      <p:sp>
        <p:nvSpPr>
          <p:cNvPr id="6" name="Rectangle 6">
            <a:extLst>
              <a:ext uri="{FF2B5EF4-FFF2-40B4-BE49-F238E27FC236}">
                <a16:creationId xmlns:a16="http://schemas.microsoft.com/office/drawing/2014/main" id="{91DA928E-F5DF-18F2-A9C4-EA02FC2544CB}"/>
              </a:ext>
            </a:extLst>
          </p:cNvPr>
          <p:cNvSpPr>
            <a:spLocks noGrp="1" noChangeArrowheads="1"/>
          </p:cNvSpPr>
          <p:nvPr>
            <p:ph type="sldNum" sz="quarter" idx="11"/>
          </p:nvPr>
        </p:nvSpPr>
        <p:spPr>
          <a:ln/>
        </p:spPr>
        <p:txBody>
          <a:bodyPr/>
          <a:lstStyle>
            <a:lvl1pPr>
              <a:defRPr/>
            </a:lvl1pPr>
          </a:lstStyle>
          <a:p>
            <a:fld id="{42B914AF-7FDB-41EF-B01B-A939AE32535A}" type="slidenum">
              <a:rPr lang="en-US" altLang="en-US"/>
              <a:pPr/>
              <a:t>‹#›</a:t>
            </a:fld>
            <a:endParaRPr lang="en-US" altLang="en-US"/>
          </a:p>
        </p:txBody>
      </p:sp>
    </p:spTree>
    <p:extLst>
      <p:ext uri="{BB962C8B-B14F-4D97-AF65-F5344CB8AC3E}">
        <p14:creationId xmlns:p14="http://schemas.microsoft.com/office/powerpoint/2010/main" val="2219155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AndTx" preserve="1">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2460DBC7-612A-6C8C-0505-9B8C4930B625}"/>
              </a:ext>
            </a:extLst>
          </p:cNvPr>
          <p:cNvSpPr>
            <a:spLocks noGrp="1" noChangeArrowheads="1"/>
          </p:cNvSpPr>
          <p:nvPr>
            <p:ph type="ftr" sz="quarter" idx="10"/>
          </p:nvPr>
        </p:nvSpPr>
        <p:spPr>
          <a:ln/>
        </p:spPr>
        <p:txBody>
          <a:bodyPr/>
          <a:lstStyle>
            <a:lvl1pPr>
              <a:defRPr/>
            </a:lvl1pPr>
          </a:lstStyle>
          <a:p>
            <a:pPr>
              <a:defRPr/>
            </a:pPr>
            <a:r>
              <a:rPr lang="en-US"/>
              <a:t>ViÖn ®o l­êng viÖt nam</a:t>
            </a:r>
          </a:p>
          <a:p>
            <a:pPr>
              <a:defRPr/>
            </a:pPr>
            <a:r>
              <a:rPr lang="en-US"/>
              <a:t>Vietnam metrology institute</a:t>
            </a:r>
          </a:p>
        </p:txBody>
      </p:sp>
      <p:sp>
        <p:nvSpPr>
          <p:cNvPr id="6" name="Rectangle 6">
            <a:extLst>
              <a:ext uri="{FF2B5EF4-FFF2-40B4-BE49-F238E27FC236}">
                <a16:creationId xmlns:a16="http://schemas.microsoft.com/office/drawing/2014/main" id="{A7090D33-6F7B-359A-6BA4-73D33D3BB8BF}"/>
              </a:ext>
            </a:extLst>
          </p:cNvPr>
          <p:cNvSpPr>
            <a:spLocks noGrp="1" noChangeArrowheads="1"/>
          </p:cNvSpPr>
          <p:nvPr>
            <p:ph type="sldNum" sz="quarter" idx="11"/>
          </p:nvPr>
        </p:nvSpPr>
        <p:spPr>
          <a:ln/>
        </p:spPr>
        <p:txBody>
          <a:bodyPr/>
          <a:lstStyle>
            <a:lvl1pPr>
              <a:defRPr/>
            </a:lvl1pPr>
          </a:lstStyle>
          <a:p>
            <a:fld id="{4E8AFD1C-EE26-4774-B24E-C81AE51FB23B}" type="slidenum">
              <a:rPr lang="en-US" altLang="en-US"/>
              <a:pPr/>
              <a:t>‹#›</a:t>
            </a:fld>
            <a:endParaRPr lang="en-US" altLang="en-US"/>
          </a:p>
        </p:txBody>
      </p:sp>
    </p:spTree>
    <p:extLst>
      <p:ext uri="{BB962C8B-B14F-4D97-AF65-F5344CB8AC3E}">
        <p14:creationId xmlns:p14="http://schemas.microsoft.com/office/powerpoint/2010/main" val="34673715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sz="quarter" idx="1"/>
          </p:nvPr>
        </p:nvSpPr>
        <p:spPr>
          <a:xfrm>
            <a:off x="457200" y="1600200"/>
            <a:ext cx="4038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0"/>
            <a:ext cx="4038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57200" y="3938588"/>
            <a:ext cx="4038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8200" y="3938588"/>
            <a:ext cx="4038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a:extLst>
              <a:ext uri="{FF2B5EF4-FFF2-40B4-BE49-F238E27FC236}">
                <a16:creationId xmlns:a16="http://schemas.microsoft.com/office/drawing/2014/main" id="{63EAF40A-FABE-98CA-43D6-FDBFA58DA737}"/>
              </a:ext>
            </a:extLst>
          </p:cNvPr>
          <p:cNvSpPr>
            <a:spLocks noGrp="1" noChangeArrowheads="1"/>
          </p:cNvSpPr>
          <p:nvPr>
            <p:ph type="ftr" sz="quarter" idx="10"/>
          </p:nvPr>
        </p:nvSpPr>
        <p:spPr>
          <a:ln/>
        </p:spPr>
        <p:txBody>
          <a:bodyPr/>
          <a:lstStyle>
            <a:lvl1pPr>
              <a:defRPr/>
            </a:lvl1pPr>
          </a:lstStyle>
          <a:p>
            <a:pPr>
              <a:defRPr/>
            </a:pPr>
            <a:r>
              <a:rPr lang="en-US"/>
              <a:t>ViÖn ®o l­êng viÖt nam</a:t>
            </a:r>
          </a:p>
          <a:p>
            <a:pPr>
              <a:defRPr/>
            </a:pPr>
            <a:r>
              <a:rPr lang="en-US"/>
              <a:t>Vietnam metrology institute</a:t>
            </a:r>
          </a:p>
        </p:txBody>
      </p:sp>
      <p:sp>
        <p:nvSpPr>
          <p:cNvPr id="8" name="Rectangle 6">
            <a:extLst>
              <a:ext uri="{FF2B5EF4-FFF2-40B4-BE49-F238E27FC236}">
                <a16:creationId xmlns:a16="http://schemas.microsoft.com/office/drawing/2014/main" id="{CABEDF29-E377-E4C7-E208-FABDDE541086}"/>
              </a:ext>
            </a:extLst>
          </p:cNvPr>
          <p:cNvSpPr>
            <a:spLocks noGrp="1" noChangeArrowheads="1"/>
          </p:cNvSpPr>
          <p:nvPr>
            <p:ph type="sldNum" sz="quarter" idx="11"/>
          </p:nvPr>
        </p:nvSpPr>
        <p:spPr>
          <a:ln/>
        </p:spPr>
        <p:txBody>
          <a:bodyPr/>
          <a:lstStyle>
            <a:lvl1pPr>
              <a:defRPr/>
            </a:lvl1pPr>
          </a:lstStyle>
          <a:p>
            <a:fld id="{2719BAFC-E4F1-49CD-8C23-4F9FFE76B302}" type="slidenum">
              <a:rPr lang="en-US" altLang="en-US"/>
              <a:pPr/>
              <a:t>‹#›</a:t>
            </a:fld>
            <a:endParaRPr lang="en-US" altLang="en-US"/>
          </a:p>
        </p:txBody>
      </p:sp>
    </p:spTree>
    <p:extLst>
      <p:ext uri="{BB962C8B-B14F-4D97-AF65-F5344CB8AC3E}">
        <p14:creationId xmlns:p14="http://schemas.microsoft.com/office/powerpoint/2010/main" val="30645952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3">
            <a:extLst>
              <a:ext uri="{FF2B5EF4-FFF2-40B4-BE49-F238E27FC236}">
                <a16:creationId xmlns:a16="http://schemas.microsoft.com/office/drawing/2014/main" id="{8780329A-C9E8-B21E-032E-6B6FC736D888}"/>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endParaRPr lang="en-US" altLang="en-US"/>
          </a:p>
        </p:txBody>
      </p:sp>
      <p:sp>
        <p:nvSpPr>
          <p:cNvPr id="1029" name="Rectangle 5">
            <a:extLst>
              <a:ext uri="{FF2B5EF4-FFF2-40B4-BE49-F238E27FC236}">
                <a16:creationId xmlns:a16="http://schemas.microsoft.com/office/drawing/2014/main" id="{DC284A61-4987-328A-66E5-7922E4B39678}"/>
              </a:ext>
            </a:extLst>
          </p:cNvPr>
          <p:cNvSpPr>
            <a:spLocks noGrp="1" noChangeArrowheads="1"/>
          </p:cNvSpPr>
          <p:nvPr>
            <p:ph type="ftr" sz="quarter" idx="3"/>
          </p:nvPr>
        </p:nvSpPr>
        <p:spPr bwMode="auto">
          <a:xfrm>
            <a:off x="762000" y="6172200"/>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200">
                <a:latin typeface=".VnHelvetInsH" pitchFamily="34" charset="0"/>
              </a:defRPr>
            </a:lvl1pPr>
          </a:lstStyle>
          <a:p>
            <a:pPr>
              <a:defRPr/>
            </a:pPr>
            <a:r>
              <a:rPr lang="en-US"/>
              <a:t>ViÖn ®o l­êng viÖt nam</a:t>
            </a:r>
          </a:p>
          <a:p>
            <a:pPr>
              <a:defRPr/>
            </a:pPr>
            <a:r>
              <a:rPr lang="en-US"/>
              <a:t>Vietnam metrology institute</a:t>
            </a:r>
          </a:p>
        </p:txBody>
      </p:sp>
      <p:sp>
        <p:nvSpPr>
          <p:cNvPr id="1030" name="Rectangle 6">
            <a:extLst>
              <a:ext uri="{FF2B5EF4-FFF2-40B4-BE49-F238E27FC236}">
                <a16:creationId xmlns:a16="http://schemas.microsoft.com/office/drawing/2014/main" id="{009ACE44-7430-CCF9-D0A6-D435E322EEBE}"/>
              </a:ext>
            </a:extLst>
          </p:cNvPr>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063A7848-54D4-42EA-B8D6-8DCA494E8DE9}" type="slidenum">
              <a:rPr lang="en-US" altLang="en-US"/>
              <a:pPr/>
              <a:t>‹#›</a:t>
            </a:fld>
            <a:endParaRPr lang="en-US" altLang="en-US"/>
          </a:p>
        </p:txBody>
      </p:sp>
      <p:pic>
        <p:nvPicPr>
          <p:cNvPr id="2053" name="Picture 7" descr="Logo VMI">
            <a:extLst>
              <a:ext uri="{FF2B5EF4-FFF2-40B4-BE49-F238E27FC236}">
                <a16:creationId xmlns:a16="http://schemas.microsoft.com/office/drawing/2014/main" id="{AE51D9CD-868F-9655-D0FF-593839A4A92F}"/>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57200" y="6172200"/>
            <a:ext cx="406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2" name="Line 8">
            <a:extLst>
              <a:ext uri="{FF2B5EF4-FFF2-40B4-BE49-F238E27FC236}">
                <a16:creationId xmlns:a16="http://schemas.microsoft.com/office/drawing/2014/main" id="{395F78D6-B564-F9AE-C111-DD48AAFA2274}"/>
              </a:ext>
            </a:extLst>
          </p:cNvPr>
          <p:cNvSpPr>
            <a:spLocks noChangeShapeType="1"/>
          </p:cNvSpPr>
          <p:nvPr/>
        </p:nvSpPr>
        <p:spPr bwMode="auto">
          <a:xfrm>
            <a:off x="433388" y="6096000"/>
            <a:ext cx="8305800" cy="0"/>
          </a:xfrm>
          <a:prstGeom prst="line">
            <a:avLst/>
          </a:prstGeom>
          <a:noFill/>
          <a:ln w="38100">
            <a:solidFill>
              <a:schemeClr val="accent2"/>
            </a:solidFill>
            <a:round/>
            <a:headEnd/>
            <a:tailEnd/>
          </a:ln>
          <a:effectLst/>
        </p:spPr>
        <p:txBody>
          <a:bodyPr/>
          <a:lstStyle/>
          <a:p>
            <a:pPr>
              <a:defRPr/>
            </a:pPr>
            <a:endParaRPr lang="en-US">
              <a:latin typeface="Arial" charset="0"/>
            </a:endParaRPr>
          </a:p>
        </p:txBody>
      </p:sp>
      <p:sp>
        <p:nvSpPr>
          <p:cNvPr id="1037" name="Rectangle 13">
            <a:extLst>
              <a:ext uri="{FF2B5EF4-FFF2-40B4-BE49-F238E27FC236}">
                <a16:creationId xmlns:a16="http://schemas.microsoft.com/office/drawing/2014/main" id="{DE83D9DE-7568-151B-C9BA-4BBAC3716CFD}"/>
              </a:ext>
            </a:extLst>
          </p:cNvPr>
          <p:cNvSpPr>
            <a:spLocks noChangeArrowheads="1"/>
          </p:cNvSpPr>
          <p:nvPr/>
        </p:nvSpPr>
        <p:spPr bwMode="auto">
          <a:xfrm>
            <a:off x="403225" y="144463"/>
            <a:ext cx="8382000" cy="6561137"/>
          </a:xfrm>
          <a:prstGeom prst="rect">
            <a:avLst/>
          </a:prstGeom>
          <a:noFill/>
          <a:ln w="9525">
            <a:solidFill>
              <a:schemeClr val="tx1"/>
            </a:solidFill>
            <a:miter lim="800000"/>
            <a:headEnd/>
            <a:tailEnd/>
          </a:ln>
          <a:effectLst/>
        </p:spPr>
        <p:txBody>
          <a:bodyPr wrap="none" anchor="ctr"/>
          <a:lstStyle/>
          <a:p>
            <a:pPr>
              <a:defRPr/>
            </a:pPr>
            <a:endParaRPr lang="en-US">
              <a:latin typeface="Arial" charset="0"/>
            </a:endParaRPr>
          </a:p>
        </p:txBody>
      </p:sp>
    </p:spTree>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66" r:id="rId4"/>
    <p:sldLayoutId id="2147483754" r:id="rId5"/>
    <p:sldLayoutId id="2147483755" r:id="rId6"/>
    <p:sldLayoutId id="2147483756" r:id="rId7"/>
    <p:sldLayoutId id="2147483757" r:id="rId8"/>
    <p:sldLayoutId id="2147483758" r:id="rId9"/>
    <p:sldLayoutId id="2147483759" r:id="rId10"/>
    <p:sldLayoutId id="2147483760" r:id="rId11"/>
    <p:sldLayoutId id="2147483761" r:id="rId12"/>
    <p:sldLayoutId id="2147483762" r:id="rId13"/>
    <p:sldLayoutId id="2147483763" r:id="rId14"/>
    <p:sldLayoutId id="2147483764" r:id="rId15"/>
    <p:sldLayoutId id="2147483765" r:id="rId16"/>
  </p:sldLayoutIdLst>
  <p:hf hd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4.xml"/><Relationship Id="rId6" Type="http://schemas.openxmlformats.org/officeDocument/2006/relationships/image" Target="../media/image39.wmf"/><Relationship Id="rId5" Type="http://schemas.openxmlformats.org/officeDocument/2006/relationships/oleObject" Target="../embeddings/oleObject1.bin"/><Relationship Id="rId4"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Footer Placeholder 4">
            <a:extLst>
              <a:ext uri="{FF2B5EF4-FFF2-40B4-BE49-F238E27FC236}">
                <a16:creationId xmlns:a16="http://schemas.microsoft.com/office/drawing/2014/main" id="{BA472004-E5F1-FA7A-9DD7-59156730FB81}"/>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latin typeface="Times New Roman" panose="02020603050405020304" pitchFamily="18" charset="0"/>
              </a:rPr>
              <a:t>Viện Đo lường Việt nam</a:t>
            </a:r>
          </a:p>
          <a:p>
            <a:pPr eaLnBrk="1" hangingPunct="1"/>
            <a:r>
              <a:rPr lang="en-US" altLang="en-US">
                <a:latin typeface="Times New Roman" panose="02020603050405020304" pitchFamily="18" charset="0"/>
              </a:rPr>
              <a:t>Việt nam Metrology Institute</a:t>
            </a:r>
            <a:endParaRPr lang="en-US" altLang="en-US" sz="1000">
              <a:latin typeface=".VnHelvetInsH" pitchFamily="34" charset="0"/>
            </a:endParaRPr>
          </a:p>
        </p:txBody>
      </p:sp>
      <p:sp>
        <p:nvSpPr>
          <p:cNvPr id="4099" name="Slide Number Placeholder 5">
            <a:extLst>
              <a:ext uri="{FF2B5EF4-FFF2-40B4-BE49-F238E27FC236}">
                <a16:creationId xmlns:a16="http://schemas.microsoft.com/office/drawing/2014/main" id="{4358E812-BECB-8E6A-FA5E-3DA750BB05F4}"/>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8CD227B-4190-48BA-B8BC-04D444A09164}" type="slidenum">
              <a:rPr lang="en-US" altLang="en-US">
                <a:latin typeface="Times New Roman" panose="02020603050405020304" pitchFamily="18" charset="0"/>
              </a:rPr>
              <a:pPr eaLnBrk="1" hangingPunct="1"/>
              <a:t>1</a:t>
            </a:fld>
            <a:endParaRPr lang="en-US" altLang="en-US">
              <a:latin typeface="Times New Roman" panose="02020603050405020304" pitchFamily="18" charset="0"/>
            </a:endParaRPr>
          </a:p>
        </p:txBody>
      </p:sp>
      <p:sp>
        <p:nvSpPr>
          <p:cNvPr id="4100" name="Rectangle 5">
            <a:extLst>
              <a:ext uri="{FF2B5EF4-FFF2-40B4-BE49-F238E27FC236}">
                <a16:creationId xmlns:a16="http://schemas.microsoft.com/office/drawing/2014/main" id="{6251B7EE-F31E-D66F-90BF-FC2D4A0D3651}"/>
              </a:ext>
            </a:extLst>
          </p:cNvPr>
          <p:cNvSpPr>
            <a:spLocks noGrp="1" noChangeArrowheads="1"/>
          </p:cNvSpPr>
          <p:nvPr>
            <p:ph type="body" sz="half" idx="1"/>
          </p:nvPr>
        </p:nvSpPr>
        <p:spPr>
          <a:xfrm>
            <a:off x="381000" y="4343400"/>
            <a:ext cx="8229600" cy="1600200"/>
          </a:xfrm>
        </p:spPr>
        <p:txBody>
          <a:bodyPr/>
          <a:lstStyle/>
          <a:p>
            <a:pPr eaLnBrk="1" hangingPunct="1"/>
            <a:endParaRPr lang="en-US" altLang="en-US"/>
          </a:p>
          <a:p>
            <a:pPr eaLnBrk="1" hangingPunct="1"/>
            <a:endParaRPr lang="en-US" altLang="en-US"/>
          </a:p>
          <a:p>
            <a:pPr eaLnBrk="1" hangingPunct="1"/>
            <a:r>
              <a:rPr lang="vi-VN" altLang="en-US" sz="3200" b="1"/>
              <a:t>Các khái niệm cơ bản về âm thanh</a:t>
            </a:r>
            <a:endParaRPr lang="en-US" altLang="en-US" sz="3200" b="1"/>
          </a:p>
        </p:txBody>
      </p:sp>
      <p:pic>
        <p:nvPicPr>
          <p:cNvPr id="4101" name="Picture 6">
            <a:extLst>
              <a:ext uri="{FF2B5EF4-FFF2-40B4-BE49-F238E27FC236}">
                <a16:creationId xmlns:a16="http://schemas.microsoft.com/office/drawing/2014/main" id="{CB91777F-E68C-7439-374B-A06DC45307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0963" y="304800"/>
            <a:ext cx="3748087" cy="408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FEC55827-37F1-18BE-EF69-29760CF30981}"/>
              </a:ext>
            </a:extLst>
          </p:cNvPr>
          <p:cNvSpPr>
            <a:spLocks noGrp="1"/>
          </p:cNvSpPr>
          <p:nvPr>
            <p:ph type="title"/>
          </p:nvPr>
        </p:nvSpPr>
        <p:spPr bwMode="auto">
          <a:xfrm>
            <a:off x="533400" y="1676400"/>
            <a:ext cx="8229600" cy="4111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vi-VN" altLang="en-US"/>
              <a:t>Tóm tắt</a:t>
            </a:r>
            <a:br>
              <a:rPr lang="vi-VN" altLang="en-US"/>
            </a:br>
            <a:endParaRPr lang="en-US" altLang="en-US"/>
          </a:p>
        </p:txBody>
      </p:sp>
      <p:sp>
        <p:nvSpPr>
          <p:cNvPr id="5123" name="Content Placeholder 2">
            <a:extLst>
              <a:ext uri="{FF2B5EF4-FFF2-40B4-BE49-F238E27FC236}">
                <a16:creationId xmlns:a16="http://schemas.microsoft.com/office/drawing/2014/main" id="{5FAC5288-FE39-1F4D-E22E-B8FB8D30F37F}"/>
              </a:ext>
            </a:extLst>
          </p:cNvPr>
          <p:cNvSpPr>
            <a:spLocks noGrp="1"/>
          </p:cNvSpPr>
          <p:nvPr>
            <p:ph sz="half" idx="1"/>
          </p:nvPr>
        </p:nvSpPr>
        <p:spPr>
          <a:xfrm>
            <a:off x="533400" y="2133600"/>
            <a:ext cx="8229600" cy="1295400"/>
          </a:xfrm>
        </p:spPr>
        <p:txBody>
          <a:bodyPr/>
          <a:lstStyle/>
          <a:p>
            <a:pPr algn="just"/>
            <a:r>
              <a:rPr lang="vi-VN" altLang="en-US"/>
              <a:t>Bài giảng này giới thiệu </a:t>
            </a:r>
            <a:r>
              <a:rPr lang="en-US" altLang="en-US"/>
              <a:t>một số khái niệm về </a:t>
            </a:r>
            <a:r>
              <a:rPr lang="vi-VN" altLang="en-US"/>
              <a:t>âm thanh và</a:t>
            </a:r>
            <a:r>
              <a:rPr lang="en-US" altLang="en-US"/>
              <a:t> đo lường âm bằng cách mô tả áp suất âm thanh, mức âm thanh và các đại lượng để đo lường âm thanh. </a:t>
            </a:r>
            <a:r>
              <a:rPr lang="vi-VN" altLang="en-US"/>
              <a:t>Trước khi thực hiện các phép đo âm thanh, điều quan trọng là phải làm quen với</a:t>
            </a:r>
            <a:r>
              <a:rPr lang="en-US" altLang="en-US"/>
              <a:t> các </a:t>
            </a:r>
            <a:r>
              <a:rPr lang="vi-VN" altLang="en-US"/>
              <a:t>thuật ngữ âm thanh, các quy tắc cơ bản </a:t>
            </a:r>
            <a:r>
              <a:rPr lang="en-US" altLang="en-US"/>
              <a:t>trong </a:t>
            </a:r>
            <a:r>
              <a:rPr lang="vi-VN" altLang="en-US"/>
              <a:t>truyền âm, và tính năng của các thiết bị đo</a:t>
            </a:r>
            <a:r>
              <a:rPr lang="en-US" altLang="en-US"/>
              <a:t> </a:t>
            </a:r>
            <a:r>
              <a:rPr lang="vi-VN" altLang="en-US"/>
              <a:t>âm thanh. </a:t>
            </a:r>
            <a:r>
              <a:rPr lang="en-US" altLang="en-US"/>
              <a:t>	</a:t>
            </a:r>
          </a:p>
        </p:txBody>
      </p:sp>
      <p:sp>
        <p:nvSpPr>
          <p:cNvPr id="5124" name="Footer Placeholder 4">
            <a:extLst>
              <a:ext uri="{FF2B5EF4-FFF2-40B4-BE49-F238E27FC236}">
                <a16:creationId xmlns:a16="http://schemas.microsoft.com/office/drawing/2014/main" id="{DF193218-74B7-694B-D20B-4BEF55ADAB85}"/>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US" altLang="en-US">
                <a:latin typeface="Times New Roman" panose="02020603050405020304" pitchFamily="18" charset="0"/>
              </a:rPr>
              <a:t>Viện Đo lường Việt nam</a:t>
            </a:r>
          </a:p>
          <a:p>
            <a:pPr algn="l" eaLnBrk="1" hangingPunct="1"/>
            <a:r>
              <a:rPr lang="en-US" altLang="en-US">
                <a:latin typeface="Times New Roman" panose="02020603050405020304" pitchFamily="18" charset="0"/>
              </a:rPr>
              <a:t>Việt nam Metrology Institute</a:t>
            </a:r>
          </a:p>
          <a:p>
            <a:pPr eaLnBrk="1" hangingPunct="1"/>
            <a:endParaRPr lang="en-US" altLang="en-US">
              <a:latin typeface="Times New Roman" panose="02020603050405020304" pitchFamily="18" charset="0"/>
            </a:endParaRPr>
          </a:p>
        </p:txBody>
      </p:sp>
      <p:sp>
        <p:nvSpPr>
          <p:cNvPr id="5125" name="Slide Number Placeholder 5">
            <a:extLst>
              <a:ext uri="{FF2B5EF4-FFF2-40B4-BE49-F238E27FC236}">
                <a16:creationId xmlns:a16="http://schemas.microsoft.com/office/drawing/2014/main" id="{96BF26DC-3630-A299-6890-602A9E2EF1E4}"/>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F2B084E-8449-48D6-BE5F-8E522BC3BA84}" type="slidenum">
              <a:rPr lang="en-US" altLang="en-US">
                <a:latin typeface="Times New Roman" panose="02020603050405020304" pitchFamily="18" charset="0"/>
              </a:rPr>
              <a:pPr eaLnBrk="1" hangingPunct="1"/>
              <a:t>2</a:t>
            </a:fld>
            <a:endParaRPr lang="en-US" altLang="en-US">
              <a:latin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DC9A65BF-C0A1-41EC-BE26-C6D764694EFC}"/>
              </a:ext>
            </a:extLst>
          </p:cNvPr>
          <p:cNvSpPr>
            <a:spLocks noGrp="1"/>
          </p:cNvSpPr>
          <p:nvPr>
            <p:ph type="title"/>
          </p:nvPr>
        </p:nvSpPr>
        <p:spPr bwMode="auto">
          <a:xfrm>
            <a:off x="533400" y="228600"/>
            <a:ext cx="8229600" cy="4111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tLang="en-US"/>
          </a:p>
        </p:txBody>
      </p:sp>
      <p:sp>
        <p:nvSpPr>
          <p:cNvPr id="6147" name="Content Placeholder 3">
            <a:extLst>
              <a:ext uri="{FF2B5EF4-FFF2-40B4-BE49-F238E27FC236}">
                <a16:creationId xmlns:a16="http://schemas.microsoft.com/office/drawing/2014/main" id="{2A18B6A2-87C5-2136-A02B-5C0BB4D88791}"/>
              </a:ext>
            </a:extLst>
          </p:cNvPr>
          <p:cNvSpPr>
            <a:spLocks noGrp="1"/>
          </p:cNvSpPr>
          <p:nvPr>
            <p:ph sz="half" idx="2"/>
          </p:nvPr>
        </p:nvSpPr>
        <p:spPr>
          <a:xfrm>
            <a:off x="533400" y="4191000"/>
            <a:ext cx="8229600" cy="1981200"/>
          </a:xfrm>
        </p:spPr>
        <p:txBody>
          <a:bodyPr/>
          <a:lstStyle/>
          <a:p>
            <a:pPr algn="l">
              <a:buFontTx/>
              <a:buNone/>
            </a:pPr>
            <a:r>
              <a:rPr lang="en-US" altLang="en-US"/>
              <a:t>Âm thanh </a:t>
            </a:r>
            <a:r>
              <a:rPr lang="vi-VN" altLang="en-US"/>
              <a:t> là </a:t>
            </a:r>
            <a:r>
              <a:rPr lang="en-US" altLang="en-US"/>
              <a:t>một phần </a:t>
            </a:r>
            <a:r>
              <a:rPr lang="vi-VN" altLang="en-US"/>
              <a:t>của cuộc sống hàng ngày</a:t>
            </a:r>
            <a:r>
              <a:rPr lang="en-US" altLang="en-US"/>
              <a:t>. Có thể là những âm thanh du dương thú vị như</a:t>
            </a:r>
            <a:r>
              <a:rPr lang="vi-VN" altLang="en-US"/>
              <a:t> </a:t>
            </a:r>
            <a:r>
              <a:rPr lang="en-US" altLang="en-US" u="sng"/>
              <a:t>t</a:t>
            </a:r>
            <a:r>
              <a:rPr lang="en-US" altLang="en-US"/>
              <a:t>iếng</a:t>
            </a:r>
            <a:r>
              <a:rPr lang="vi-VN" altLang="en-US"/>
              <a:t> nhạc hay</a:t>
            </a:r>
            <a:r>
              <a:rPr lang="en-US" altLang="en-US"/>
              <a:t> </a:t>
            </a:r>
            <a:r>
              <a:rPr lang="vi-VN" altLang="en-US"/>
              <a:t> tiếng chim hót. Nó cho phép </a:t>
            </a:r>
            <a:r>
              <a:rPr lang="en-US" altLang="en-US"/>
              <a:t>chúng ta giao tiếp với nhau hoặc là dùng để cảnh báo, báo động </a:t>
            </a:r>
            <a:r>
              <a:rPr lang="vi-VN" altLang="en-US"/>
              <a:t>- ví dụ</a:t>
            </a:r>
            <a:r>
              <a:rPr lang="en-US" altLang="en-US"/>
              <a:t> như</a:t>
            </a:r>
            <a:r>
              <a:rPr lang="vi-VN" altLang="en-US"/>
              <a:t> tiếng chuông điện thoại, hoặc tiếng còi</a:t>
            </a:r>
            <a:r>
              <a:rPr lang="en-US" altLang="en-US"/>
              <a:t>.</a:t>
            </a:r>
            <a:r>
              <a:rPr lang="vi-VN" altLang="en-US"/>
              <a:t> </a:t>
            </a:r>
            <a:br>
              <a:rPr lang="vi-VN" altLang="en-US"/>
            </a:br>
            <a:r>
              <a:rPr lang="vi-VN" altLang="en-US"/>
              <a:t>Âm thanh cũng cho phép chúng ta thực hiện đánh giá chất lượng và chẩn đoán – </a:t>
            </a:r>
            <a:r>
              <a:rPr lang="en-US" altLang="en-US"/>
              <a:t>từ tiếng </a:t>
            </a:r>
            <a:r>
              <a:rPr lang="vi-VN" altLang="en-US"/>
              <a:t>ầm ầm van</a:t>
            </a:r>
            <a:r>
              <a:rPr lang="en-US" altLang="en-US"/>
              <a:t>g</a:t>
            </a:r>
            <a:r>
              <a:rPr lang="vi-VN" altLang="en-US"/>
              <a:t> của một chiếc xe, hoặc tiếng </a:t>
            </a:r>
            <a:r>
              <a:rPr lang="en-US" altLang="en-US"/>
              <a:t>đập của nhịp tim</a:t>
            </a:r>
          </a:p>
        </p:txBody>
      </p:sp>
      <p:sp>
        <p:nvSpPr>
          <p:cNvPr id="6148" name="Footer Placeholder 4">
            <a:extLst>
              <a:ext uri="{FF2B5EF4-FFF2-40B4-BE49-F238E27FC236}">
                <a16:creationId xmlns:a16="http://schemas.microsoft.com/office/drawing/2014/main" id="{DEA50C6E-37F0-934B-63BD-A74BA5EFBA3A}"/>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US" altLang="en-US">
                <a:latin typeface="Times New Roman" panose="02020603050405020304" pitchFamily="18" charset="0"/>
              </a:rPr>
              <a:t>Viện Đo lường Việt nam</a:t>
            </a:r>
          </a:p>
          <a:p>
            <a:pPr algn="l" eaLnBrk="1" hangingPunct="1"/>
            <a:r>
              <a:rPr lang="en-US" altLang="en-US">
                <a:latin typeface="Times New Roman" panose="02020603050405020304" pitchFamily="18" charset="0"/>
              </a:rPr>
              <a:t>Việt nam Metrology Institute</a:t>
            </a:r>
          </a:p>
          <a:p>
            <a:pPr eaLnBrk="1" hangingPunct="1"/>
            <a:endParaRPr lang="en-US" altLang="en-US">
              <a:latin typeface="Times New Roman" panose="02020603050405020304" pitchFamily="18" charset="0"/>
            </a:endParaRPr>
          </a:p>
        </p:txBody>
      </p:sp>
      <p:sp>
        <p:nvSpPr>
          <p:cNvPr id="6149" name="Slide Number Placeholder 5">
            <a:extLst>
              <a:ext uri="{FF2B5EF4-FFF2-40B4-BE49-F238E27FC236}">
                <a16:creationId xmlns:a16="http://schemas.microsoft.com/office/drawing/2014/main" id="{830CF397-6A28-1D2E-1EFB-AF1466F4FFAF}"/>
              </a:ext>
            </a:extLst>
          </p:cNvPr>
          <p:cNvSpPr>
            <a:spLocks noGrp="1"/>
          </p:cNvSpPr>
          <p:nvPr>
            <p:ph type="sldNum" sz="quarter" idx="11"/>
          </p:nvPr>
        </p:nvSpPr>
        <p:spPr>
          <a:xfrm>
            <a:off x="6553200" y="638175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1578984-5995-4050-86AC-D34BA9299EDC}" type="slidenum">
              <a:rPr lang="en-US" altLang="en-US">
                <a:latin typeface="Times New Roman" panose="02020603050405020304" pitchFamily="18" charset="0"/>
              </a:rPr>
              <a:pPr eaLnBrk="1" hangingPunct="1"/>
              <a:t>3</a:t>
            </a:fld>
            <a:endParaRPr lang="en-US" altLang="en-US">
              <a:latin typeface="Times New Roman" panose="02020603050405020304" pitchFamily="18" charset="0"/>
            </a:endParaRPr>
          </a:p>
        </p:txBody>
      </p:sp>
      <p:pic>
        <p:nvPicPr>
          <p:cNvPr id="6150" name="Picture 3">
            <a:extLst>
              <a:ext uri="{FF2B5EF4-FFF2-40B4-BE49-F238E27FC236}">
                <a16:creationId xmlns:a16="http://schemas.microsoft.com/office/drawing/2014/main" id="{C3F4397D-4481-6912-A4AE-8E375EA4C016}"/>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1887538" y="685800"/>
            <a:ext cx="5216525" cy="3352800"/>
          </a:xfr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F26A601F-267F-0FA4-6DD3-370643E23442}"/>
              </a:ext>
            </a:extLst>
          </p:cNvPr>
          <p:cNvSpPr>
            <a:spLocks noGrp="1"/>
          </p:cNvSpPr>
          <p:nvPr>
            <p:ph type="title"/>
          </p:nvPr>
        </p:nvSpPr>
        <p:spPr bwMode="auto">
          <a:xfrm>
            <a:off x="533400" y="228600"/>
            <a:ext cx="8229600" cy="4111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Âm thanh và tiếng ồn</a:t>
            </a:r>
          </a:p>
        </p:txBody>
      </p:sp>
      <p:sp>
        <p:nvSpPr>
          <p:cNvPr id="7171" name="Content Placeholder 3">
            <a:extLst>
              <a:ext uri="{FF2B5EF4-FFF2-40B4-BE49-F238E27FC236}">
                <a16:creationId xmlns:a16="http://schemas.microsoft.com/office/drawing/2014/main" id="{04B82498-F72C-F6FF-5E4E-C8646D000029}"/>
              </a:ext>
            </a:extLst>
          </p:cNvPr>
          <p:cNvSpPr>
            <a:spLocks noGrp="1"/>
          </p:cNvSpPr>
          <p:nvPr>
            <p:ph sz="half" idx="2"/>
          </p:nvPr>
        </p:nvSpPr>
        <p:spPr>
          <a:xfrm>
            <a:off x="533400" y="2362200"/>
            <a:ext cx="8229600" cy="3810000"/>
          </a:xfrm>
        </p:spPr>
        <p:txBody>
          <a:bodyPr/>
          <a:lstStyle/>
          <a:p>
            <a:pPr>
              <a:buFontTx/>
              <a:buChar char="•"/>
            </a:pPr>
            <a:r>
              <a:rPr lang="en-US" altLang="en-US"/>
              <a:t> Hầu hết âm thanh trong cuộc sống hiện đại đều khiến chúng ta bực dọc. Những âm thanh không mong muốn hoặc làm phiền đến chúng ta thì gọi là tiếng ồn.</a:t>
            </a:r>
            <a:r>
              <a:rPr lang="en-US" altLang="en-US">
                <a:solidFill>
                  <a:schemeClr val="tx2"/>
                </a:solidFill>
              </a:rPr>
              <a:t> </a:t>
            </a:r>
            <a:r>
              <a:rPr lang="vi-VN" altLang="en-US">
                <a:solidFill>
                  <a:schemeClr val="tx2"/>
                </a:solidFill>
              </a:rPr>
              <a:t>Tuy nhiên, mức độ</a:t>
            </a:r>
            <a:r>
              <a:rPr lang="en-US" altLang="en-US">
                <a:solidFill>
                  <a:schemeClr val="tx2"/>
                </a:solidFill>
              </a:rPr>
              <a:t> </a:t>
            </a:r>
            <a:r>
              <a:rPr lang="vi-VN" altLang="en-US">
                <a:solidFill>
                  <a:schemeClr val="tx2"/>
                </a:solidFill>
              </a:rPr>
              <a:t> phiền toái không chỉ phụ thuộc vào chất lượng của âm thanh, mà </a:t>
            </a:r>
            <a:r>
              <a:rPr lang="en-US" altLang="en-US">
                <a:solidFill>
                  <a:schemeClr val="tx2"/>
                </a:solidFill>
              </a:rPr>
              <a:t>thái độ của chúng ta đối với chúng. </a:t>
            </a:r>
            <a:r>
              <a:rPr lang="vi-VN" altLang="en-US">
                <a:solidFill>
                  <a:schemeClr val="tx2"/>
                </a:solidFill>
              </a:rPr>
              <a:t>Ví dụ </a:t>
            </a:r>
            <a:r>
              <a:rPr lang="en-US" altLang="en-US">
                <a:solidFill>
                  <a:schemeClr val="tx2"/>
                </a:solidFill>
              </a:rPr>
              <a:t>có những</a:t>
            </a:r>
            <a:r>
              <a:rPr lang="vi-VN" altLang="en-US">
                <a:solidFill>
                  <a:schemeClr val="tx2"/>
                </a:solidFill>
              </a:rPr>
              <a:t> loại hình âm nhạc rất </a:t>
            </a:r>
            <a:r>
              <a:rPr lang="en-US" altLang="en-US">
                <a:solidFill>
                  <a:schemeClr val="tx2"/>
                </a:solidFill>
              </a:rPr>
              <a:t>được yêu </a:t>
            </a:r>
            <a:r>
              <a:rPr lang="vi-VN" altLang="en-US">
                <a:solidFill>
                  <a:schemeClr val="tx2"/>
                </a:solidFill>
              </a:rPr>
              <a:t>thích bởi một số người</a:t>
            </a:r>
            <a:r>
              <a:rPr lang="en-US" altLang="en-US">
                <a:solidFill>
                  <a:schemeClr val="tx2"/>
                </a:solidFill>
              </a:rPr>
              <a:t> nhưng </a:t>
            </a:r>
            <a:r>
              <a:rPr lang="vi-VN" altLang="en-US">
                <a:solidFill>
                  <a:schemeClr val="tx2"/>
                </a:solidFill>
              </a:rPr>
              <a:t>có thể được coi như là tiếng ồn </a:t>
            </a:r>
            <a:r>
              <a:rPr lang="en-US" altLang="en-US">
                <a:solidFill>
                  <a:schemeClr val="tx2"/>
                </a:solidFill>
              </a:rPr>
              <a:t>đối với </a:t>
            </a:r>
            <a:r>
              <a:rPr lang="vi-VN" altLang="en-US">
                <a:solidFill>
                  <a:schemeClr val="tx2"/>
                </a:solidFill>
              </a:rPr>
              <a:t>những người khác, đặc biệt là nếu nó </a:t>
            </a:r>
            <a:r>
              <a:rPr lang="en-US" altLang="en-US">
                <a:solidFill>
                  <a:schemeClr val="tx2"/>
                </a:solidFill>
              </a:rPr>
              <a:t>quá to. Và đôi khi âm thanh cũng không cần phải quá lớn để gây nên phiền hà. </a:t>
            </a:r>
            <a:r>
              <a:rPr lang="vi-VN" altLang="en-US">
                <a:solidFill>
                  <a:schemeClr val="tx2"/>
                </a:solidFill>
              </a:rPr>
              <a:t>Một </a:t>
            </a:r>
            <a:r>
              <a:rPr lang="en-US" altLang="en-US">
                <a:solidFill>
                  <a:schemeClr val="tx2"/>
                </a:solidFill>
              </a:rPr>
              <a:t>tiếng </a:t>
            </a:r>
            <a:r>
              <a:rPr lang="vi-VN" altLang="en-US">
                <a:solidFill>
                  <a:schemeClr val="tx2"/>
                </a:solidFill>
              </a:rPr>
              <a:t>sàn ọp ẹp, một </a:t>
            </a:r>
            <a:r>
              <a:rPr lang="en-US" altLang="en-US">
                <a:solidFill>
                  <a:schemeClr val="tx2"/>
                </a:solidFill>
              </a:rPr>
              <a:t>tiếng cào lên</a:t>
            </a:r>
            <a:r>
              <a:rPr lang="vi-VN" altLang="en-US">
                <a:solidFill>
                  <a:schemeClr val="tx2"/>
                </a:solidFill>
              </a:rPr>
              <a:t> hồ sơ, hoặc</a:t>
            </a:r>
            <a:r>
              <a:rPr lang="en-US" altLang="en-US">
                <a:solidFill>
                  <a:schemeClr val="tx2"/>
                </a:solidFill>
              </a:rPr>
              <a:t> </a:t>
            </a:r>
            <a:r>
              <a:rPr lang="vi-VN" altLang="en-US">
                <a:solidFill>
                  <a:schemeClr val="tx2"/>
                </a:solidFill>
              </a:rPr>
              <a:t>những âm thanh liên tục của một vòi nước </a:t>
            </a:r>
            <a:r>
              <a:rPr lang="en-US" altLang="en-US">
                <a:solidFill>
                  <a:schemeClr val="tx2"/>
                </a:solidFill>
              </a:rPr>
              <a:t>chảy </a:t>
            </a:r>
            <a:r>
              <a:rPr lang="vi-VN" altLang="en-US">
                <a:solidFill>
                  <a:schemeClr val="tx2"/>
                </a:solidFill>
              </a:rPr>
              <a:t>nhỏ giọt có thể gây khó chịu như </a:t>
            </a:r>
            <a:r>
              <a:rPr lang="en-US" altLang="en-US">
                <a:solidFill>
                  <a:schemeClr val="tx2"/>
                </a:solidFill>
              </a:rPr>
              <a:t>một tiếng </a:t>
            </a:r>
            <a:r>
              <a:rPr lang="vi-VN" altLang="en-US">
                <a:solidFill>
                  <a:schemeClr val="tx2"/>
                </a:solidFill>
              </a:rPr>
              <a:t>sấm</a:t>
            </a:r>
            <a:r>
              <a:rPr lang="en-US" altLang="en-US">
                <a:solidFill>
                  <a:schemeClr val="tx2"/>
                </a:solidFill>
              </a:rPr>
              <a:t> to. Và độ to của âm thanh cũng được đánh giá tùy vào thời gian </a:t>
            </a:r>
            <a:r>
              <a:rPr lang="en-US" altLang="en-US"/>
              <a:t>diễn </a:t>
            </a:r>
            <a:r>
              <a:rPr lang="en-US" altLang="en-US">
                <a:solidFill>
                  <a:schemeClr val="tx2"/>
                </a:solidFill>
              </a:rPr>
              <a:t>ra trong ngày. Ví du</a:t>
            </a:r>
            <a:r>
              <a:rPr lang="en-US" altLang="en-US"/>
              <a:t>: một tiếng</a:t>
            </a:r>
            <a:r>
              <a:rPr lang="en-US" altLang="en-US">
                <a:solidFill>
                  <a:schemeClr val="tx2"/>
                </a:solidFill>
              </a:rPr>
              <a:t> đông to có thể dễ được chấp nhận vào ban ngày hơn ban đêm. </a:t>
            </a:r>
          </a:p>
          <a:p>
            <a:pPr>
              <a:buFontTx/>
              <a:buChar char="•"/>
            </a:pPr>
            <a:r>
              <a:rPr lang="vi-VN" altLang="en-US">
                <a:solidFill>
                  <a:schemeClr val="tx2"/>
                </a:solidFill>
              </a:rPr>
              <a:t>Âm thanh cũng có thể gây tổn hại và phá hủy. Một tiếng nổ </a:t>
            </a:r>
            <a:r>
              <a:rPr lang="en-US" altLang="en-US">
                <a:solidFill>
                  <a:schemeClr val="tx2"/>
                </a:solidFill>
              </a:rPr>
              <a:t> lớn </a:t>
            </a:r>
            <a:r>
              <a:rPr lang="vi-VN" altLang="en-US">
                <a:solidFill>
                  <a:schemeClr val="tx2"/>
                </a:solidFill>
              </a:rPr>
              <a:t>có thể làm vỡ cửa sổ</a:t>
            </a:r>
            <a:r>
              <a:rPr lang="en-US" altLang="en-US">
                <a:solidFill>
                  <a:schemeClr val="tx2"/>
                </a:solidFill>
              </a:rPr>
              <a:t> </a:t>
            </a:r>
            <a:r>
              <a:rPr lang="vi-VN" altLang="en-US">
                <a:solidFill>
                  <a:schemeClr val="tx2"/>
                </a:solidFill>
              </a:rPr>
              <a:t>và </a:t>
            </a:r>
            <a:r>
              <a:rPr lang="en-US" altLang="en-US">
                <a:solidFill>
                  <a:schemeClr val="tx2"/>
                </a:solidFill>
              </a:rPr>
              <a:t>làm bong</a:t>
            </a:r>
            <a:r>
              <a:rPr lang="vi-VN" altLang="en-US">
                <a:solidFill>
                  <a:schemeClr val="tx2"/>
                </a:solidFill>
              </a:rPr>
              <a:t> thạch cao ra khỏi bức tường. </a:t>
            </a:r>
            <a:r>
              <a:rPr lang="vi-VN" altLang="en-US"/>
              <a:t>Nhưng trường hợp đáng tiếc nhất là khi âm thanh</a:t>
            </a:r>
            <a:r>
              <a:rPr lang="en-US" altLang="en-US"/>
              <a:t> làm </a:t>
            </a:r>
            <a:r>
              <a:rPr lang="vi-VN" altLang="en-US"/>
              <a:t>thiệt hại cơ chế tinh tế </a:t>
            </a:r>
            <a:r>
              <a:rPr lang="en-US" altLang="en-US"/>
              <a:t>nhất </a:t>
            </a:r>
            <a:r>
              <a:rPr lang="vi-VN" altLang="en-US"/>
              <a:t>được thiết kế để nhận được nó </a:t>
            </a:r>
            <a:r>
              <a:rPr lang="en-US" altLang="en-US"/>
              <a:t>đó là</a:t>
            </a:r>
            <a:r>
              <a:rPr lang="vi-VN" altLang="en-US"/>
              <a:t> tai người</a:t>
            </a:r>
            <a:r>
              <a:rPr lang="en-US" altLang="en-US"/>
              <a:t>.</a:t>
            </a:r>
          </a:p>
        </p:txBody>
      </p:sp>
      <p:sp>
        <p:nvSpPr>
          <p:cNvPr id="7172" name="Footer Placeholder 4">
            <a:extLst>
              <a:ext uri="{FF2B5EF4-FFF2-40B4-BE49-F238E27FC236}">
                <a16:creationId xmlns:a16="http://schemas.microsoft.com/office/drawing/2014/main" id="{5EDEE0E7-8F2F-9D89-CCAC-05845F5658D5}"/>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US" altLang="en-US">
                <a:latin typeface="Times New Roman" panose="02020603050405020304" pitchFamily="18" charset="0"/>
              </a:rPr>
              <a:t>Viện Đo lường Việt nam</a:t>
            </a:r>
          </a:p>
          <a:p>
            <a:pPr algn="l" eaLnBrk="1" hangingPunct="1"/>
            <a:r>
              <a:rPr lang="en-US" altLang="en-US">
                <a:latin typeface="Times New Roman" panose="02020603050405020304" pitchFamily="18" charset="0"/>
              </a:rPr>
              <a:t>Việt nam Metrology Institute</a:t>
            </a:r>
          </a:p>
          <a:p>
            <a:pPr eaLnBrk="1" hangingPunct="1"/>
            <a:endParaRPr lang="en-US" altLang="en-US">
              <a:latin typeface="Times New Roman" panose="02020603050405020304" pitchFamily="18" charset="0"/>
            </a:endParaRPr>
          </a:p>
        </p:txBody>
      </p:sp>
      <p:sp>
        <p:nvSpPr>
          <p:cNvPr id="7173" name="Slide Number Placeholder 5">
            <a:extLst>
              <a:ext uri="{FF2B5EF4-FFF2-40B4-BE49-F238E27FC236}">
                <a16:creationId xmlns:a16="http://schemas.microsoft.com/office/drawing/2014/main" id="{0125E398-CE36-FE48-DD23-A0C21969BBEB}"/>
              </a:ext>
            </a:extLst>
          </p:cNvPr>
          <p:cNvSpPr>
            <a:spLocks noGrp="1"/>
          </p:cNvSpPr>
          <p:nvPr>
            <p:ph type="sldNum" sz="quarter" idx="11"/>
          </p:nvPr>
        </p:nvSpPr>
        <p:spPr>
          <a:xfrm>
            <a:off x="6553200" y="6248400"/>
            <a:ext cx="2133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B649070-2E19-4A86-A032-AB116DD35400}" type="slidenum">
              <a:rPr lang="en-US" altLang="en-US">
                <a:latin typeface="Times New Roman" panose="02020603050405020304" pitchFamily="18" charset="0"/>
              </a:rPr>
              <a:pPr eaLnBrk="1" hangingPunct="1"/>
              <a:t>4</a:t>
            </a:fld>
            <a:endParaRPr lang="en-US" altLang="en-US">
              <a:latin typeface="Times New Roman" panose="02020603050405020304" pitchFamily="18" charset="0"/>
            </a:endParaRPr>
          </a:p>
        </p:txBody>
      </p:sp>
      <p:pic>
        <p:nvPicPr>
          <p:cNvPr id="7174" name="Picture 2">
            <a:extLst>
              <a:ext uri="{FF2B5EF4-FFF2-40B4-BE49-F238E27FC236}">
                <a16:creationId xmlns:a16="http://schemas.microsoft.com/office/drawing/2014/main" id="{BD853B00-356B-B8B6-F139-B74E914890C6}"/>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2819400" y="228600"/>
            <a:ext cx="3352800" cy="2103438"/>
          </a:xfr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75E27FAE-9A4C-DE0F-8CBB-D2095A315AD3}"/>
              </a:ext>
            </a:extLst>
          </p:cNvPr>
          <p:cNvSpPr>
            <a:spLocks noGrp="1"/>
          </p:cNvSpPr>
          <p:nvPr>
            <p:ph type="title"/>
          </p:nvPr>
        </p:nvSpPr>
        <p:spPr bwMode="auto">
          <a:xfrm>
            <a:off x="533400" y="228600"/>
            <a:ext cx="8229600" cy="4111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Các thuật ngữ về âm thanh</a:t>
            </a:r>
          </a:p>
        </p:txBody>
      </p:sp>
      <p:sp>
        <p:nvSpPr>
          <p:cNvPr id="8195" name="Content Placeholder 3">
            <a:extLst>
              <a:ext uri="{FF2B5EF4-FFF2-40B4-BE49-F238E27FC236}">
                <a16:creationId xmlns:a16="http://schemas.microsoft.com/office/drawing/2014/main" id="{8D4AD6A3-5809-926D-7DDE-FF9562A58BE8}"/>
              </a:ext>
            </a:extLst>
          </p:cNvPr>
          <p:cNvSpPr>
            <a:spLocks noGrp="1"/>
          </p:cNvSpPr>
          <p:nvPr>
            <p:ph sz="half" idx="2"/>
          </p:nvPr>
        </p:nvSpPr>
        <p:spPr>
          <a:xfrm>
            <a:off x="533400" y="3429000"/>
            <a:ext cx="8229600" cy="2743200"/>
          </a:xfrm>
        </p:spPr>
        <p:txBody>
          <a:bodyPr/>
          <a:lstStyle/>
          <a:p>
            <a:pPr>
              <a:lnSpc>
                <a:spcPct val="100000"/>
              </a:lnSpc>
              <a:buFontTx/>
              <a:buChar char="•"/>
            </a:pPr>
            <a:r>
              <a:rPr lang="vi-VN" altLang="en-US">
                <a:solidFill>
                  <a:schemeClr val="tx2"/>
                </a:solidFill>
              </a:rPr>
              <a:t>Âm thanh được định nghĩa là bất kỳ sự thay đổi áp </a:t>
            </a:r>
            <a:r>
              <a:rPr lang="en-US" altLang="en-US">
                <a:solidFill>
                  <a:schemeClr val="tx2"/>
                </a:solidFill>
              </a:rPr>
              <a:t>suất nào</a:t>
            </a:r>
            <a:r>
              <a:rPr lang="vi-VN" altLang="en-US">
                <a:solidFill>
                  <a:schemeClr val="tx2"/>
                </a:solidFill>
              </a:rPr>
              <a:t> mà tai </a:t>
            </a:r>
            <a:r>
              <a:rPr lang="en-US" altLang="en-US">
                <a:solidFill>
                  <a:schemeClr val="tx2"/>
                </a:solidFill>
              </a:rPr>
              <a:t>người </a:t>
            </a:r>
            <a:r>
              <a:rPr lang="vi-VN" altLang="en-US">
                <a:solidFill>
                  <a:schemeClr val="tx2"/>
                </a:solidFill>
              </a:rPr>
              <a:t>có thể phát hiện</a:t>
            </a:r>
            <a:r>
              <a:rPr lang="en-US" altLang="en-US">
                <a:solidFill>
                  <a:schemeClr val="tx2"/>
                </a:solidFill>
              </a:rPr>
              <a:t> ra và có phạm vi rất rộng </a:t>
            </a:r>
            <a:r>
              <a:rPr lang="vi-VN" altLang="en-US">
                <a:solidFill>
                  <a:schemeClr val="tx2"/>
                </a:solidFill>
              </a:rPr>
              <a:t>từ âm thanh yếu nhất </a:t>
            </a:r>
            <a:r>
              <a:rPr lang="en-US" altLang="en-US">
                <a:solidFill>
                  <a:schemeClr val="tx2"/>
                </a:solidFill>
              </a:rPr>
              <a:t>đến </a:t>
            </a:r>
            <a:r>
              <a:rPr lang="vi-VN" altLang="en-US">
                <a:solidFill>
                  <a:schemeClr val="tx2"/>
                </a:solidFill>
              </a:rPr>
              <a:t>mức có thể gây hại cho thính giác</a:t>
            </a:r>
            <a:r>
              <a:rPr lang="en-US" altLang="en-US">
                <a:solidFill>
                  <a:schemeClr val="tx2"/>
                </a:solidFill>
              </a:rPr>
              <a:t>.</a:t>
            </a:r>
          </a:p>
          <a:p>
            <a:pPr>
              <a:lnSpc>
                <a:spcPct val="100000"/>
              </a:lnSpc>
              <a:buFontTx/>
              <a:buChar char="•"/>
            </a:pPr>
            <a:r>
              <a:rPr lang="vi-VN" altLang="en-US">
                <a:solidFill>
                  <a:schemeClr val="tx2"/>
                </a:solidFill>
              </a:rPr>
              <a:t>Các nghiên cứu về âm thanh được gọi là </a:t>
            </a:r>
            <a:r>
              <a:rPr lang="en-US" altLang="en-US">
                <a:solidFill>
                  <a:schemeClr val="tx2"/>
                </a:solidFill>
              </a:rPr>
              <a:t>âm thanh học “</a:t>
            </a:r>
            <a:r>
              <a:rPr lang="vi-VN" altLang="en-US">
                <a:solidFill>
                  <a:schemeClr val="tx2"/>
                </a:solidFill>
              </a:rPr>
              <a:t>ACOUSTICS</a:t>
            </a:r>
            <a:r>
              <a:rPr lang="en-US" altLang="en-US">
                <a:solidFill>
                  <a:schemeClr val="tx2"/>
                </a:solidFill>
              </a:rPr>
              <a:t>” </a:t>
            </a:r>
            <a:r>
              <a:rPr lang="vi-VN" altLang="en-US">
                <a:solidFill>
                  <a:schemeClr val="tx2"/>
                </a:solidFill>
              </a:rPr>
              <a:t>bao gồm tất cả các lĩnh vực của âm thanh</a:t>
            </a:r>
            <a:r>
              <a:rPr lang="en-US" altLang="en-US">
                <a:solidFill>
                  <a:schemeClr val="tx2"/>
                </a:solidFill>
              </a:rPr>
              <a:t> như: các </a:t>
            </a:r>
            <a:r>
              <a:rPr lang="en-US" altLang="en-US"/>
              <a:t>sản</a:t>
            </a:r>
            <a:r>
              <a:rPr lang="en-US" altLang="en-US">
                <a:solidFill>
                  <a:schemeClr val="tx2"/>
                </a:solidFill>
              </a:rPr>
              <a:t> phẩm âm thanh, quá trình </a:t>
            </a:r>
            <a:r>
              <a:rPr lang="vi-VN" altLang="en-US">
                <a:solidFill>
                  <a:schemeClr val="tx2"/>
                </a:solidFill>
              </a:rPr>
              <a:t>truyền âm</a:t>
            </a:r>
            <a:r>
              <a:rPr lang="en-US" altLang="en-US">
                <a:solidFill>
                  <a:schemeClr val="tx2"/>
                </a:solidFill>
              </a:rPr>
              <a:t>, thu </a:t>
            </a:r>
            <a:r>
              <a:rPr lang="vi-VN" altLang="en-US">
                <a:solidFill>
                  <a:schemeClr val="tx2"/>
                </a:solidFill>
              </a:rPr>
              <a:t>âm, cho dù tạo </a:t>
            </a:r>
            <a:r>
              <a:rPr lang="en-US" altLang="en-US">
                <a:solidFill>
                  <a:schemeClr val="tx2"/>
                </a:solidFill>
              </a:rPr>
              <a:t> </a:t>
            </a:r>
            <a:r>
              <a:rPr lang="vi-VN" altLang="en-US">
                <a:solidFill>
                  <a:schemeClr val="tx2"/>
                </a:solidFill>
              </a:rPr>
              <a:t>ra và</a:t>
            </a:r>
            <a:r>
              <a:rPr lang="en-US" altLang="en-US">
                <a:solidFill>
                  <a:schemeClr val="tx2"/>
                </a:solidFill>
              </a:rPr>
              <a:t> thu </a:t>
            </a:r>
            <a:r>
              <a:rPr lang="vi-VN" altLang="en-US">
                <a:solidFill>
                  <a:schemeClr val="tx2"/>
                </a:solidFill>
              </a:rPr>
              <a:t>nhận bởi con người hoặc máy </a:t>
            </a:r>
            <a:r>
              <a:rPr lang="en-US" altLang="en-US">
                <a:solidFill>
                  <a:schemeClr val="tx2"/>
                </a:solidFill>
              </a:rPr>
              <a:t>móc </a:t>
            </a:r>
            <a:r>
              <a:rPr lang="vi-VN" altLang="en-US">
                <a:solidFill>
                  <a:schemeClr val="tx2"/>
                </a:solidFill>
              </a:rPr>
              <a:t>và dụng cụ đo lường</a:t>
            </a:r>
            <a:r>
              <a:rPr lang="en-US" altLang="en-US">
                <a:solidFill>
                  <a:schemeClr val="tx2"/>
                </a:solidFill>
              </a:rPr>
              <a:t>.</a:t>
            </a:r>
          </a:p>
          <a:p>
            <a:pPr>
              <a:lnSpc>
                <a:spcPct val="100000"/>
              </a:lnSpc>
              <a:buFontTx/>
              <a:buChar char="•"/>
            </a:pPr>
            <a:r>
              <a:rPr lang="vi-VN" altLang="en-US">
                <a:solidFill>
                  <a:schemeClr val="tx2"/>
                </a:solidFill>
              </a:rPr>
              <a:t>Tiếng ồn là một phần tất yếu của cuộc sống hàng ngày và </a:t>
            </a:r>
            <a:r>
              <a:rPr lang="en-US" altLang="en-US">
                <a:solidFill>
                  <a:schemeClr val="tx2"/>
                </a:solidFill>
              </a:rPr>
              <a:t>sự </a:t>
            </a:r>
            <a:r>
              <a:rPr lang="vi-VN" altLang="en-US">
                <a:solidFill>
                  <a:schemeClr val="tx2"/>
                </a:solidFill>
              </a:rPr>
              <a:t>phát triển công nghệ</a:t>
            </a:r>
            <a:r>
              <a:rPr lang="en-US" altLang="en-US">
                <a:solidFill>
                  <a:schemeClr val="tx2"/>
                </a:solidFill>
              </a:rPr>
              <a:t> </a:t>
            </a:r>
            <a:r>
              <a:rPr lang="vi-VN" altLang="en-US">
                <a:solidFill>
                  <a:schemeClr val="tx2"/>
                </a:solidFill>
              </a:rPr>
              <a:t>đã dẫn đến sự gia tăng mức độ tiếng ồn từ máy móc, nhà xưởng, giao thông</a:t>
            </a:r>
            <a:r>
              <a:rPr lang="en-US" altLang="en-US">
                <a:solidFill>
                  <a:schemeClr val="tx2"/>
                </a:solidFill>
              </a:rPr>
              <a:t> </a:t>
            </a:r>
            <a:r>
              <a:rPr lang="vi-VN" altLang="en-US">
                <a:solidFill>
                  <a:schemeClr val="tx2"/>
                </a:solidFill>
              </a:rPr>
              <a:t>vv</a:t>
            </a:r>
            <a:r>
              <a:rPr lang="en-US" altLang="en-US">
                <a:solidFill>
                  <a:schemeClr val="tx2"/>
                </a:solidFill>
              </a:rPr>
              <a:t>….. Và sẽ dẫn </a:t>
            </a:r>
            <a:r>
              <a:rPr lang="vi-VN" altLang="en-US">
                <a:solidFill>
                  <a:schemeClr val="tx2"/>
                </a:solidFill>
              </a:rPr>
              <a:t>tới việc giảm tiếng ồn</a:t>
            </a:r>
            <a:r>
              <a:rPr lang="en-US" altLang="en-US">
                <a:solidFill>
                  <a:schemeClr val="tx2"/>
                </a:solidFill>
              </a:rPr>
              <a:t>, </a:t>
            </a:r>
            <a:r>
              <a:rPr lang="vi-VN" altLang="en-US">
                <a:solidFill>
                  <a:schemeClr val="tx2"/>
                </a:solidFill>
              </a:rPr>
              <a:t>do đó tiếng ồn không phải là một cái gì đó </a:t>
            </a:r>
            <a:r>
              <a:rPr lang="en-US" altLang="en-US">
                <a:solidFill>
                  <a:schemeClr val="tx2"/>
                </a:solidFill>
              </a:rPr>
              <a:t>mà </a:t>
            </a:r>
            <a:r>
              <a:rPr lang="vi-VN" altLang="en-US">
                <a:solidFill>
                  <a:schemeClr val="tx2"/>
                </a:solidFill>
              </a:rPr>
              <a:t>chúng ta phải chấp nhận</a:t>
            </a:r>
            <a:r>
              <a:rPr lang="en-US" altLang="en-US">
                <a:solidFill>
                  <a:schemeClr val="tx2"/>
                </a:solidFill>
              </a:rPr>
              <a:t>. </a:t>
            </a:r>
            <a:r>
              <a:rPr lang="vi-VN" altLang="en-US">
                <a:solidFill>
                  <a:schemeClr val="tx2"/>
                </a:solidFill>
              </a:rPr>
              <a:t>Trong cuộc chiến chống lại tiếng ồn, </a:t>
            </a:r>
            <a:r>
              <a:rPr lang="en-US" altLang="en-US">
                <a:solidFill>
                  <a:schemeClr val="tx2"/>
                </a:solidFill>
              </a:rPr>
              <a:t>việc đầu tiên là </a:t>
            </a:r>
            <a:r>
              <a:rPr lang="vi-VN" altLang="en-US">
                <a:solidFill>
                  <a:schemeClr val="tx2"/>
                </a:solidFill>
              </a:rPr>
              <a:t>chúng ta phải có khả năng để đánh giá tiếng ồn </a:t>
            </a:r>
            <a:r>
              <a:rPr lang="en-US" altLang="en-US">
                <a:solidFill>
                  <a:schemeClr val="tx2"/>
                </a:solidFill>
              </a:rPr>
              <a:t>một cách đúng đắn ví dụ như </a:t>
            </a:r>
            <a:r>
              <a:rPr lang="vi-VN" altLang="en-US">
                <a:solidFill>
                  <a:schemeClr val="tx2"/>
                </a:solidFill>
              </a:rPr>
              <a:t>là thực hiện các phép đo </a:t>
            </a:r>
            <a:r>
              <a:rPr lang="en-US" altLang="en-US">
                <a:solidFill>
                  <a:schemeClr val="tx2"/>
                </a:solidFill>
              </a:rPr>
              <a:t>lường </a:t>
            </a:r>
            <a:r>
              <a:rPr lang="vi-VN" altLang="en-US">
                <a:solidFill>
                  <a:schemeClr val="tx2"/>
                </a:solidFill>
              </a:rPr>
              <a:t>âm thanh đáng tin cậy.</a:t>
            </a:r>
            <a:r>
              <a:rPr lang="en-US" altLang="en-US">
                <a:solidFill>
                  <a:schemeClr val="tx2"/>
                </a:solidFill>
              </a:rPr>
              <a:t> </a:t>
            </a:r>
            <a:r>
              <a:rPr lang="vi-VN" altLang="en-US">
                <a:solidFill>
                  <a:schemeClr val="tx2"/>
                </a:solidFill>
              </a:rPr>
              <a:t>Tuy nhiên, trước </a:t>
            </a:r>
            <a:r>
              <a:rPr lang="en-US" altLang="en-US">
                <a:solidFill>
                  <a:schemeClr val="tx2"/>
                </a:solidFill>
              </a:rPr>
              <a:t>khi đề cập đến việc </a:t>
            </a:r>
            <a:r>
              <a:rPr lang="vi-VN" altLang="en-US">
                <a:solidFill>
                  <a:schemeClr val="tx2"/>
                </a:solidFill>
              </a:rPr>
              <a:t>đo tiếng ồn, điều quan trọng là phải làm quen với các thuật ngữ và các</a:t>
            </a:r>
            <a:r>
              <a:rPr lang="en-US" altLang="en-US">
                <a:solidFill>
                  <a:schemeClr val="tx2"/>
                </a:solidFill>
              </a:rPr>
              <a:t> </a:t>
            </a:r>
            <a:r>
              <a:rPr lang="vi-VN" altLang="en-US">
                <a:solidFill>
                  <a:schemeClr val="tx2"/>
                </a:solidFill>
              </a:rPr>
              <a:t>nguyên tắc cơ bản của phép đo </a:t>
            </a:r>
            <a:r>
              <a:rPr lang="en-US" altLang="en-US">
                <a:solidFill>
                  <a:schemeClr val="tx2"/>
                </a:solidFill>
              </a:rPr>
              <a:t>lường </a:t>
            </a:r>
            <a:r>
              <a:rPr lang="vi-VN" altLang="en-US">
                <a:solidFill>
                  <a:schemeClr val="tx2"/>
                </a:solidFill>
              </a:rPr>
              <a:t>âm thanh.</a:t>
            </a:r>
            <a:endParaRPr lang="en-US" altLang="en-US">
              <a:solidFill>
                <a:schemeClr val="tx2"/>
              </a:solidFill>
            </a:endParaRPr>
          </a:p>
          <a:p>
            <a:pPr lvl="1">
              <a:buFontTx/>
              <a:buNone/>
            </a:pPr>
            <a:endParaRPr lang="en-US" altLang="en-US"/>
          </a:p>
        </p:txBody>
      </p:sp>
      <p:sp>
        <p:nvSpPr>
          <p:cNvPr id="8196" name="Footer Placeholder 4">
            <a:extLst>
              <a:ext uri="{FF2B5EF4-FFF2-40B4-BE49-F238E27FC236}">
                <a16:creationId xmlns:a16="http://schemas.microsoft.com/office/drawing/2014/main" id="{BF4BD8CF-1772-D91F-3136-A93CBC3C6873}"/>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US" altLang="en-US">
                <a:latin typeface="Times New Roman" panose="02020603050405020304" pitchFamily="18" charset="0"/>
              </a:rPr>
              <a:t>Viện Đo lường Việt nam</a:t>
            </a:r>
          </a:p>
          <a:p>
            <a:pPr algn="l" eaLnBrk="1" hangingPunct="1"/>
            <a:r>
              <a:rPr lang="en-US" altLang="en-US">
                <a:latin typeface="Times New Roman" panose="02020603050405020304" pitchFamily="18" charset="0"/>
              </a:rPr>
              <a:t>Việt nam Metrology Institute</a:t>
            </a:r>
          </a:p>
          <a:p>
            <a:pPr eaLnBrk="1" hangingPunct="1"/>
            <a:endParaRPr lang="en-US" altLang="en-US">
              <a:latin typeface="Times New Roman" panose="02020603050405020304" pitchFamily="18" charset="0"/>
            </a:endParaRPr>
          </a:p>
        </p:txBody>
      </p:sp>
      <p:sp>
        <p:nvSpPr>
          <p:cNvPr id="8197" name="Slide Number Placeholder 5">
            <a:extLst>
              <a:ext uri="{FF2B5EF4-FFF2-40B4-BE49-F238E27FC236}">
                <a16:creationId xmlns:a16="http://schemas.microsoft.com/office/drawing/2014/main" id="{FE93C6A4-01A5-70DC-5781-0BB6A2A843C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280D59E-FCB9-4E33-94A1-F9F2421299A5}" type="slidenum">
              <a:rPr lang="en-US" altLang="en-US">
                <a:latin typeface="Times New Roman" panose="02020603050405020304" pitchFamily="18" charset="0"/>
              </a:rPr>
              <a:pPr eaLnBrk="1" hangingPunct="1"/>
              <a:t>5</a:t>
            </a:fld>
            <a:endParaRPr lang="en-US" altLang="en-US">
              <a:latin typeface="Times New Roman" panose="02020603050405020304" pitchFamily="18" charset="0"/>
            </a:endParaRPr>
          </a:p>
        </p:txBody>
      </p:sp>
      <p:pic>
        <p:nvPicPr>
          <p:cNvPr id="8198" name="Picture 2">
            <a:extLst>
              <a:ext uri="{FF2B5EF4-FFF2-40B4-BE49-F238E27FC236}">
                <a16:creationId xmlns:a16="http://schemas.microsoft.com/office/drawing/2014/main" id="{CAA729EF-ECFD-C5BE-9E49-69D823DB8650}"/>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4267200" y="1071563"/>
            <a:ext cx="762000" cy="2047875"/>
          </a:xfrm>
        </p:spPr>
      </p:pic>
      <p:sp>
        <p:nvSpPr>
          <p:cNvPr id="8" name="Title 1">
            <a:extLst>
              <a:ext uri="{FF2B5EF4-FFF2-40B4-BE49-F238E27FC236}">
                <a16:creationId xmlns:a16="http://schemas.microsoft.com/office/drawing/2014/main" id="{5889D1A8-B643-22CB-44C6-968B585E19A8}"/>
              </a:ext>
            </a:extLst>
          </p:cNvPr>
          <p:cNvSpPr txBox="1">
            <a:spLocks/>
          </p:cNvSpPr>
          <p:nvPr/>
        </p:nvSpPr>
        <p:spPr>
          <a:xfrm>
            <a:off x="1295400" y="1066800"/>
            <a:ext cx="533400" cy="487363"/>
          </a:xfrm>
          <a:prstGeom prst="rect">
            <a:avLst/>
          </a:prstGeom>
        </p:spPr>
        <p:txBody>
          <a:bodyPr/>
          <a:lstStyle/>
          <a:p>
            <a:pPr algn="ctr">
              <a:defRPr/>
            </a:pPr>
            <a:r>
              <a:rPr lang="en-US" sz="1400" kern="0">
                <a:solidFill>
                  <a:schemeClr val="tx2"/>
                </a:solidFill>
                <a:latin typeface="Times New Roman" pitchFamily="18" charset="0"/>
                <a:ea typeface="+mj-ea"/>
                <a:cs typeface="Times New Roman" pitchFamily="18" charset="0"/>
              </a:rPr>
              <a:t>dB</a:t>
            </a:r>
          </a:p>
        </p:txBody>
      </p:sp>
      <p:sp>
        <p:nvSpPr>
          <p:cNvPr id="9" name="Title 1">
            <a:extLst>
              <a:ext uri="{FF2B5EF4-FFF2-40B4-BE49-F238E27FC236}">
                <a16:creationId xmlns:a16="http://schemas.microsoft.com/office/drawing/2014/main" id="{DB95CD03-AA21-ED15-119D-FDEDF1372FB5}"/>
              </a:ext>
            </a:extLst>
          </p:cNvPr>
          <p:cNvSpPr txBox="1">
            <a:spLocks/>
          </p:cNvSpPr>
          <p:nvPr/>
        </p:nvSpPr>
        <p:spPr>
          <a:xfrm>
            <a:off x="2590800" y="914400"/>
            <a:ext cx="914400" cy="914400"/>
          </a:xfrm>
          <a:prstGeom prst="rect">
            <a:avLst/>
          </a:prstGeom>
        </p:spPr>
        <p:txBody>
          <a:bodyPr/>
          <a:lstStyle/>
          <a:p>
            <a:pPr algn="ctr">
              <a:defRPr/>
            </a:pPr>
            <a:r>
              <a:rPr lang="en-US" sz="1400" kern="0">
                <a:solidFill>
                  <a:schemeClr val="tx2"/>
                </a:solidFill>
                <a:latin typeface="Times New Roman" pitchFamily="18" charset="0"/>
                <a:ea typeface="+mj-ea"/>
                <a:cs typeface="Times New Roman" pitchFamily="18" charset="0"/>
              </a:rPr>
              <a:t>RMS</a:t>
            </a:r>
          </a:p>
          <a:p>
            <a:pPr algn="ctr">
              <a:defRPr/>
            </a:pPr>
            <a:r>
              <a:rPr lang="en-US" sz="1400" kern="0">
                <a:solidFill>
                  <a:schemeClr val="tx2"/>
                </a:solidFill>
                <a:latin typeface="Times New Roman" pitchFamily="18" charset="0"/>
                <a:ea typeface="+mj-ea"/>
                <a:cs typeface="Times New Roman" pitchFamily="18" charset="0"/>
              </a:rPr>
              <a:t>peak</a:t>
            </a:r>
          </a:p>
        </p:txBody>
      </p:sp>
      <p:sp>
        <p:nvSpPr>
          <p:cNvPr id="10" name="Title 1">
            <a:extLst>
              <a:ext uri="{FF2B5EF4-FFF2-40B4-BE49-F238E27FC236}">
                <a16:creationId xmlns:a16="http://schemas.microsoft.com/office/drawing/2014/main" id="{93109E68-E026-8C8D-EE67-8916202A0CCC}"/>
              </a:ext>
            </a:extLst>
          </p:cNvPr>
          <p:cNvSpPr txBox="1">
            <a:spLocks/>
          </p:cNvSpPr>
          <p:nvPr/>
        </p:nvSpPr>
        <p:spPr>
          <a:xfrm>
            <a:off x="4953000" y="762000"/>
            <a:ext cx="1219200" cy="914400"/>
          </a:xfrm>
          <a:prstGeom prst="rect">
            <a:avLst/>
          </a:prstGeom>
        </p:spPr>
        <p:txBody>
          <a:bodyPr/>
          <a:lstStyle/>
          <a:p>
            <a:pPr algn="ctr">
              <a:defRPr/>
            </a:pPr>
            <a:r>
              <a:rPr lang="en-US" sz="1400" kern="0">
                <a:solidFill>
                  <a:schemeClr val="tx2"/>
                </a:solidFill>
                <a:latin typeface="Times New Roman" pitchFamily="18" charset="0"/>
                <a:ea typeface="+mj-ea"/>
                <a:cs typeface="Times New Roman" pitchFamily="18" charset="0"/>
              </a:rPr>
              <a:t>Fast</a:t>
            </a:r>
          </a:p>
          <a:p>
            <a:pPr algn="ctr">
              <a:defRPr/>
            </a:pPr>
            <a:r>
              <a:rPr lang="en-US" sz="1400" kern="0">
                <a:solidFill>
                  <a:schemeClr val="tx2"/>
                </a:solidFill>
                <a:latin typeface="Times New Roman" pitchFamily="18" charset="0"/>
                <a:ea typeface="+mj-ea"/>
                <a:cs typeface="Times New Roman" pitchFamily="18" charset="0"/>
              </a:rPr>
              <a:t>Slow</a:t>
            </a:r>
          </a:p>
          <a:p>
            <a:pPr algn="ctr">
              <a:defRPr/>
            </a:pPr>
            <a:r>
              <a:rPr lang="en-US" sz="1400" kern="0">
                <a:solidFill>
                  <a:schemeClr val="tx2"/>
                </a:solidFill>
                <a:latin typeface="Times New Roman" pitchFamily="18" charset="0"/>
                <a:ea typeface="+mj-ea"/>
                <a:cs typeface="Times New Roman" pitchFamily="18" charset="0"/>
              </a:rPr>
              <a:t>Impulse</a:t>
            </a:r>
          </a:p>
        </p:txBody>
      </p:sp>
      <p:sp>
        <p:nvSpPr>
          <p:cNvPr id="11" name="Title 1">
            <a:extLst>
              <a:ext uri="{FF2B5EF4-FFF2-40B4-BE49-F238E27FC236}">
                <a16:creationId xmlns:a16="http://schemas.microsoft.com/office/drawing/2014/main" id="{5D8CA8D6-CCF3-4785-B5B3-C5F276AB4ECE}"/>
              </a:ext>
            </a:extLst>
          </p:cNvPr>
          <p:cNvSpPr txBox="1">
            <a:spLocks/>
          </p:cNvSpPr>
          <p:nvPr/>
        </p:nvSpPr>
        <p:spPr>
          <a:xfrm>
            <a:off x="6553200" y="533400"/>
            <a:ext cx="1219200" cy="533400"/>
          </a:xfrm>
          <a:prstGeom prst="rect">
            <a:avLst/>
          </a:prstGeom>
        </p:spPr>
        <p:txBody>
          <a:bodyPr/>
          <a:lstStyle/>
          <a:p>
            <a:pPr algn="ctr">
              <a:defRPr/>
            </a:pPr>
            <a:r>
              <a:rPr lang="en-US" sz="1400" kern="0" err="1">
                <a:solidFill>
                  <a:schemeClr val="tx2"/>
                </a:solidFill>
                <a:latin typeface="Times New Roman" pitchFamily="18" charset="0"/>
                <a:ea typeface="+mj-ea"/>
                <a:cs typeface="Times New Roman" pitchFamily="18" charset="0"/>
              </a:rPr>
              <a:t>Trọng</a:t>
            </a:r>
            <a:r>
              <a:rPr lang="en-US" sz="1400" kern="0">
                <a:solidFill>
                  <a:schemeClr val="tx2"/>
                </a:solidFill>
                <a:latin typeface="Times New Roman" pitchFamily="18" charset="0"/>
                <a:ea typeface="+mj-ea"/>
                <a:cs typeface="Times New Roman" pitchFamily="18" charset="0"/>
              </a:rPr>
              <a:t> </a:t>
            </a:r>
            <a:r>
              <a:rPr lang="en-US" sz="1400" kern="0" err="1">
                <a:solidFill>
                  <a:schemeClr val="tx2"/>
                </a:solidFill>
                <a:latin typeface="Times New Roman" pitchFamily="18" charset="0"/>
                <a:ea typeface="+mj-ea"/>
                <a:cs typeface="Times New Roman" pitchFamily="18" charset="0"/>
              </a:rPr>
              <a:t>số</a:t>
            </a:r>
            <a:endParaRPr lang="en-US" sz="1400" kern="0">
              <a:solidFill>
                <a:schemeClr val="tx2"/>
              </a:solidFill>
              <a:latin typeface="Times New Roman" pitchFamily="18" charset="0"/>
              <a:ea typeface="+mj-ea"/>
              <a:cs typeface="Times New Roman" pitchFamily="18" charset="0"/>
            </a:endParaRPr>
          </a:p>
        </p:txBody>
      </p:sp>
      <p:sp>
        <p:nvSpPr>
          <p:cNvPr id="12" name="Title 1">
            <a:extLst>
              <a:ext uri="{FF2B5EF4-FFF2-40B4-BE49-F238E27FC236}">
                <a16:creationId xmlns:a16="http://schemas.microsoft.com/office/drawing/2014/main" id="{D61DDFF0-6B3C-46F5-9E83-CAA504D660DB}"/>
              </a:ext>
            </a:extLst>
          </p:cNvPr>
          <p:cNvSpPr txBox="1">
            <a:spLocks/>
          </p:cNvSpPr>
          <p:nvPr/>
        </p:nvSpPr>
        <p:spPr>
          <a:xfrm>
            <a:off x="6553200" y="1295400"/>
            <a:ext cx="1219200" cy="990600"/>
          </a:xfrm>
          <a:prstGeom prst="rect">
            <a:avLst/>
          </a:prstGeom>
        </p:spPr>
        <p:txBody>
          <a:bodyPr/>
          <a:lstStyle/>
          <a:p>
            <a:pPr algn="ctr">
              <a:defRPr/>
            </a:pPr>
            <a:r>
              <a:rPr lang="en-US" sz="1400" kern="0" err="1">
                <a:solidFill>
                  <a:schemeClr val="tx2"/>
                </a:solidFill>
                <a:latin typeface="Times New Roman" pitchFamily="18" charset="0"/>
                <a:ea typeface="+mj-ea"/>
                <a:cs typeface="Times New Roman" pitchFamily="18" charset="0"/>
              </a:rPr>
              <a:t>L</a:t>
            </a:r>
            <a:r>
              <a:rPr lang="en-US" sz="1400" kern="0" baseline="-25000" err="1">
                <a:solidFill>
                  <a:schemeClr val="tx2"/>
                </a:solidFill>
                <a:latin typeface="Times New Roman" pitchFamily="18" charset="0"/>
                <a:ea typeface="+mj-ea"/>
                <a:cs typeface="Times New Roman" pitchFamily="18" charset="0"/>
              </a:rPr>
              <a:t>eq</a:t>
            </a:r>
            <a:r>
              <a:rPr lang="en-US" sz="1400" kern="0">
                <a:solidFill>
                  <a:schemeClr val="tx2"/>
                </a:solidFill>
                <a:latin typeface="Times New Roman" pitchFamily="18" charset="0"/>
                <a:ea typeface="+mj-ea"/>
                <a:cs typeface="Times New Roman" pitchFamily="18" charset="0"/>
              </a:rPr>
              <a:t>    L</a:t>
            </a:r>
            <a:r>
              <a:rPr lang="en-US" sz="1400" kern="0" baseline="-25000">
                <a:solidFill>
                  <a:schemeClr val="tx2"/>
                </a:solidFill>
                <a:latin typeface="Times New Roman" pitchFamily="18" charset="0"/>
                <a:ea typeface="+mj-ea"/>
                <a:cs typeface="Times New Roman" pitchFamily="18" charset="0"/>
              </a:rPr>
              <a:t>10</a:t>
            </a:r>
          </a:p>
          <a:p>
            <a:pPr algn="ctr">
              <a:defRPr/>
            </a:pPr>
            <a:endParaRPr lang="en-US" sz="1400" kern="0" baseline="-25000">
              <a:solidFill>
                <a:schemeClr val="tx2"/>
              </a:solidFill>
              <a:latin typeface="Times New Roman" pitchFamily="18" charset="0"/>
              <a:ea typeface="+mj-ea"/>
              <a:cs typeface="Times New Roman" pitchFamily="18" charset="0"/>
            </a:endParaRPr>
          </a:p>
          <a:p>
            <a:pPr algn="ctr">
              <a:defRPr/>
            </a:pPr>
            <a:r>
              <a:rPr lang="en-US" sz="1400" kern="0">
                <a:solidFill>
                  <a:schemeClr val="tx2"/>
                </a:solidFill>
                <a:latin typeface="Times New Roman" pitchFamily="18" charset="0"/>
                <a:cs typeface="Times New Roman" pitchFamily="18" charset="0"/>
              </a:rPr>
              <a:t>L</a:t>
            </a:r>
            <a:r>
              <a:rPr lang="en-US" sz="1400" kern="0" baseline="-25000">
                <a:solidFill>
                  <a:schemeClr val="tx2"/>
                </a:solidFill>
                <a:latin typeface="Times New Roman" pitchFamily="18" charset="0"/>
                <a:cs typeface="Times New Roman" pitchFamily="18" charset="0"/>
              </a:rPr>
              <a:t>90</a:t>
            </a:r>
            <a:endParaRPr lang="en-US" sz="1400" kern="0" baseline="-25000">
              <a:solidFill>
                <a:schemeClr val="tx2"/>
              </a:solidFill>
              <a:latin typeface="Times New Roman" pitchFamily="18" charset="0"/>
              <a:ea typeface="+mj-ea"/>
              <a:cs typeface="Times New Roman" pitchFamily="18" charset="0"/>
            </a:endParaRPr>
          </a:p>
          <a:p>
            <a:pPr algn="ctr">
              <a:defRPr/>
            </a:pPr>
            <a:endParaRPr lang="en-US" sz="1400" kern="0" baseline="30000">
              <a:solidFill>
                <a:schemeClr val="tx2"/>
              </a:solidFill>
              <a:latin typeface="Times New Roman" pitchFamily="18" charset="0"/>
              <a:ea typeface="+mj-ea"/>
              <a:cs typeface="Times New Roman" pitchFamily="18" charset="0"/>
            </a:endParaRPr>
          </a:p>
          <a:p>
            <a:pPr algn="ctr">
              <a:defRPr/>
            </a:pPr>
            <a:endParaRPr lang="en-US" sz="1400" kern="0" baseline="-25000">
              <a:solidFill>
                <a:schemeClr val="tx2"/>
              </a:solidFill>
              <a:latin typeface="Times New Roman" pitchFamily="18" charset="0"/>
              <a:ea typeface="+mj-ea"/>
              <a:cs typeface="Times New Roman" pitchFamily="18" charset="0"/>
            </a:endParaRPr>
          </a:p>
          <a:p>
            <a:pPr algn="ctr">
              <a:defRPr/>
            </a:pPr>
            <a:endParaRPr lang="en-US" sz="1400" kern="0" baseline="-25000">
              <a:solidFill>
                <a:schemeClr val="tx2"/>
              </a:solidFill>
              <a:latin typeface="Times New Roman" pitchFamily="18" charset="0"/>
              <a:ea typeface="+mj-ea"/>
              <a:cs typeface="Times New Roman" pitchFamily="18" charset="0"/>
            </a:endParaRPr>
          </a:p>
        </p:txBody>
      </p:sp>
      <p:sp>
        <p:nvSpPr>
          <p:cNvPr id="13" name="Title 1">
            <a:extLst>
              <a:ext uri="{FF2B5EF4-FFF2-40B4-BE49-F238E27FC236}">
                <a16:creationId xmlns:a16="http://schemas.microsoft.com/office/drawing/2014/main" id="{13DAE157-35D1-B594-638F-35E3CD41C6DB}"/>
              </a:ext>
            </a:extLst>
          </p:cNvPr>
          <p:cNvSpPr txBox="1">
            <a:spLocks/>
          </p:cNvSpPr>
          <p:nvPr/>
        </p:nvSpPr>
        <p:spPr>
          <a:xfrm>
            <a:off x="7239000" y="2133600"/>
            <a:ext cx="1219200" cy="533400"/>
          </a:xfrm>
          <a:prstGeom prst="rect">
            <a:avLst/>
          </a:prstGeom>
        </p:spPr>
        <p:txBody>
          <a:bodyPr/>
          <a:lstStyle/>
          <a:p>
            <a:pPr>
              <a:defRPr/>
            </a:pPr>
            <a:r>
              <a:rPr lang="en-US" sz="1400" kern="0" err="1">
                <a:solidFill>
                  <a:schemeClr val="tx2"/>
                </a:solidFill>
                <a:latin typeface="Times New Roman" pitchFamily="18" charset="0"/>
                <a:ea typeface="+mj-ea"/>
                <a:cs typeface="Times New Roman" pitchFamily="18" charset="0"/>
              </a:rPr>
              <a:t>Thang</a:t>
            </a:r>
            <a:r>
              <a:rPr lang="en-US" sz="1400" kern="0">
                <a:solidFill>
                  <a:schemeClr val="tx2"/>
                </a:solidFill>
                <a:latin typeface="Times New Roman" pitchFamily="18" charset="0"/>
                <a:ea typeface="+mj-ea"/>
                <a:cs typeface="Times New Roman" pitchFamily="18" charset="0"/>
              </a:rPr>
              <a:t> </a:t>
            </a:r>
            <a:r>
              <a:rPr lang="en-US" sz="1400" kern="0" err="1">
                <a:solidFill>
                  <a:schemeClr val="tx2"/>
                </a:solidFill>
                <a:latin typeface="Times New Roman" pitchFamily="18" charset="0"/>
                <a:ea typeface="+mj-ea"/>
                <a:cs typeface="Times New Roman" pitchFamily="18" charset="0"/>
              </a:rPr>
              <a:t>logarit</a:t>
            </a:r>
            <a:endParaRPr lang="en-US" sz="1400" kern="0">
              <a:solidFill>
                <a:schemeClr val="tx2"/>
              </a:solidFill>
              <a:latin typeface="Times New Roman" pitchFamily="18" charset="0"/>
              <a:ea typeface="+mj-ea"/>
              <a:cs typeface="Times New Roman" pitchFamily="18" charset="0"/>
            </a:endParaRPr>
          </a:p>
        </p:txBody>
      </p:sp>
      <p:sp>
        <p:nvSpPr>
          <p:cNvPr id="14" name="Title 1">
            <a:extLst>
              <a:ext uri="{FF2B5EF4-FFF2-40B4-BE49-F238E27FC236}">
                <a16:creationId xmlns:a16="http://schemas.microsoft.com/office/drawing/2014/main" id="{0839FA75-3DB1-654A-F962-8512BBB055D4}"/>
              </a:ext>
            </a:extLst>
          </p:cNvPr>
          <p:cNvSpPr txBox="1">
            <a:spLocks/>
          </p:cNvSpPr>
          <p:nvPr/>
        </p:nvSpPr>
        <p:spPr>
          <a:xfrm>
            <a:off x="4953000" y="2514600"/>
            <a:ext cx="2209800" cy="487363"/>
          </a:xfrm>
          <a:prstGeom prst="rect">
            <a:avLst/>
          </a:prstGeom>
        </p:spPr>
        <p:txBody>
          <a:bodyPr/>
          <a:lstStyle/>
          <a:p>
            <a:pPr algn="ctr">
              <a:defRPr/>
            </a:pPr>
            <a:r>
              <a:rPr lang="en-US" sz="1400" kern="0">
                <a:solidFill>
                  <a:schemeClr val="tx2"/>
                </a:solidFill>
                <a:latin typeface="Times New Roman" pitchFamily="18" charset="0"/>
                <a:ea typeface="+mj-ea"/>
                <a:cs typeface="Times New Roman" pitchFamily="18" charset="0"/>
              </a:rPr>
              <a:t>1/1 </a:t>
            </a:r>
            <a:r>
              <a:rPr lang="en-US" sz="1400" kern="0" err="1">
                <a:solidFill>
                  <a:schemeClr val="tx2"/>
                </a:solidFill>
                <a:latin typeface="Times New Roman" pitchFamily="18" charset="0"/>
                <a:ea typeface="+mj-ea"/>
                <a:cs typeface="Times New Roman" pitchFamily="18" charset="0"/>
              </a:rPr>
              <a:t>và</a:t>
            </a:r>
            <a:r>
              <a:rPr lang="en-US" sz="1400" kern="0">
                <a:solidFill>
                  <a:schemeClr val="tx2"/>
                </a:solidFill>
                <a:latin typeface="Times New Roman" pitchFamily="18" charset="0"/>
                <a:ea typeface="+mj-ea"/>
                <a:cs typeface="Times New Roman" pitchFamily="18" charset="0"/>
              </a:rPr>
              <a:t> 1/3 </a:t>
            </a:r>
            <a:r>
              <a:rPr lang="en-US" sz="1400" kern="0" err="1">
                <a:solidFill>
                  <a:schemeClr val="tx2"/>
                </a:solidFill>
                <a:latin typeface="Times New Roman" pitchFamily="18" charset="0"/>
                <a:ea typeface="+mj-ea"/>
                <a:cs typeface="Times New Roman" pitchFamily="18" charset="0"/>
              </a:rPr>
              <a:t>ốc</a:t>
            </a:r>
            <a:r>
              <a:rPr lang="en-US" sz="1400" kern="0">
                <a:solidFill>
                  <a:schemeClr val="tx2"/>
                </a:solidFill>
                <a:latin typeface="Times New Roman" pitchFamily="18" charset="0"/>
                <a:ea typeface="+mj-ea"/>
                <a:cs typeface="Times New Roman" pitchFamily="18" charset="0"/>
              </a:rPr>
              <a:t> </a:t>
            </a:r>
            <a:r>
              <a:rPr lang="en-US" sz="1400" kern="0" err="1">
                <a:solidFill>
                  <a:schemeClr val="tx2"/>
                </a:solidFill>
                <a:latin typeface="Times New Roman" pitchFamily="18" charset="0"/>
                <a:ea typeface="+mj-ea"/>
                <a:cs typeface="Times New Roman" pitchFamily="18" charset="0"/>
              </a:rPr>
              <a:t>ta</a:t>
            </a:r>
            <a:endParaRPr lang="en-US" sz="1400" kern="0">
              <a:solidFill>
                <a:schemeClr val="tx2"/>
              </a:solidFill>
              <a:latin typeface="Times New Roman" pitchFamily="18" charset="0"/>
              <a:ea typeface="+mj-ea"/>
              <a:cs typeface="Times New Roman" pitchFamily="18" charset="0"/>
            </a:endParaRPr>
          </a:p>
        </p:txBody>
      </p:sp>
      <p:sp>
        <p:nvSpPr>
          <p:cNvPr id="15" name="Title 1">
            <a:extLst>
              <a:ext uri="{FF2B5EF4-FFF2-40B4-BE49-F238E27FC236}">
                <a16:creationId xmlns:a16="http://schemas.microsoft.com/office/drawing/2014/main" id="{1C33AB64-A808-A4F4-0AA0-E2E9B575CAC6}"/>
              </a:ext>
            </a:extLst>
          </p:cNvPr>
          <p:cNvSpPr txBox="1">
            <a:spLocks/>
          </p:cNvSpPr>
          <p:nvPr/>
        </p:nvSpPr>
        <p:spPr>
          <a:xfrm>
            <a:off x="1066800" y="1905000"/>
            <a:ext cx="2209800" cy="487363"/>
          </a:xfrm>
          <a:prstGeom prst="rect">
            <a:avLst/>
          </a:prstGeom>
        </p:spPr>
        <p:txBody>
          <a:bodyPr/>
          <a:lstStyle/>
          <a:p>
            <a:pPr algn="ctr">
              <a:defRPr/>
            </a:pPr>
            <a:r>
              <a:rPr lang="en-US" sz="1400" kern="0" err="1">
                <a:solidFill>
                  <a:schemeClr val="tx2"/>
                </a:solidFill>
                <a:latin typeface="Times New Roman" pitchFamily="18" charset="0"/>
                <a:ea typeface="+mj-ea"/>
                <a:cs typeface="Times New Roman" pitchFamily="18" charset="0"/>
              </a:rPr>
              <a:t>Áp</a:t>
            </a:r>
            <a:r>
              <a:rPr lang="en-US" sz="1400" kern="0">
                <a:solidFill>
                  <a:schemeClr val="tx2"/>
                </a:solidFill>
                <a:latin typeface="Times New Roman" pitchFamily="18" charset="0"/>
                <a:ea typeface="+mj-ea"/>
                <a:cs typeface="Times New Roman" pitchFamily="18" charset="0"/>
              </a:rPr>
              <a:t> </a:t>
            </a:r>
            <a:r>
              <a:rPr lang="en-US" sz="1400" kern="0" err="1">
                <a:solidFill>
                  <a:schemeClr val="tx2"/>
                </a:solidFill>
                <a:latin typeface="Times New Roman" pitchFamily="18" charset="0"/>
                <a:ea typeface="+mj-ea"/>
                <a:cs typeface="Times New Roman" pitchFamily="18" charset="0"/>
              </a:rPr>
              <a:t>suất</a:t>
            </a:r>
            <a:r>
              <a:rPr lang="en-US" sz="1400" kern="0">
                <a:solidFill>
                  <a:schemeClr val="tx2"/>
                </a:solidFill>
                <a:latin typeface="Times New Roman" pitchFamily="18" charset="0"/>
                <a:ea typeface="+mj-ea"/>
                <a:cs typeface="Times New Roman" pitchFamily="18" charset="0"/>
              </a:rPr>
              <a:t> </a:t>
            </a:r>
            <a:r>
              <a:rPr lang="en-US" sz="1400" kern="0" err="1">
                <a:solidFill>
                  <a:schemeClr val="tx2"/>
                </a:solidFill>
                <a:latin typeface="Times New Roman" pitchFamily="18" charset="0"/>
                <a:ea typeface="+mj-ea"/>
                <a:cs typeface="Times New Roman" pitchFamily="18" charset="0"/>
              </a:rPr>
              <a:t>âm</a:t>
            </a:r>
            <a:r>
              <a:rPr lang="en-US" sz="1400" kern="0">
                <a:solidFill>
                  <a:schemeClr val="tx2"/>
                </a:solidFill>
                <a:latin typeface="Times New Roman" pitchFamily="18" charset="0"/>
                <a:ea typeface="+mj-ea"/>
                <a:cs typeface="Times New Roman" pitchFamily="18" charset="0"/>
              </a:rPr>
              <a:t> </a:t>
            </a:r>
            <a:r>
              <a:rPr lang="en-US" sz="1400" kern="0" err="1">
                <a:solidFill>
                  <a:schemeClr val="tx2"/>
                </a:solidFill>
                <a:latin typeface="Times New Roman" pitchFamily="18" charset="0"/>
                <a:ea typeface="+mj-ea"/>
                <a:cs typeface="Times New Roman" pitchFamily="18" charset="0"/>
              </a:rPr>
              <a:t>thanh</a:t>
            </a:r>
            <a:endParaRPr lang="en-US" sz="1400" kern="0">
              <a:solidFill>
                <a:schemeClr val="tx2"/>
              </a:solidFill>
              <a:latin typeface="Times New Roman" pitchFamily="18" charset="0"/>
              <a:ea typeface="+mj-ea"/>
              <a:cs typeface="Times New Roman" pitchFamily="18" charset="0"/>
            </a:endParaRPr>
          </a:p>
        </p:txBody>
      </p:sp>
      <p:sp>
        <p:nvSpPr>
          <p:cNvPr id="16" name="Title 1">
            <a:extLst>
              <a:ext uri="{FF2B5EF4-FFF2-40B4-BE49-F238E27FC236}">
                <a16:creationId xmlns:a16="http://schemas.microsoft.com/office/drawing/2014/main" id="{6E9C760C-7F97-0E06-148F-323C11CB94A0}"/>
              </a:ext>
            </a:extLst>
          </p:cNvPr>
          <p:cNvSpPr txBox="1">
            <a:spLocks/>
          </p:cNvSpPr>
          <p:nvPr/>
        </p:nvSpPr>
        <p:spPr>
          <a:xfrm>
            <a:off x="1524000" y="2362200"/>
            <a:ext cx="1219200" cy="533400"/>
          </a:xfrm>
          <a:prstGeom prst="rect">
            <a:avLst/>
          </a:prstGeom>
        </p:spPr>
        <p:txBody>
          <a:bodyPr/>
          <a:lstStyle/>
          <a:p>
            <a:pPr algn="ctr">
              <a:defRPr/>
            </a:pPr>
            <a:r>
              <a:rPr lang="en-US" sz="1400" kern="0">
                <a:solidFill>
                  <a:schemeClr val="tx2"/>
                </a:solidFill>
                <a:latin typeface="Times New Roman" pitchFamily="18" charset="0"/>
                <a:ea typeface="+mj-ea"/>
                <a:cs typeface="Times New Roman" pitchFamily="18" charset="0"/>
              </a:rPr>
              <a:t>Pascal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7B5E1952-8FA1-91C0-48B9-0F08597067E9}"/>
              </a:ext>
            </a:extLst>
          </p:cNvPr>
          <p:cNvSpPr>
            <a:spLocks noGrp="1"/>
          </p:cNvSpPr>
          <p:nvPr>
            <p:ph type="title"/>
          </p:nvPr>
        </p:nvSpPr>
        <p:spPr bwMode="auto">
          <a:xfrm>
            <a:off x="533400" y="228600"/>
            <a:ext cx="8229600" cy="4111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Áp suất và công suất âm</a:t>
            </a:r>
          </a:p>
        </p:txBody>
      </p:sp>
      <p:sp>
        <p:nvSpPr>
          <p:cNvPr id="9219" name="Content Placeholder 3">
            <a:extLst>
              <a:ext uri="{FF2B5EF4-FFF2-40B4-BE49-F238E27FC236}">
                <a16:creationId xmlns:a16="http://schemas.microsoft.com/office/drawing/2014/main" id="{A3CCE18F-88DB-25A3-A85A-8E6AAD8A5C6C}"/>
              </a:ext>
            </a:extLst>
          </p:cNvPr>
          <p:cNvSpPr>
            <a:spLocks noGrp="1"/>
          </p:cNvSpPr>
          <p:nvPr>
            <p:ph sz="half" idx="2"/>
          </p:nvPr>
        </p:nvSpPr>
        <p:spPr>
          <a:xfrm>
            <a:off x="533400" y="2743200"/>
            <a:ext cx="8229600" cy="3429000"/>
          </a:xfrm>
        </p:spPr>
        <p:txBody>
          <a:bodyPr/>
          <a:lstStyle/>
          <a:p>
            <a:pPr lvl="1">
              <a:buFont typeface="Wingdings" panose="05000000000000000000" pitchFamily="2" charset="2"/>
              <a:buChar char="q"/>
              <a:tabLst>
                <a:tab pos="457200" algn="l"/>
                <a:tab pos="512763" algn="l"/>
              </a:tabLst>
            </a:pPr>
            <a:r>
              <a:rPr lang="vi-VN" altLang="en-US"/>
              <a:t>Trước khi mô tả các tính chất vật lý của âm thanh, chúng ta hãy làm một phép </a:t>
            </a:r>
            <a:r>
              <a:rPr lang="en-US" altLang="en-US"/>
              <a:t>so sánh </a:t>
            </a:r>
            <a:r>
              <a:rPr lang="vi-VN" altLang="en-US"/>
              <a:t>giữa âm thanh,và một đại lượng vật lý có thể được biết đến </a:t>
            </a:r>
            <a:r>
              <a:rPr lang="en-US" altLang="en-US"/>
              <a:t>nhiều</a:t>
            </a:r>
            <a:r>
              <a:rPr lang="vi-VN" altLang="en-US"/>
              <a:t> hơn - nhiệt.</a:t>
            </a:r>
            <a:r>
              <a:rPr lang="en-US" altLang="en-US"/>
              <a:t> </a:t>
            </a:r>
            <a:r>
              <a:rPr lang="vi-VN" altLang="en-US"/>
              <a:t>Một</a:t>
            </a:r>
            <a:r>
              <a:rPr lang="en-US" altLang="en-US"/>
              <a:t> cái lò sưởi điện có thể tạo ra </a:t>
            </a:r>
            <a:r>
              <a:rPr lang="vi-VN" altLang="en-US"/>
              <a:t>ra một lượng năng lượng nhất định </a:t>
            </a:r>
            <a:r>
              <a:rPr lang="en-US" altLang="en-US"/>
              <a:t>trong một </a:t>
            </a:r>
            <a:r>
              <a:rPr lang="vi-VN" altLang="en-US"/>
              <a:t>đơn vị thời gian</a:t>
            </a:r>
            <a:r>
              <a:rPr lang="en-US" altLang="en-US"/>
              <a:t> </a:t>
            </a:r>
            <a:r>
              <a:rPr lang="vi-VN" altLang="en-US"/>
              <a:t>[J/s] tức là nó </a:t>
            </a:r>
            <a:r>
              <a:rPr lang="en-US" altLang="en-US"/>
              <a:t>có một công suất  nhất định tính bằng </a:t>
            </a:r>
            <a:r>
              <a:rPr lang="vi-VN" altLang="en-US"/>
              <a:t>W [Watt = Joule / giây]. Đây là</a:t>
            </a:r>
            <a:r>
              <a:rPr lang="en-US" altLang="en-US"/>
              <a:t> cách đơn giản để đánh giá lượng </a:t>
            </a:r>
            <a:r>
              <a:rPr lang="vi-VN" altLang="en-US"/>
              <a:t>nhiệt nó có thể </a:t>
            </a:r>
            <a:r>
              <a:rPr lang="en-US" altLang="en-US"/>
              <a:t>sinh ra</a:t>
            </a:r>
            <a:r>
              <a:rPr lang="vi-VN" altLang="en-US"/>
              <a:t> và độc lập </a:t>
            </a:r>
            <a:r>
              <a:rPr lang="en-US" altLang="en-US"/>
              <a:t>với điều kiện môi trường xung quanh. Nhiệt lượng từ </a:t>
            </a:r>
            <a:r>
              <a:rPr lang="vi-VN" altLang="en-US"/>
              <a:t>lò sưởi </a:t>
            </a:r>
            <a:r>
              <a:rPr lang="en-US" altLang="en-US"/>
              <a:t>làm </a:t>
            </a:r>
            <a:r>
              <a:rPr lang="vi-VN" altLang="en-US"/>
              <a:t>tăng nhiệt độ ở các </a:t>
            </a:r>
            <a:r>
              <a:rPr lang="en-US" altLang="en-US"/>
              <a:t>phần khác nhau </a:t>
            </a:r>
            <a:r>
              <a:rPr lang="vi-VN" altLang="en-US"/>
              <a:t>của căn phòng và</a:t>
            </a:r>
            <a:r>
              <a:rPr lang="en-US" altLang="en-US"/>
              <a:t> </a:t>
            </a:r>
            <a:r>
              <a:rPr lang="vi-VN" altLang="en-US"/>
              <a:t>nhiệt độ này  có thể được đo bằng </a:t>
            </a:r>
            <a:r>
              <a:rPr lang="en-US" altLang="en-US"/>
              <a:t>một cái </a:t>
            </a:r>
            <a:r>
              <a:rPr lang="vi-VN" altLang="en-US"/>
              <a:t>nhiệt kế </a:t>
            </a:r>
            <a:r>
              <a:rPr lang="en-US" altLang="en-US"/>
              <a:t>và tính bằng </a:t>
            </a:r>
            <a:r>
              <a:rPr lang="vi-VN" altLang="en-US"/>
              <a:t>ºC hoặc º F.</a:t>
            </a:r>
            <a:r>
              <a:rPr lang="en-US" altLang="en-US"/>
              <a:t>. </a:t>
            </a:r>
            <a:r>
              <a:rPr lang="vi-VN" altLang="en-US"/>
              <a:t>Tuy nhiên, nhiệt độ tại một điểm cụ thể sẽ không chỉ phụ thuộc vào </a:t>
            </a:r>
            <a:r>
              <a:rPr lang="en-US" altLang="en-US"/>
              <a:t>công suất </a:t>
            </a:r>
            <a:r>
              <a:rPr lang="vi-VN" altLang="en-US"/>
              <a:t>của máy sưởi và khoảng cách từ lò sưởi, </a:t>
            </a:r>
            <a:r>
              <a:rPr lang="en-US" altLang="en-US"/>
              <a:t>mà còn phụ thuộc </a:t>
            </a:r>
            <a:r>
              <a:rPr lang="vi-VN" altLang="en-US"/>
              <a:t>vào lượng nhiệt hấp thụ</a:t>
            </a:r>
            <a:r>
              <a:rPr lang="en-US" altLang="en-US"/>
              <a:t> </a:t>
            </a:r>
            <a:r>
              <a:rPr lang="vi-VN" altLang="en-US"/>
              <a:t>bởi các bức tường, và lượng nhiệt truyền qua các bức tường và</a:t>
            </a:r>
            <a:r>
              <a:rPr lang="en-US" altLang="en-US"/>
              <a:t> </a:t>
            </a:r>
            <a:r>
              <a:rPr lang="vi-VN" altLang="en-US"/>
              <a:t>cửa sổ</a:t>
            </a:r>
            <a:r>
              <a:rPr lang="en-US" altLang="en-US"/>
              <a:t>….</a:t>
            </a:r>
          </a:p>
          <a:p>
            <a:pPr>
              <a:lnSpc>
                <a:spcPct val="100000"/>
              </a:lnSpc>
              <a:buFont typeface="Wingdings" panose="05000000000000000000" pitchFamily="2" charset="2"/>
              <a:buChar char="q"/>
              <a:tabLst>
                <a:tab pos="457200" algn="l"/>
                <a:tab pos="512763" algn="l"/>
              </a:tabLst>
            </a:pPr>
            <a:r>
              <a:rPr lang="en-US" altLang="en-US"/>
              <a:t>Một nguồn âm tạo ra một năng lượng nhất định trong một đơn vị thời gian </a:t>
            </a:r>
            <a:r>
              <a:rPr lang="vi-VN" altLang="en-US"/>
              <a:t>[J/s] </a:t>
            </a:r>
            <a:r>
              <a:rPr lang="en-US" altLang="en-US"/>
              <a:t> và do đó có một công suất nhất định tính bằng </a:t>
            </a:r>
            <a:r>
              <a:rPr lang="vi-VN" altLang="en-US"/>
              <a:t>W [Watt = J/</a:t>
            </a:r>
            <a:r>
              <a:rPr lang="en-US" altLang="en-US"/>
              <a:t>s</a:t>
            </a:r>
            <a:r>
              <a:rPr lang="vi-VN" altLang="en-US"/>
              <a:t>]. Đây </a:t>
            </a:r>
            <a:r>
              <a:rPr lang="en-US" altLang="en-US"/>
              <a:t>cũng là một phương pháp</a:t>
            </a:r>
            <a:r>
              <a:rPr lang="vi-VN" altLang="en-US"/>
              <a:t> cơ bản </a:t>
            </a:r>
            <a:r>
              <a:rPr lang="en-US" altLang="en-US"/>
              <a:t>để đánh giá </a:t>
            </a:r>
            <a:r>
              <a:rPr lang="vi-VN" altLang="en-US"/>
              <a:t>bao nhiêu năng lượng âm thanh nó có thể </a:t>
            </a:r>
            <a:r>
              <a:rPr lang="en-US" altLang="en-US"/>
              <a:t>tạo ra</a:t>
            </a:r>
            <a:r>
              <a:rPr lang="vi-VN" altLang="en-US"/>
              <a:t>, và</a:t>
            </a:r>
            <a:r>
              <a:rPr lang="en-US" altLang="en-US"/>
              <a:t> </a:t>
            </a:r>
            <a:r>
              <a:rPr lang="vi-VN" altLang="en-US"/>
              <a:t>độc lập với môi trường xung quanh của nó. </a:t>
            </a:r>
            <a:r>
              <a:rPr lang="en-US" altLang="en-US"/>
              <a:t>N</a:t>
            </a:r>
            <a:r>
              <a:rPr lang="vi-VN" altLang="en-US"/>
              <a:t>ăng lượng âm thanh </a:t>
            </a:r>
            <a:r>
              <a:rPr lang="en-US" altLang="en-US"/>
              <a:t>phát </a:t>
            </a:r>
            <a:r>
              <a:rPr lang="vi-VN" altLang="en-US"/>
              <a:t>đi từ</a:t>
            </a:r>
            <a:r>
              <a:rPr lang="en-US" altLang="en-US"/>
              <a:t> </a:t>
            </a:r>
            <a:r>
              <a:rPr lang="vi-VN" altLang="en-US"/>
              <a:t>nguồn </a:t>
            </a:r>
            <a:r>
              <a:rPr lang="en-US" altLang="en-US"/>
              <a:t>âm </a:t>
            </a:r>
            <a:r>
              <a:rPr lang="vi-VN" altLang="en-US"/>
              <a:t>hình thành nên một áp </a:t>
            </a:r>
            <a:r>
              <a:rPr lang="en-US" altLang="en-US"/>
              <a:t>suất</a:t>
            </a:r>
            <a:r>
              <a:rPr lang="vi-VN" altLang="en-US"/>
              <a:t> âm thanh nhất định trong phòng</a:t>
            </a:r>
            <a:r>
              <a:rPr lang="en-US" altLang="en-US"/>
              <a:t>. Khi đo á</a:t>
            </a:r>
            <a:r>
              <a:rPr lang="vi-VN" altLang="en-US"/>
              <a:t>p suất âm thanh này sẽ không chỉ phụ thuộc vào </a:t>
            </a:r>
            <a:r>
              <a:rPr lang="en-US" altLang="en-US"/>
              <a:t>công suất </a:t>
            </a:r>
            <a:r>
              <a:rPr lang="vi-VN" altLang="en-US"/>
              <a:t>của </a:t>
            </a:r>
            <a:r>
              <a:rPr lang="en-US" altLang="en-US"/>
              <a:t>nguồn âm</a:t>
            </a:r>
            <a:r>
              <a:rPr lang="vi-VN" altLang="en-US"/>
              <a:t> và khoảng cách giữa nguồn và các điểm đo, </a:t>
            </a:r>
            <a:r>
              <a:rPr lang="en-US" altLang="en-US"/>
              <a:t>mà còn</a:t>
            </a:r>
            <a:r>
              <a:rPr lang="vi-VN" altLang="en-US"/>
              <a:t> </a:t>
            </a:r>
            <a:r>
              <a:rPr lang="en-US" altLang="en-US"/>
              <a:t>phụ thuộc </a:t>
            </a:r>
            <a:r>
              <a:rPr lang="vi-VN" altLang="en-US"/>
              <a:t>vào lượng năng lượng âm thanh hấp thụ bởi các bức tường và </a:t>
            </a:r>
            <a:r>
              <a:rPr lang="en-US" altLang="en-US"/>
              <a:t>lượng </a:t>
            </a:r>
            <a:r>
              <a:rPr lang="vi-VN" altLang="en-US"/>
              <a:t>năng lượng âm thanh được truyền qua các bức tường và cửa sổ</a:t>
            </a:r>
            <a:r>
              <a:rPr lang="en-US" altLang="en-US"/>
              <a:t>…</a:t>
            </a:r>
          </a:p>
          <a:p>
            <a:pPr>
              <a:buFontTx/>
              <a:buChar char="•"/>
              <a:tabLst>
                <a:tab pos="457200" algn="l"/>
                <a:tab pos="512763" algn="l"/>
              </a:tabLst>
            </a:pPr>
            <a:endParaRPr lang="en-US" altLang="en-US"/>
          </a:p>
        </p:txBody>
      </p:sp>
      <p:sp>
        <p:nvSpPr>
          <p:cNvPr id="9220" name="Footer Placeholder 4">
            <a:extLst>
              <a:ext uri="{FF2B5EF4-FFF2-40B4-BE49-F238E27FC236}">
                <a16:creationId xmlns:a16="http://schemas.microsoft.com/office/drawing/2014/main" id="{22571DAE-0793-F02C-4CA4-D07212E2C8BF}"/>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US" altLang="en-US">
                <a:latin typeface="Times New Roman" panose="02020603050405020304" pitchFamily="18" charset="0"/>
              </a:rPr>
              <a:t>Viện Đo lường Việt nam</a:t>
            </a:r>
          </a:p>
          <a:p>
            <a:pPr algn="l" eaLnBrk="1" hangingPunct="1"/>
            <a:r>
              <a:rPr lang="en-US" altLang="en-US">
                <a:latin typeface="Times New Roman" panose="02020603050405020304" pitchFamily="18" charset="0"/>
              </a:rPr>
              <a:t>Việt nam Metrology Institute</a:t>
            </a:r>
          </a:p>
          <a:p>
            <a:pPr algn="l" eaLnBrk="1" hangingPunct="1"/>
            <a:endParaRPr lang="en-US" altLang="en-US">
              <a:latin typeface="Times New Roman" panose="02020603050405020304" pitchFamily="18" charset="0"/>
            </a:endParaRPr>
          </a:p>
          <a:p>
            <a:pPr eaLnBrk="1" hangingPunct="1"/>
            <a:endParaRPr lang="en-US" altLang="en-US">
              <a:latin typeface=".VnHelvetInsH" pitchFamily="34" charset="0"/>
            </a:endParaRPr>
          </a:p>
        </p:txBody>
      </p:sp>
      <p:sp>
        <p:nvSpPr>
          <p:cNvPr id="9221" name="Slide Number Placeholder 5">
            <a:extLst>
              <a:ext uri="{FF2B5EF4-FFF2-40B4-BE49-F238E27FC236}">
                <a16:creationId xmlns:a16="http://schemas.microsoft.com/office/drawing/2014/main" id="{805D426C-D5B6-4B41-6B61-3192A5D3C21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2A65302-0A35-4FE8-B0BE-CD42B65792EE}" type="slidenum">
              <a:rPr lang="en-US" altLang="en-US">
                <a:latin typeface="Times New Roman" panose="02020603050405020304" pitchFamily="18" charset="0"/>
              </a:rPr>
              <a:pPr eaLnBrk="1" hangingPunct="1"/>
              <a:t>6</a:t>
            </a:fld>
            <a:endParaRPr lang="en-US" altLang="en-US">
              <a:latin typeface="Times New Roman" panose="02020603050405020304" pitchFamily="18" charset="0"/>
            </a:endParaRPr>
          </a:p>
        </p:txBody>
      </p:sp>
      <p:pic>
        <p:nvPicPr>
          <p:cNvPr id="9222" name="Picture 2">
            <a:extLst>
              <a:ext uri="{FF2B5EF4-FFF2-40B4-BE49-F238E27FC236}">
                <a16:creationId xmlns:a16="http://schemas.microsoft.com/office/drawing/2014/main" id="{D655107C-2418-25C4-D317-C5300C05D115}"/>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2895600" y="220663"/>
            <a:ext cx="4114800" cy="2446337"/>
          </a:xfr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1009CC95-3C67-DDA9-6DD3-C0CDE2407EFB}"/>
              </a:ext>
            </a:extLst>
          </p:cNvPr>
          <p:cNvSpPr>
            <a:spLocks noGrp="1"/>
          </p:cNvSpPr>
          <p:nvPr>
            <p:ph type="title"/>
          </p:nvPr>
        </p:nvSpPr>
        <p:spPr bwMode="auto">
          <a:xfrm>
            <a:off x="533400" y="228600"/>
            <a:ext cx="8229600" cy="4111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Các đại lượng âm thanh cơ bản</a:t>
            </a:r>
          </a:p>
        </p:txBody>
      </p:sp>
      <p:sp>
        <p:nvSpPr>
          <p:cNvPr id="10243" name="Content Placeholder 3">
            <a:extLst>
              <a:ext uri="{FF2B5EF4-FFF2-40B4-BE49-F238E27FC236}">
                <a16:creationId xmlns:a16="http://schemas.microsoft.com/office/drawing/2014/main" id="{E6084F9B-CCE7-8D14-0184-3294A5753FF0}"/>
              </a:ext>
            </a:extLst>
          </p:cNvPr>
          <p:cNvSpPr>
            <a:spLocks noGrp="1"/>
          </p:cNvSpPr>
          <p:nvPr>
            <p:ph sz="half" idx="2"/>
          </p:nvPr>
        </p:nvSpPr>
        <p:spPr>
          <a:xfrm>
            <a:off x="533400" y="3276600"/>
            <a:ext cx="8229600" cy="2743200"/>
          </a:xfrm>
        </p:spPr>
        <p:txBody>
          <a:bodyPr/>
          <a:lstStyle/>
          <a:p>
            <a:pPr>
              <a:lnSpc>
                <a:spcPct val="100000"/>
              </a:lnSpc>
              <a:buFont typeface="Wingdings" panose="05000000000000000000" pitchFamily="2" charset="2"/>
              <a:buChar char="ü"/>
            </a:pPr>
            <a:r>
              <a:rPr lang="vi-VN" altLang="en-US"/>
              <a:t>Khi âm thanh </a:t>
            </a:r>
            <a:r>
              <a:rPr lang="en-US" altLang="en-US"/>
              <a:t>tạo ra </a:t>
            </a:r>
            <a:r>
              <a:rPr lang="vi-VN" altLang="en-US"/>
              <a:t>bởi một nguồn âm </a:t>
            </a:r>
            <a:r>
              <a:rPr lang="en-US" altLang="en-US"/>
              <a:t>có công suất</a:t>
            </a:r>
            <a:r>
              <a:rPr lang="vi-VN" altLang="en-US"/>
              <a:t>, P, một</a:t>
            </a:r>
            <a:r>
              <a:rPr lang="en-US" altLang="en-US"/>
              <a:t> </a:t>
            </a:r>
            <a:r>
              <a:rPr lang="vi-VN" altLang="en-US"/>
              <a:t>năng lượng </a:t>
            </a:r>
            <a:r>
              <a:rPr lang="en-US" altLang="en-US"/>
              <a:t>được truyền </a:t>
            </a:r>
            <a:r>
              <a:rPr lang="vi-VN" altLang="en-US"/>
              <a:t>từ nguồn đến các phân tử không khí liền kề </a:t>
            </a:r>
            <a:r>
              <a:rPr lang="en-US" altLang="en-US"/>
              <a:t>và truyền đến các </a:t>
            </a:r>
            <a:r>
              <a:rPr lang="vi-VN" altLang="en-US"/>
              <a:t>phân tử </a:t>
            </a:r>
            <a:r>
              <a:rPr lang="en-US" altLang="en-US"/>
              <a:t>xa hơn và d</a:t>
            </a:r>
            <a:r>
              <a:rPr lang="vi-VN" altLang="en-US"/>
              <a:t>o đó, năng lượng</a:t>
            </a:r>
            <a:r>
              <a:rPr lang="en-US" altLang="en-US"/>
              <a:t> được </a:t>
            </a:r>
            <a:r>
              <a:rPr lang="vi-VN" altLang="en-US"/>
              <a:t>lan rộng </a:t>
            </a:r>
            <a:r>
              <a:rPr lang="en-US" altLang="en-US"/>
              <a:t>ra </a:t>
            </a:r>
            <a:r>
              <a:rPr lang="vi-VN" altLang="en-US"/>
              <a:t>xa </a:t>
            </a:r>
            <a:r>
              <a:rPr lang="en-US" altLang="en-US"/>
              <a:t>từ </a:t>
            </a:r>
            <a:r>
              <a:rPr lang="vi-VN" altLang="en-US"/>
              <a:t>nguồn giống như gợn sóng trên hồ</a:t>
            </a:r>
            <a:r>
              <a:rPr lang="en-US" altLang="en-US"/>
              <a:t>. Năng lượng chảy theo một hướng nhất định qua một đơn vị diện tích nhất định được gọi là cường độ âm. N</a:t>
            </a:r>
            <a:r>
              <a:rPr lang="vi-VN" altLang="en-US"/>
              <a:t>ăng lượng đi qua một điểm cụ thể trong khu vực xung quanh</a:t>
            </a:r>
            <a:r>
              <a:rPr lang="en-US" altLang="en-US"/>
              <a:t>  </a:t>
            </a:r>
            <a:r>
              <a:rPr lang="vi-VN" altLang="en-US"/>
              <a:t>nguồn </a:t>
            </a:r>
            <a:r>
              <a:rPr lang="en-US" altLang="en-US"/>
              <a:t>âm </a:t>
            </a:r>
            <a:r>
              <a:rPr lang="vi-VN" altLang="en-US"/>
              <a:t>sẽ làm tăng áp lực âm thanh, p, tại</a:t>
            </a:r>
            <a:r>
              <a:rPr lang="en-US" altLang="en-US"/>
              <a:t> </a:t>
            </a:r>
            <a:r>
              <a:rPr lang="vi-VN" altLang="en-US"/>
              <a:t>điểm đó</a:t>
            </a:r>
            <a:r>
              <a:rPr lang="en-US" altLang="en-US"/>
              <a:t>.</a:t>
            </a:r>
          </a:p>
          <a:p>
            <a:pPr>
              <a:lnSpc>
                <a:spcPct val="100000"/>
              </a:lnSpc>
              <a:buFont typeface="Wingdings" panose="05000000000000000000" pitchFamily="2" charset="2"/>
              <a:buChar char="ü"/>
            </a:pPr>
            <a:r>
              <a:rPr lang="el-GR" altLang="en-US"/>
              <a:t>ρ</a:t>
            </a:r>
            <a:r>
              <a:rPr lang="en-US" altLang="en-US"/>
              <a:t> là mật độ không khí, c là vân tốc âm.</a:t>
            </a:r>
          </a:p>
          <a:p>
            <a:pPr>
              <a:lnSpc>
                <a:spcPct val="100000"/>
              </a:lnSpc>
              <a:buFont typeface="Wingdings" panose="05000000000000000000" pitchFamily="2" charset="2"/>
              <a:buChar char="ü"/>
            </a:pPr>
            <a:r>
              <a:rPr lang="en-US" altLang="en-US"/>
              <a:t>Cường độ âm là một đại lượng véc tơ – bao gồm thông tin về biên độ và hướng.</a:t>
            </a:r>
          </a:p>
          <a:p>
            <a:pPr>
              <a:lnSpc>
                <a:spcPct val="100000"/>
              </a:lnSpc>
              <a:buFont typeface="Wingdings" panose="05000000000000000000" pitchFamily="2" charset="2"/>
              <a:buChar char="ü"/>
            </a:pPr>
            <a:r>
              <a:rPr lang="en-US" altLang="en-US"/>
              <a:t>Áp suất và cường độ âm có thể đo trực tiếp bằng các thiết bị phù hợp. Công suất âm có thể được tính toán từ từ các giá trị đo áp suất hoặc cường độ và điều kiện môi trường tiến hành đo. Công dụng chính của việc xác định công suất âm là để xác định độ lớn độ ồn của máy móc và cường độ âm sử dụng để xác định vị trí và độ lớn của nguồn ồn. </a:t>
            </a:r>
            <a:r>
              <a:rPr lang="vi-VN" altLang="en-US"/>
              <a:t>Khi </a:t>
            </a:r>
            <a:r>
              <a:rPr lang="en-US" altLang="en-US"/>
              <a:t>đề cập</a:t>
            </a:r>
            <a:r>
              <a:rPr lang="vi-VN" altLang="en-US"/>
              <a:t> đến việc đánh giá tác hại và </a:t>
            </a:r>
            <a:r>
              <a:rPr lang="en-US" altLang="en-US"/>
              <a:t>sự </a:t>
            </a:r>
            <a:r>
              <a:rPr lang="vi-VN" altLang="en-US"/>
              <a:t>phiền toái của các nguồn tiếng ồn</a:t>
            </a:r>
            <a:r>
              <a:rPr lang="en-US" altLang="en-US"/>
              <a:t> thì </a:t>
            </a:r>
            <a:r>
              <a:rPr lang="vi-VN" altLang="en-US"/>
              <a:t>áp suất âm thanh là</a:t>
            </a:r>
            <a:r>
              <a:rPr lang="en-US" altLang="en-US"/>
              <a:t> một </a:t>
            </a:r>
            <a:r>
              <a:rPr lang="vi-VN" altLang="en-US"/>
              <a:t>tham số quan trọng</a:t>
            </a:r>
            <a:r>
              <a:rPr lang="en-US" altLang="en-US"/>
              <a:t>.</a:t>
            </a:r>
          </a:p>
          <a:p>
            <a:pPr>
              <a:buFontTx/>
              <a:buChar char="•"/>
            </a:pPr>
            <a:endParaRPr lang="en-US" altLang="en-US"/>
          </a:p>
        </p:txBody>
      </p:sp>
      <p:sp>
        <p:nvSpPr>
          <p:cNvPr id="10244" name="Footer Placeholder 4">
            <a:extLst>
              <a:ext uri="{FF2B5EF4-FFF2-40B4-BE49-F238E27FC236}">
                <a16:creationId xmlns:a16="http://schemas.microsoft.com/office/drawing/2014/main" id="{4CC63435-6F4D-3E70-1464-CBCD1C781322}"/>
              </a:ext>
            </a:extLst>
          </p:cNvPr>
          <p:cNvSpPr>
            <a:spLocks noGrp="1"/>
          </p:cNvSpPr>
          <p:nvPr>
            <p:ph type="ftr" sz="quarter" idx="10"/>
          </p:nvPr>
        </p:nvSpPr>
        <p:spPr>
          <a:xfrm>
            <a:off x="1066800" y="6172200"/>
            <a:ext cx="24384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US" altLang="en-US">
                <a:latin typeface="Times New Roman" panose="02020603050405020304" pitchFamily="18" charset="0"/>
              </a:rPr>
              <a:t>Viện Đo lường Việt nam</a:t>
            </a:r>
          </a:p>
          <a:p>
            <a:pPr algn="l" eaLnBrk="1" hangingPunct="1"/>
            <a:r>
              <a:rPr lang="en-US" altLang="en-US">
                <a:latin typeface="Times New Roman" panose="02020603050405020304" pitchFamily="18" charset="0"/>
              </a:rPr>
              <a:t>Việt nam Metrology Institute</a:t>
            </a:r>
          </a:p>
          <a:p>
            <a:pPr algn="l" eaLnBrk="1" hangingPunct="1"/>
            <a:endParaRPr lang="en-US" altLang="en-US" sz="1800"/>
          </a:p>
          <a:p>
            <a:pPr eaLnBrk="1" hangingPunct="1"/>
            <a:endParaRPr lang="en-US" altLang="en-US">
              <a:latin typeface=".VnHelvetInsH" pitchFamily="34" charset="0"/>
            </a:endParaRPr>
          </a:p>
        </p:txBody>
      </p:sp>
      <p:sp>
        <p:nvSpPr>
          <p:cNvPr id="10245" name="Slide Number Placeholder 5">
            <a:extLst>
              <a:ext uri="{FF2B5EF4-FFF2-40B4-BE49-F238E27FC236}">
                <a16:creationId xmlns:a16="http://schemas.microsoft.com/office/drawing/2014/main" id="{A67E56E4-01B6-98C8-25CE-CA58AE80FDCB}"/>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9ACBB07-E543-47AB-AC88-48EF51A65229}" type="slidenum">
              <a:rPr lang="en-US" altLang="en-US">
                <a:latin typeface="Times New Roman" panose="02020603050405020304" pitchFamily="18" charset="0"/>
              </a:rPr>
              <a:pPr eaLnBrk="1" hangingPunct="1"/>
              <a:t>7</a:t>
            </a:fld>
            <a:endParaRPr lang="en-US" altLang="en-US">
              <a:latin typeface="Times New Roman" panose="02020603050405020304" pitchFamily="18" charset="0"/>
            </a:endParaRPr>
          </a:p>
        </p:txBody>
      </p:sp>
      <p:pic>
        <p:nvPicPr>
          <p:cNvPr id="10246" name="Picture 3">
            <a:extLst>
              <a:ext uri="{FF2B5EF4-FFF2-40B4-BE49-F238E27FC236}">
                <a16:creationId xmlns:a16="http://schemas.microsoft.com/office/drawing/2014/main" id="{DBAABC25-7FF7-18F5-7B6C-AB6C6C2C8DC8}"/>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533400" y="609600"/>
            <a:ext cx="3416300" cy="2667000"/>
          </a:xfrm>
          <a:noFill/>
        </p:spPr>
      </p:pic>
      <p:pic>
        <p:nvPicPr>
          <p:cNvPr id="10247" name="Picture 9">
            <a:extLst>
              <a:ext uri="{FF2B5EF4-FFF2-40B4-BE49-F238E27FC236}">
                <a16:creationId xmlns:a16="http://schemas.microsoft.com/office/drawing/2014/main" id="{2D99D334-6188-BCCC-9EB3-4F03F72A24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38800" y="990600"/>
            <a:ext cx="1743075" cy="82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8" name="Rectangle 8">
            <a:extLst>
              <a:ext uri="{FF2B5EF4-FFF2-40B4-BE49-F238E27FC236}">
                <a16:creationId xmlns:a16="http://schemas.microsoft.com/office/drawing/2014/main" id="{6DC71C21-D4A1-DED9-9100-861893569984}"/>
              </a:ext>
            </a:extLst>
          </p:cNvPr>
          <p:cNvSpPr>
            <a:spLocks noChangeArrowheads="1"/>
          </p:cNvSpPr>
          <p:nvPr/>
        </p:nvSpPr>
        <p:spPr bwMode="auto">
          <a:xfrm>
            <a:off x="4191000" y="304800"/>
            <a:ext cx="4572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n-US" altLang="en-US" sz="1400">
                <a:latin typeface="Times New Roman" panose="02020603050405020304" pitchFamily="18" charset="0"/>
                <a:cs typeface="Times New Roman" panose="02020603050405020304" pitchFamily="18" charset="0"/>
              </a:rPr>
              <a:t>Véc tơ cường độ âm thanh   miêu tả lượng và hướng của dòng năng lượng âm tại một điểm cho trước</a:t>
            </a:r>
          </a:p>
        </p:txBody>
      </p:sp>
      <p:sp>
        <p:nvSpPr>
          <p:cNvPr id="10" name="Rectangle 9">
            <a:extLst>
              <a:ext uri="{FF2B5EF4-FFF2-40B4-BE49-F238E27FC236}">
                <a16:creationId xmlns:a16="http://schemas.microsoft.com/office/drawing/2014/main" id="{2558CE57-216D-BDD6-7EC0-2B05EB20A2E1}"/>
              </a:ext>
            </a:extLst>
          </p:cNvPr>
          <p:cNvSpPr/>
          <p:nvPr/>
        </p:nvSpPr>
        <p:spPr>
          <a:xfrm>
            <a:off x="4191000" y="2209800"/>
            <a:ext cx="4572000" cy="825500"/>
          </a:xfrm>
          <a:prstGeom prst="rect">
            <a:avLst/>
          </a:prstGeom>
        </p:spPr>
        <p:txBody>
          <a:bodyPr>
            <a:spAutoFit/>
          </a:bodyPr>
          <a:lstStyle/>
          <a:p>
            <a:pPr algn="just">
              <a:spcBef>
                <a:spcPct val="20000"/>
              </a:spcBef>
              <a:defRPr/>
            </a:pPr>
            <a:r>
              <a:rPr lang="en-US" sz="1400" kern="0" err="1">
                <a:latin typeface="Times New Roman" pitchFamily="18" charset="0"/>
                <a:cs typeface="Times New Roman" pitchFamily="18" charset="0"/>
              </a:rPr>
              <a:t>Công</a:t>
            </a:r>
            <a:r>
              <a:rPr lang="en-US" sz="1400" kern="0">
                <a:latin typeface="Times New Roman" pitchFamily="18" charset="0"/>
                <a:cs typeface="Times New Roman" pitchFamily="18" charset="0"/>
              </a:rPr>
              <a:t> </a:t>
            </a:r>
            <a:r>
              <a:rPr lang="en-US" sz="1400" kern="0" err="1">
                <a:latin typeface="Times New Roman" pitchFamily="18" charset="0"/>
                <a:cs typeface="Times New Roman" pitchFamily="18" charset="0"/>
              </a:rPr>
              <a:t>suất</a:t>
            </a:r>
            <a:r>
              <a:rPr lang="en-US" sz="1400" kern="0">
                <a:latin typeface="Times New Roman" pitchFamily="18" charset="0"/>
                <a:cs typeface="Times New Roman" pitchFamily="18" charset="0"/>
              </a:rPr>
              <a:t>: 		P (W)</a:t>
            </a:r>
          </a:p>
          <a:p>
            <a:pPr algn="just">
              <a:spcBef>
                <a:spcPct val="20000"/>
              </a:spcBef>
              <a:defRPr/>
            </a:pPr>
            <a:r>
              <a:rPr lang="en-US" sz="1400" kern="0" err="1">
                <a:latin typeface="Times New Roman" pitchFamily="18" charset="0"/>
                <a:cs typeface="Times New Roman" pitchFamily="18" charset="0"/>
              </a:rPr>
              <a:t>Cường</a:t>
            </a:r>
            <a:r>
              <a:rPr lang="en-US" sz="1400" kern="0">
                <a:latin typeface="Times New Roman" pitchFamily="18" charset="0"/>
                <a:cs typeface="Times New Roman" pitchFamily="18" charset="0"/>
              </a:rPr>
              <a:t> </a:t>
            </a:r>
            <a:r>
              <a:rPr lang="en-US" sz="1400" kern="0" err="1">
                <a:latin typeface="Times New Roman" pitchFamily="18" charset="0"/>
                <a:cs typeface="Times New Roman" pitchFamily="18" charset="0"/>
              </a:rPr>
              <a:t>độ</a:t>
            </a:r>
            <a:r>
              <a:rPr lang="en-US" sz="1400" kern="0">
                <a:latin typeface="Times New Roman" pitchFamily="18" charset="0"/>
                <a:cs typeface="Times New Roman" pitchFamily="18" charset="0"/>
              </a:rPr>
              <a:t>:		I (J/s/</a:t>
            </a:r>
            <a:r>
              <a:rPr lang="en-US" sz="1400" kern="0" err="1">
                <a:latin typeface="Times New Roman" pitchFamily="18" charset="0"/>
                <a:cs typeface="Times New Roman" pitchFamily="18" charset="0"/>
              </a:rPr>
              <a:t>m</a:t>
            </a:r>
            <a:r>
              <a:rPr lang="en-US" sz="1400" kern="0" baseline="30000" err="1">
                <a:latin typeface="Times New Roman" pitchFamily="18" charset="0"/>
                <a:cs typeface="Times New Roman" pitchFamily="18" charset="0"/>
              </a:rPr>
              <a:t>2</a:t>
            </a:r>
            <a:r>
              <a:rPr lang="en-US" sz="1400" kern="0">
                <a:latin typeface="Times New Roman" pitchFamily="18" charset="0"/>
                <a:cs typeface="Times New Roman" pitchFamily="18" charset="0"/>
              </a:rPr>
              <a:t>) = W/</a:t>
            </a:r>
            <a:r>
              <a:rPr lang="en-US" sz="1400" kern="0" err="1">
                <a:latin typeface="Times New Roman" pitchFamily="18" charset="0"/>
                <a:cs typeface="Times New Roman" pitchFamily="18" charset="0"/>
              </a:rPr>
              <a:t>m</a:t>
            </a:r>
            <a:r>
              <a:rPr lang="en-US" sz="1400" kern="0" baseline="30000" err="1">
                <a:latin typeface="Times New Roman" pitchFamily="18" charset="0"/>
                <a:cs typeface="Times New Roman" pitchFamily="18" charset="0"/>
              </a:rPr>
              <a:t>2</a:t>
            </a:r>
            <a:endParaRPr lang="en-US" sz="1400" kern="0" baseline="30000">
              <a:latin typeface="Times New Roman" pitchFamily="18" charset="0"/>
              <a:cs typeface="Times New Roman" pitchFamily="18" charset="0"/>
            </a:endParaRPr>
          </a:p>
          <a:p>
            <a:pPr algn="just">
              <a:spcBef>
                <a:spcPct val="20000"/>
              </a:spcBef>
              <a:defRPr/>
            </a:pPr>
            <a:r>
              <a:rPr lang="en-US" sz="1400" kern="0" err="1">
                <a:latin typeface="Times New Roman" pitchFamily="18" charset="0"/>
                <a:cs typeface="Times New Roman" pitchFamily="18" charset="0"/>
              </a:rPr>
              <a:t>Áp</a:t>
            </a:r>
            <a:r>
              <a:rPr lang="en-US" sz="1400" kern="0">
                <a:latin typeface="Times New Roman" pitchFamily="18" charset="0"/>
                <a:cs typeface="Times New Roman" pitchFamily="18" charset="0"/>
              </a:rPr>
              <a:t> </a:t>
            </a:r>
            <a:r>
              <a:rPr lang="en-US" sz="1400" kern="0" err="1">
                <a:latin typeface="Times New Roman" pitchFamily="18" charset="0"/>
                <a:cs typeface="Times New Roman" pitchFamily="18" charset="0"/>
              </a:rPr>
              <a:t>suất</a:t>
            </a:r>
            <a:r>
              <a:rPr lang="en-US" sz="1400" kern="0">
                <a:latin typeface="Times New Roman" pitchFamily="18" charset="0"/>
                <a:cs typeface="Times New Roman" pitchFamily="18" charset="0"/>
              </a:rPr>
              <a:t>:		p (Pa=N/</a:t>
            </a:r>
            <a:r>
              <a:rPr lang="en-US" sz="1400" kern="0" err="1">
                <a:latin typeface="Times New Roman" pitchFamily="18" charset="0"/>
                <a:cs typeface="Times New Roman" pitchFamily="18" charset="0"/>
              </a:rPr>
              <a:t>m</a:t>
            </a:r>
            <a:r>
              <a:rPr lang="en-US" sz="1400" kern="0" baseline="30000" err="1">
                <a:latin typeface="Times New Roman" pitchFamily="18" charset="0"/>
                <a:cs typeface="Times New Roman" pitchFamily="18" charset="0"/>
              </a:rPr>
              <a:t>2</a:t>
            </a:r>
            <a:r>
              <a:rPr lang="en-US" sz="1400" kern="0">
                <a:latin typeface="Times New Roman" pitchFamily="18" charset="0"/>
                <a:cs typeface="Times New Roman" pitchFamily="18" charset="0"/>
              </a:rPr>
              <a:t>)</a:t>
            </a:r>
            <a:endParaRPr lang="en-US" sz="1400" kern="0" baseline="30000">
              <a:latin typeface="Times New Roman" pitchFamily="18" charset="0"/>
              <a:cs typeface="Times New Roman"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8CCBBE75-E4A6-82F6-1595-E965014189F2}"/>
              </a:ext>
            </a:extLst>
          </p:cNvPr>
          <p:cNvSpPr>
            <a:spLocks noGrp="1"/>
          </p:cNvSpPr>
          <p:nvPr>
            <p:ph type="title"/>
          </p:nvPr>
        </p:nvSpPr>
        <p:spPr bwMode="auto">
          <a:xfrm>
            <a:off x="533400" y="228600"/>
            <a:ext cx="8229600" cy="4111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Phương truyền sóng</a:t>
            </a:r>
          </a:p>
        </p:txBody>
      </p:sp>
      <p:sp>
        <p:nvSpPr>
          <p:cNvPr id="11267" name="Content Placeholder 3">
            <a:extLst>
              <a:ext uri="{FF2B5EF4-FFF2-40B4-BE49-F238E27FC236}">
                <a16:creationId xmlns:a16="http://schemas.microsoft.com/office/drawing/2014/main" id="{24347FEE-5C2B-8AD2-E2B1-13A47260925D}"/>
              </a:ext>
            </a:extLst>
          </p:cNvPr>
          <p:cNvSpPr>
            <a:spLocks noGrp="1"/>
          </p:cNvSpPr>
          <p:nvPr>
            <p:ph sz="half" idx="2"/>
          </p:nvPr>
        </p:nvSpPr>
        <p:spPr>
          <a:xfrm>
            <a:off x="533400" y="5029200"/>
            <a:ext cx="8229600" cy="1143000"/>
          </a:xfrm>
        </p:spPr>
        <p:txBody>
          <a:bodyPr/>
          <a:lstStyle/>
          <a:p>
            <a:pPr>
              <a:buFontTx/>
              <a:buNone/>
            </a:pPr>
            <a:r>
              <a:rPr lang="vi-VN" altLang="en-US">
                <a:solidFill>
                  <a:schemeClr val="tx2"/>
                </a:solidFill>
              </a:rPr>
              <a:t>Khi một lò xo bị nén lại, </a:t>
            </a:r>
            <a:r>
              <a:rPr lang="en-US" altLang="en-US">
                <a:solidFill>
                  <a:schemeClr val="tx2"/>
                </a:solidFill>
              </a:rPr>
              <a:t>chỗ bị nén sẽ chạy dọc theo lò xo. </a:t>
            </a:r>
            <a:r>
              <a:rPr lang="vi-VN" altLang="en-US">
                <a:solidFill>
                  <a:schemeClr val="tx2"/>
                </a:solidFill>
              </a:rPr>
              <a:t>Điều tương tự cũng xảy ra khi các phân tử không khí </a:t>
            </a:r>
            <a:r>
              <a:rPr lang="en-US" altLang="en-US">
                <a:solidFill>
                  <a:schemeClr val="tx2"/>
                </a:solidFill>
              </a:rPr>
              <a:t>bị</a:t>
            </a:r>
            <a:r>
              <a:rPr lang="vi-VN" altLang="en-US">
                <a:solidFill>
                  <a:schemeClr val="tx2"/>
                </a:solidFill>
              </a:rPr>
              <a:t> nén và </a:t>
            </a:r>
            <a:r>
              <a:rPr lang="en-US" altLang="en-US">
                <a:solidFill>
                  <a:schemeClr val="tx2"/>
                </a:solidFill>
              </a:rPr>
              <a:t>dãn ra</a:t>
            </a:r>
            <a:r>
              <a:rPr lang="vi-VN" altLang="en-US">
                <a:solidFill>
                  <a:schemeClr val="tx2"/>
                </a:solidFill>
              </a:rPr>
              <a:t>; các</a:t>
            </a:r>
            <a:r>
              <a:rPr lang="en-US" altLang="en-US">
                <a:solidFill>
                  <a:schemeClr val="tx2"/>
                </a:solidFill>
              </a:rPr>
              <a:t> chỗ </a:t>
            </a:r>
            <a:r>
              <a:rPr lang="vi-VN" altLang="en-US">
                <a:solidFill>
                  <a:schemeClr val="tx2"/>
                </a:solidFill>
              </a:rPr>
              <a:t>'nén' và ‘</a:t>
            </a:r>
            <a:r>
              <a:rPr lang="en-US" altLang="en-US">
                <a:solidFill>
                  <a:schemeClr val="tx2"/>
                </a:solidFill>
              </a:rPr>
              <a:t>dãn</a:t>
            </a:r>
            <a:r>
              <a:rPr lang="vi-VN" altLang="en-US">
                <a:solidFill>
                  <a:schemeClr val="tx2"/>
                </a:solidFill>
              </a:rPr>
              <a:t>' hoặc thay đổi áp suất </a:t>
            </a:r>
            <a:r>
              <a:rPr lang="en-US" altLang="en-US">
                <a:solidFill>
                  <a:schemeClr val="tx2"/>
                </a:solidFill>
              </a:rPr>
              <a:t>được di chuyển và </a:t>
            </a:r>
            <a:r>
              <a:rPr lang="vi-VN" altLang="en-US">
                <a:solidFill>
                  <a:schemeClr val="tx2"/>
                </a:solidFill>
              </a:rPr>
              <a:t>tỏa </a:t>
            </a:r>
            <a:r>
              <a:rPr lang="en-US" altLang="en-US">
                <a:solidFill>
                  <a:schemeClr val="tx2"/>
                </a:solidFill>
              </a:rPr>
              <a:t>ra </a:t>
            </a:r>
            <a:r>
              <a:rPr lang="vi-VN" altLang="en-US">
                <a:solidFill>
                  <a:schemeClr val="tx2"/>
                </a:solidFill>
              </a:rPr>
              <a:t>trong không khí.</a:t>
            </a:r>
            <a:endParaRPr lang="en-US" altLang="en-US">
              <a:solidFill>
                <a:schemeClr val="tx2"/>
              </a:solidFill>
            </a:endParaRPr>
          </a:p>
          <a:p>
            <a:pPr>
              <a:buFontTx/>
              <a:buChar char="•"/>
            </a:pPr>
            <a:endParaRPr lang="en-US" altLang="en-US"/>
          </a:p>
        </p:txBody>
      </p:sp>
      <p:sp>
        <p:nvSpPr>
          <p:cNvPr id="11268" name="Footer Placeholder 4">
            <a:extLst>
              <a:ext uri="{FF2B5EF4-FFF2-40B4-BE49-F238E27FC236}">
                <a16:creationId xmlns:a16="http://schemas.microsoft.com/office/drawing/2014/main" id="{979597BF-BDF0-5AAE-835F-6CD9A9DC50DA}"/>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US" altLang="en-US">
                <a:latin typeface="Times New Roman" panose="02020603050405020304" pitchFamily="18" charset="0"/>
              </a:rPr>
              <a:t>Viện Đo lường Việt nam</a:t>
            </a:r>
          </a:p>
          <a:p>
            <a:pPr algn="l" eaLnBrk="1" hangingPunct="1"/>
            <a:r>
              <a:rPr lang="en-US" altLang="en-US">
                <a:latin typeface="Times New Roman" panose="02020603050405020304" pitchFamily="18" charset="0"/>
              </a:rPr>
              <a:t>Việt nam Metrology Institute</a:t>
            </a:r>
          </a:p>
          <a:p>
            <a:pPr algn="l" eaLnBrk="1" hangingPunct="1"/>
            <a:endParaRPr lang="en-US" altLang="en-US">
              <a:latin typeface="Times New Roman" panose="02020603050405020304" pitchFamily="18" charset="0"/>
            </a:endParaRPr>
          </a:p>
          <a:p>
            <a:pPr eaLnBrk="1" hangingPunct="1"/>
            <a:endParaRPr lang="en-US" altLang="en-US">
              <a:latin typeface=".VnHelvetInsH" pitchFamily="34" charset="0"/>
            </a:endParaRPr>
          </a:p>
        </p:txBody>
      </p:sp>
      <p:sp>
        <p:nvSpPr>
          <p:cNvPr id="11269" name="Slide Number Placeholder 5">
            <a:extLst>
              <a:ext uri="{FF2B5EF4-FFF2-40B4-BE49-F238E27FC236}">
                <a16:creationId xmlns:a16="http://schemas.microsoft.com/office/drawing/2014/main" id="{692B96F4-D7F4-DF6C-778F-1139E35055C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A194B47-75BA-40A6-AAC5-2982600A5B8E}" type="slidenum">
              <a:rPr lang="en-US" altLang="en-US">
                <a:latin typeface="Times New Roman" panose="02020603050405020304" pitchFamily="18" charset="0"/>
              </a:rPr>
              <a:pPr eaLnBrk="1" hangingPunct="1"/>
              <a:t>8</a:t>
            </a:fld>
            <a:endParaRPr lang="en-US" altLang="en-US">
              <a:latin typeface="Times New Roman" panose="02020603050405020304" pitchFamily="18" charset="0"/>
            </a:endParaRPr>
          </a:p>
        </p:txBody>
      </p:sp>
      <p:pic>
        <p:nvPicPr>
          <p:cNvPr id="11270" name="Picture 2">
            <a:extLst>
              <a:ext uri="{FF2B5EF4-FFF2-40B4-BE49-F238E27FC236}">
                <a16:creationId xmlns:a16="http://schemas.microsoft.com/office/drawing/2014/main" id="{149173BF-DF53-E8F0-805A-C8E15A0C165B}"/>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1452563" y="838200"/>
            <a:ext cx="6086475" cy="3657600"/>
          </a:xfr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0845E30C-6152-72B1-FFB1-B8E99348766C}"/>
              </a:ext>
            </a:extLst>
          </p:cNvPr>
          <p:cNvSpPr>
            <a:spLocks noGrp="1"/>
          </p:cNvSpPr>
          <p:nvPr>
            <p:ph type="title"/>
          </p:nvPr>
        </p:nvSpPr>
        <p:spPr bwMode="auto">
          <a:xfrm>
            <a:off x="533400" y="228600"/>
            <a:ext cx="8229600" cy="4111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Áp suất âm</a:t>
            </a:r>
          </a:p>
        </p:txBody>
      </p:sp>
      <p:sp>
        <p:nvSpPr>
          <p:cNvPr id="12291" name="Content Placeholder 3">
            <a:extLst>
              <a:ext uri="{FF2B5EF4-FFF2-40B4-BE49-F238E27FC236}">
                <a16:creationId xmlns:a16="http://schemas.microsoft.com/office/drawing/2014/main" id="{38F5126A-4E7A-7334-E39E-4C5DE395E61A}"/>
              </a:ext>
            </a:extLst>
          </p:cNvPr>
          <p:cNvSpPr>
            <a:spLocks noGrp="1"/>
          </p:cNvSpPr>
          <p:nvPr>
            <p:ph sz="half" idx="2"/>
          </p:nvPr>
        </p:nvSpPr>
        <p:spPr>
          <a:xfrm>
            <a:off x="533400" y="4267200"/>
            <a:ext cx="8229600" cy="1905000"/>
          </a:xfrm>
        </p:spPr>
        <p:txBody>
          <a:bodyPr/>
          <a:lstStyle/>
          <a:p>
            <a:pPr>
              <a:buFontTx/>
              <a:buNone/>
            </a:pPr>
            <a:r>
              <a:rPr lang="vi-VN" altLang="en-US"/>
              <a:t>Khi một nguồn âm thanh như một </a:t>
            </a:r>
            <a:r>
              <a:rPr lang="en-US" altLang="en-US"/>
              <a:t>cái tuning fork rung </a:t>
            </a:r>
            <a:r>
              <a:rPr lang="vi-VN" altLang="en-US"/>
              <a:t>nó </a:t>
            </a:r>
            <a:r>
              <a:rPr lang="en-US" altLang="en-US"/>
              <a:t>sẽ gây ra sự </a:t>
            </a:r>
            <a:r>
              <a:rPr lang="vi-VN" altLang="en-US"/>
              <a:t>biến đổi </a:t>
            </a:r>
            <a:r>
              <a:rPr lang="en-US" altLang="en-US"/>
              <a:t>áp suất </a:t>
            </a:r>
            <a:r>
              <a:rPr lang="vi-VN" altLang="en-US"/>
              <a:t>trong không khí xung quanh. </a:t>
            </a:r>
            <a:r>
              <a:rPr lang="en-US" altLang="en-US"/>
              <a:t>S</a:t>
            </a:r>
            <a:r>
              <a:rPr lang="vi-VN" altLang="en-US"/>
              <a:t>ự </a:t>
            </a:r>
            <a:r>
              <a:rPr lang="en-US" altLang="en-US"/>
              <a:t>lan truyền của sự</a:t>
            </a:r>
            <a:r>
              <a:rPr lang="vi-VN" altLang="en-US"/>
              <a:t> thay đổi áp suất </a:t>
            </a:r>
            <a:r>
              <a:rPr lang="en-US" altLang="en-US"/>
              <a:t>này </a:t>
            </a:r>
            <a:r>
              <a:rPr lang="vi-VN" altLang="en-US"/>
              <a:t>có thể</a:t>
            </a:r>
            <a:r>
              <a:rPr lang="en-US" altLang="en-US"/>
              <a:t> </a:t>
            </a:r>
            <a:r>
              <a:rPr lang="vi-VN" altLang="en-US"/>
              <a:t>được so sánh với những gợn sóng trong một</a:t>
            </a:r>
            <a:r>
              <a:rPr lang="en-US" altLang="en-US"/>
              <a:t> cái</a:t>
            </a:r>
            <a:r>
              <a:rPr lang="vi-VN" altLang="en-US"/>
              <a:t> ao </a:t>
            </a:r>
            <a:r>
              <a:rPr lang="en-US" altLang="en-US"/>
              <a:t>khi ném</a:t>
            </a:r>
            <a:r>
              <a:rPr lang="vi-VN" altLang="en-US"/>
              <a:t> một hòn đá xuống nước</a:t>
            </a:r>
            <a:r>
              <a:rPr lang="en-US" altLang="en-US"/>
              <a:t>. Các gợn sóng này lan ra từ điểm hòn đá chạm mặt nước. Tuy nhiên nước thì không tự nó di chuyển ra xa  mà chỉ di chuyển lên xuống tạo ra các gợn sóng trên bề mặt. . Âm thanh cũng giống như vậy, cái ao là không khí, và gợn sóng là kết quả của sóng âm</a:t>
            </a:r>
          </a:p>
          <a:p>
            <a:pPr>
              <a:buFontTx/>
              <a:buChar char="•"/>
            </a:pPr>
            <a:endParaRPr lang="en-US" altLang="en-US"/>
          </a:p>
        </p:txBody>
      </p:sp>
      <p:sp>
        <p:nvSpPr>
          <p:cNvPr id="12292" name="Footer Placeholder 4">
            <a:extLst>
              <a:ext uri="{FF2B5EF4-FFF2-40B4-BE49-F238E27FC236}">
                <a16:creationId xmlns:a16="http://schemas.microsoft.com/office/drawing/2014/main" id="{CB093F38-8357-1198-272B-CA8DC4332618}"/>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US" altLang="en-US">
                <a:latin typeface="Times New Roman" panose="02020603050405020304" pitchFamily="18" charset="0"/>
              </a:rPr>
              <a:t>Viện Đo lường Việt nam</a:t>
            </a:r>
          </a:p>
          <a:p>
            <a:pPr algn="l" eaLnBrk="1" hangingPunct="1"/>
            <a:r>
              <a:rPr lang="en-US" altLang="en-US">
                <a:latin typeface="Times New Roman" panose="02020603050405020304" pitchFamily="18" charset="0"/>
              </a:rPr>
              <a:t>Việt nam Metrology Institute</a:t>
            </a:r>
          </a:p>
          <a:p>
            <a:pPr algn="l" eaLnBrk="1" hangingPunct="1"/>
            <a:endParaRPr lang="en-US" altLang="en-US" sz="1800"/>
          </a:p>
          <a:p>
            <a:pPr eaLnBrk="1" hangingPunct="1"/>
            <a:endParaRPr lang="en-US" altLang="en-US">
              <a:latin typeface=".VnHelvetInsH" pitchFamily="34" charset="0"/>
            </a:endParaRPr>
          </a:p>
        </p:txBody>
      </p:sp>
      <p:sp>
        <p:nvSpPr>
          <p:cNvPr id="12293" name="Slide Number Placeholder 5">
            <a:extLst>
              <a:ext uri="{FF2B5EF4-FFF2-40B4-BE49-F238E27FC236}">
                <a16:creationId xmlns:a16="http://schemas.microsoft.com/office/drawing/2014/main" id="{28E4F49E-613C-1461-32E8-2267075075E0}"/>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4ABAB7F-EB63-42B5-8452-95260E48472E}" type="slidenum">
              <a:rPr lang="en-US" altLang="en-US">
                <a:latin typeface="Times New Roman" panose="02020603050405020304" pitchFamily="18" charset="0"/>
              </a:rPr>
              <a:pPr eaLnBrk="1" hangingPunct="1"/>
              <a:t>9</a:t>
            </a:fld>
            <a:endParaRPr lang="en-US" altLang="en-US">
              <a:latin typeface="Times New Roman" panose="02020603050405020304" pitchFamily="18" charset="0"/>
            </a:endParaRPr>
          </a:p>
        </p:txBody>
      </p:sp>
      <p:pic>
        <p:nvPicPr>
          <p:cNvPr id="12294" name="Picture 2">
            <a:extLst>
              <a:ext uri="{FF2B5EF4-FFF2-40B4-BE49-F238E27FC236}">
                <a16:creationId xmlns:a16="http://schemas.microsoft.com/office/drawing/2014/main" id="{F61B6F9D-E5D6-E893-314B-A36D28263024}"/>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1795463" y="762000"/>
            <a:ext cx="5400675" cy="3352800"/>
          </a:xfr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A2A18FDF-3B4A-0A54-140C-9FE9AE111A01}"/>
              </a:ext>
            </a:extLst>
          </p:cNvPr>
          <p:cNvSpPr>
            <a:spLocks noGrp="1"/>
          </p:cNvSpPr>
          <p:nvPr>
            <p:ph type="title"/>
          </p:nvPr>
        </p:nvSpPr>
        <p:spPr bwMode="auto">
          <a:xfrm>
            <a:off x="533400" y="228600"/>
            <a:ext cx="8229600" cy="4111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Áp suất âm</a:t>
            </a:r>
          </a:p>
        </p:txBody>
      </p:sp>
      <p:sp>
        <p:nvSpPr>
          <p:cNvPr id="13315" name="Content Placeholder 3">
            <a:extLst>
              <a:ext uri="{FF2B5EF4-FFF2-40B4-BE49-F238E27FC236}">
                <a16:creationId xmlns:a16="http://schemas.microsoft.com/office/drawing/2014/main" id="{EDA8C041-8427-38B2-C634-30F19A60FA4D}"/>
              </a:ext>
            </a:extLst>
          </p:cNvPr>
          <p:cNvSpPr>
            <a:spLocks noGrp="1"/>
          </p:cNvSpPr>
          <p:nvPr>
            <p:ph sz="half" idx="2"/>
          </p:nvPr>
        </p:nvSpPr>
        <p:spPr>
          <a:xfrm>
            <a:off x="533400" y="4800600"/>
            <a:ext cx="8229600" cy="1371600"/>
          </a:xfrm>
        </p:spPr>
        <p:txBody>
          <a:bodyPr/>
          <a:lstStyle/>
          <a:p>
            <a:pPr>
              <a:buFontTx/>
              <a:buNone/>
            </a:pPr>
            <a:r>
              <a:rPr lang="en-US" altLang="en-US">
                <a:solidFill>
                  <a:schemeClr val="tx2"/>
                </a:solidFill>
              </a:rPr>
              <a:t>Áp suất âm chồng thêm vào áp suất tĩnh của môi trường</a:t>
            </a:r>
          </a:p>
        </p:txBody>
      </p:sp>
      <p:sp>
        <p:nvSpPr>
          <p:cNvPr id="13316" name="Footer Placeholder 4">
            <a:extLst>
              <a:ext uri="{FF2B5EF4-FFF2-40B4-BE49-F238E27FC236}">
                <a16:creationId xmlns:a16="http://schemas.microsoft.com/office/drawing/2014/main" id="{0CCD165F-94AB-DC8F-0A99-981828956858}"/>
              </a:ext>
            </a:extLst>
          </p:cNvPr>
          <p:cNvSpPr>
            <a:spLocks noGrp="1"/>
          </p:cNvSpPr>
          <p:nvPr>
            <p:ph type="ftr" sz="quarter" idx="10"/>
          </p:nvPr>
        </p:nvSpPr>
        <p:spPr>
          <a:xfrm>
            <a:off x="1143000" y="6172200"/>
            <a:ext cx="2514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US" altLang="en-US">
                <a:latin typeface="Times New Roman" panose="02020603050405020304" pitchFamily="18" charset="0"/>
              </a:rPr>
              <a:t>Viện Đo lường Việt nam</a:t>
            </a:r>
          </a:p>
          <a:p>
            <a:pPr algn="l" eaLnBrk="1" hangingPunct="1"/>
            <a:r>
              <a:rPr lang="en-US" altLang="en-US">
                <a:latin typeface="Times New Roman" panose="02020603050405020304" pitchFamily="18" charset="0"/>
              </a:rPr>
              <a:t>Việt nam Metrology Institute</a:t>
            </a:r>
          </a:p>
          <a:p>
            <a:pPr algn="l" eaLnBrk="1" hangingPunct="1"/>
            <a:endParaRPr lang="en-US" altLang="en-US">
              <a:latin typeface="Times New Roman" panose="02020603050405020304" pitchFamily="18" charset="0"/>
            </a:endParaRPr>
          </a:p>
          <a:p>
            <a:pPr eaLnBrk="1" hangingPunct="1"/>
            <a:endParaRPr lang="en-US" altLang="en-US">
              <a:latin typeface=".VnHelvetInsH" pitchFamily="34" charset="0"/>
            </a:endParaRPr>
          </a:p>
        </p:txBody>
      </p:sp>
      <p:sp>
        <p:nvSpPr>
          <p:cNvPr id="13317" name="Slide Number Placeholder 5">
            <a:extLst>
              <a:ext uri="{FF2B5EF4-FFF2-40B4-BE49-F238E27FC236}">
                <a16:creationId xmlns:a16="http://schemas.microsoft.com/office/drawing/2014/main" id="{CDC08E7B-D334-3ED7-5F57-B8D257B7121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E85C5D9-7F81-4AD0-9689-E6CB3BA065EB}" type="slidenum">
              <a:rPr lang="en-US" altLang="en-US">
                <a:latin typeface="Times New Roman" panose="02020603050405020304" pitchFamily="18" charset="0"/>
              </a:rPr>
              <a:pPr eaLnBrk="1" hangingPunct="1"/>
              <a:t>10</a:t>
            </a:fld>
            <a:endParaRPr lang="en-US" altLang="en-US">
              <a:latin typeface="Times New Roman" panose="02020603050405020304" pitchFamily="18" charset="0"/>
            </a:endParaRPr>
          </a:p>
        </p:txBody>
      </p:sp>
      <p:pic>
        <p:nvPicPr>
          <p:cNvPr id="13318" name="Picture 2">
            <a:extLst>
              <a:ext uri="{FF2B5EF4-FFF2-40B4-BE49-F238E27FC236}">
                <a16:creationId xmlns:a16="http://schemas.microsoft.com/office/drawing/2014/main" id="{66AD0198-3F0F-5160-F506-69FCE52FD942}"/>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1055688" y="762000"/>
            <a:ext cx="6880225" cy="3733800"/>
          </a:xfr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714A4B0C-1449-31EE-6F38-4C7D733151AA}"/>
              </a:ext>
            </a:extLst>
          </p:cNvPr>
          <p:cNvSpPr>
            <a:spLocks noGrp="1"/>
          </p:cNvSpPr>
          <p:nvPr>
            <p:ph type="title"/>
          </p:nvPr>
        </p:nvSpPr>
        <p:spPr bwMode="auto">
          <a:xfrm>
            <a:off x="533400" y="228600"/>
            <a:ext cx="8229600" cy="4111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Phạm vi của áp suất âm thanh</a:t>
            </a:r>
          </a:p>
        </p:txBody>
      </p:sp>
      <p:sp>
        <p:nvSpPr>
          <p:cNvPr id="14339" name="Content Placeholder 3">
            <a:extLst>
              <a:ext uri="{FF2B5EF4-FFF2-40B4-BE49-F238E27FC236}">
                <a16:creationId xmlns:a16="http://schemas.microsoft.com/office/drawing/2014/main" id="{DFF10F2E-5433-B4B3-D13F-77C9041EA785}"/>
              </a:ext>
            </a:extLst>
          </p:cNvPr>
          <p:cNvSpPr>
            <a:spLocks noGrp="1"/>
          </p:cNvSpPr>
          <p:nvPr>
            <p:ph sz="half" idx="2"/>
          </p:nvPr>
        </p:nvSpPr>
        <p:spPr/>
        <p:txBody>
          <a:bodyPr/>
          <a:lstStyle/>
          <a:p>
            <a:pPr>
              <a:buFontTx/>
              <a:buNone/>
            </a:pPr>
            <a:r>
              <a:rPr lang="en-US" altLang="en-US">
                <a:solidFill>
                  <a:schemeClr val="tx2"/>
                </a:solidFill>
              </a:rPr>
              <a:t>Nếu so sánh với áp suất tĩnh thì dao động của áp suất âm thanh nghe được rất nhỏ từ 20µPa đến 100 Pa. 20µPa là âm thanh nhỏ nhất mà một người bình thường có thể nghe thấy và do đó nó được gọi là ngưỡng nghe. Ap suất âm thanh lên tới xấp xỉ 100 Pa có thể gây đau và do đó được gọi là ngưỡng đau. Tỉ số giữa hai thái cực này lên đến hơn1 triệu lần, do đo việc sử dụng thang đo tuyến tính trong đo lường âm thanh sẽ dẫn đến những con số khổng lồ và khó sử dụng.  Thêm nữa tai người có phản ứng không tuyến tính mà theo hàm mũ đối với đại lượng này. Vì các nguyên nhân này người ta đã tìm cách thể hiện thực tế hơn cho thống </a:t>
            </a:r>
            <a:r>
              <a:rPr lang="vi-VN" altLang="en-US">
                <a:solidFill>
                  <a:schemeClr val="tx2"/>
                </a:solidFill>
              </a:rPr>
              <a:t>số âm thanh </a:t>
            </a:r>
            <a:r>
              <a:rPr lang="en-US" altLang="en-US">
                <a:solidFill>
                  <a:schemeClr val="tx2"/>
                </a:solidFill>
              </a:rPr>
              <a:t>bằng</a:t>
            </a:r>
            <a:r>
              <a:rPr lang="vi-VN" altLang="en-US">
                <a:solidFill>
                  <a:schemeClr val="tx2"/>
                </a:solidFill>
              </a:rPr>
              <a:t> một tỷ lệ logarit của giá trị đo được để một</a:t>
            </a:r>
            <a:r>
              <a:rPr lang="en-US" altLang="en-US">
                <a:solidFill>
                  <a:schemeClr val="tx2"/>
                </a:solidFill>
              </a:rPr>
              <a:t> </a:t>
            </a:r>
            <a:r>
              <a:rPr lang="vi-VN" altLang="en-US">
                <a:solidFill>
                  <a:schemeClr val="tx2"/>
                </a:solidFill>
              </a:rPr>
              <a:t>giá trị </a:t>
            </a:r>
            <a:r>
              <a:rPr lang="en-US" altLang="en-US">
                <a:solidFill>
                  <a:schemeClr val="tx2"/>
                </a:solidFill>
              </a:rPr>
              <a:t>tham chiếu</a:t>
            </a:r>
            <a:r>
              <a:rPr lang="vi-VN" altLang="en-US">
                <a:solidFill>
                  <a:schemeClr val="tx2"/>
                </a:solidFill>
              </a:rPr>
              <a:t> – </a:t>
            </a:r>
            <a:r>
              <a:rPr lang="en-US" altLang="en-US">
                <a:solidFill>
                  <a:schemeClr val="tx2"/>
                </a:solidFill>
              </a:rPr>
              <a:t>được </a:t>
            </a:r>
            <a:r>
              <a:rPr lang="vi-VN" altLang="en-US">
                <a:solidFill>
                  <a:schemeClr val="tx2"/>
                </a:solidFill>
              </a:rPr>
              <a:t>gọi là decibel </a:t>
            </a:r>
            <a:r>
              <a:rPr lang="en-US" altLang="en-US"/>
              <a:t>ký hiệu là</a:t>
            </a:r>
            <a:r>
              <a:rPr lang="vi-VN" altLang="en-US"/>
              <a:t> dB</a:t>
            </a:r>
            <a:r>
              <a:rPr lang="vi-VN" altLang="en-US">
                <a:solidFill>
                  <a:schemeClr val="tx2"/>
                </a:solidFill>
              </a:rPr>
              <a:t>.</a:t>
            </a:r>
            <a:endParaRPr lang="en-US" altLang="en-US"/>
          </a:p>
        </p:txBody>
      </p:sp>
      <p:sp>
        <p:nvSpPr>
          <p:cNvPr id="14340" name="Footer Placeholder 4">
            <a:extLst>
              <a:ext uri="{FF2B5EF4-FFF2-40B4-BE49-F238E27FC236}">
                <a16:creationId xmlns:a16="http://schemas.microsoft.com/office/drawing/2014/main" id="{45F6000B-952D-1515-1011-19C8661AFBD4}"/>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US" altLang="en-US">
                <a:latin typeface="Times New Roman" panose="02020603050405020304" pitchFamily="18" charset="0"/>
              </a:rPr>
              <a:t>Viện Đo lường Việt nam</a:t>
            </a:r>
          </a:p>
          <a:p>
            <a:pPr algn="l" eaLnBrk="1" hangingPunct="1"/>
            <a:r>
              <a:rPr lang="en-US" altLang="en-US">
                <a:latin typeface="Times New Roman" panose="02020603050405020304" pitchFamily="18" charset="0"/>
              </a:rPr>
              <a:t>Việt nam Metrology Institute</a:t>
            </a:r>
          </a:p>
          <a:p>
            <a:pPr algn="l" eaLnBrk="1" hangingPunct="1"/>
            <a:endParaRPr lang="en-US" altLang="en-US">
              <a:latin typeface="Times New Roman" panose="02020603050405020304" pitchFamily="18" charset="0"/>
            </a:endParaRPr>
          </a:p>
          <a:p>
            <a:pPr eaLnBrk="1" hangingPunct="1"/>
            <a:endParaRPr lang="en-US" altLang="en-US">
              <a:latin typeface=".VnHelvetInsH" pitchFamily="34" charset="0"/>
            </a:endParaRPr>
          </a:p>
        </p:txBody>
      </p:sp>
      <p:sp>
        <p:nvSpPr>
          <p:cNvPr id="14341" name="Slide Number Placeholder 5">
            <a:extLst>
              <a:ext uri="{FF2B5EF4-FFF2-40B4-BE49-F238E27FC236}">
                <a16:creationId xmlns:a16="http://schemas.microsoft.com/office/drawing/2014/main" id="{CF27DD21-F9AF-5F83-0C39-901215E56422}"/>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449D4FC-CF0D-47F8-AE95-D68B2B7C4B57}" type="slidenum">
              <a:rPr lang="en-US" altLang="en-US">
                <a:latin typeface="Times New Roman" panose="02020603050405020304" pitchFamily="18" charset="0"/>
              </a:rPr>
              <a:pPr eaLnBrk="1" hangingPunct="1"/>
              <a:t>11</a:t>
            </a:fld>
            <a:endParaRPr lang="en-US" altLang="en-US">
              <a:latin typeface="Times New Roman" panose="02020603050405020304" pitchFamily="18" charset="0"/>
            </a:endParaRPr>
          </a:p>
        </p:txBody>
      </p:sp>
      <p:pic>
        <p:nvPicPr>
          <p:cNvPr id="14342" name="Picture 2">
            <a:extLst>
              <a:ext uri="{FF2B5EF4-FFF2-40B4-BE49-F238E27FC236}">
                <a16:creationId xmlns:a16="http://schemas.microsoft.com/office/drawing/2014/main" id="{47BAA8E2-F3EC-E8A2-A2E2-E00B417CFE1D}"/>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3187700" y="762000"/>
            <a:ext cx="2921000" cy="2667000"/>
          </a:xfr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0AD6E62C-C7DF-067B-BB0B-47E470C3D03E}"/>
              </a:ext>
            </a:extLst>
          </p:cNvPr>
          <p:cNvSpPr>
            <a:spLocks noGrp="1"/>
          </p:cNvSpPr>
          <p:nvPr>
            <p:ph type="title"/>
          </p:nvPr>
        </p:nvSpPr>
        <p:spPr bwMode="auto">
          <a:xfrm>
            <a:off x="533400" y="228600"/>
            <a:ext cx="8229600" cy="4111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Phạm vi của áp suất âm thanh</a:t>
            </a:r>
          </a:p>
        </p:txBody>
      </p:sp>
      <p:sp>
        <p:nvSpPr>
          <p:cNvPr id="15363" name="Content Placeholder 3">
            <a:extLst>
              <a:ext uri="{FF2B5EF4-FFF2-40B4-BE49-F238E27FC236}">
                <a16:creationId xmlns:a16="http://schemas.microsoft.com/office/drawing/2014/main" id="{E26A870B-93BF-03B1-10D5-524C67F26643}"/>
              </a:ext>
            </a:extLst>
          </p:cNvPr>
          <p:cNvSpPr>
            <a:spLocks noGrp="1"/>
          </p:cNvSpPr>
          <p:nvPr>
            <p:ph sz="half" idx="2"/>
          </p:nvPr>
        </p:nvSpPr>
        <p:spPr>
          <a:xfrm>
            <a:off x="533400" y="5105400"/>
            <a:ext cx="8229600" cy="1066800"/>
          </a:xfrm>
        </p:spPr>
        <p:txBody>
          <a:bodyPr/>
          <a:lstStyle/>
          <a:p>
            <a:pPr>
              <a:buFontTx/>
              <a:buNone/>
            </a:pPr>
            <a:r>
              <a:rPr lang="en-US" altLang="en-US"/>
              <a:t>U</a:t>
            </a:r>
            <a:r>
              <a:rPr lang="vi-VN" altLang="en-US"/>
              <a:t>u điểm của việc sử dụng của dB là thấy rõ </a:t>
            </a:r>
            <a:r>
              <a:rPr lang="en-US" altLang="en-US"/>
              <a:t>trên hình</a:t>
            </a:r>
            <a:r>
              <a:rPr lang="vi-VN" altLang="en-US"/>
              <a:t>. </a:t>
            </a:r>
            <a:r>
              <a:rPr lang="en-US" altLang="en-US"/>
              <a:t>Thang</a:t>
            </a:r>
            <a:r>
              <a:rPr lang="vi-VN" altLang="en-US"/>
              <a:t> tuyến tính với </a:t>
            </a:r>
            <a:r>
              <a:rPr lang="en-US" altLang="en-US"/>
              <a:t>sự </a:t>
            </a:r>
            <a:r>
              <a:rPr lang="vi-VN" altLang="en-US"/>
              <a:t>cồng kềnh của </a:t>
            </a:r>
            <a:r>
              <a:rPr lang="en-US" altLang="en-US"/>
              <a:t>các con số </a:t>
            </a:r>
            <a:r>
              <a:rPr lang="vi-VN" altLang="en-US"/>
              <a:t>được chuyển đổi thành một </a:t>
            </a:r>
            <a:r>
              <a:rPr lang="en-US" altLang="en-US"/>
              <a:t>thang dễ kiểm soát hơn</a:t>
            </a:r>
            <a:r>
              <a:rPr lang="vi-VN" altLang="en-US"/>
              <a:t> từ 0 dB tại ngưỡng </a:t>
            </a:r>
            <a:r>
              <a:rPr lang="en-US" altLang="en-US"/>
              <a:t>nghe </a:t>
            </a:r>
            <a:r>
              <a:rPr lang="vi-VN" altLang="en-US"/>
              <a:t>(20 µPa) đến 130 dB </a:t>
            </a:r>
            <a:r>
              <a:rPr lang="en-US" altLang="en-US"/>
              <a:t>tại</a:t>
            </a:r>
            <a:r>
              <a:rPr lang="vi-VN" altLang="en-US"/>
              <a:t> ngưỡng đau</a:t>
            </a:r>
            <a:endParaRPr lang="en-US" altLang="en-US"/>
          </a:p>
          <a:p>
            <a:pPr>
              <a:buFontTx/>
              <a:buChar char="•"/>
            </a:pPr>
            <a:endParaRPr lang="en-US" altLang="en-US"/>
          </a:p>
        </p:txBody>
      </p:sp>
      <p:sp>
        <p:nvSpPr>
          <p:cNvPr id="15364" name="Footer Placeholder 4">
            <a:extLst>
              <a:ext uri="{FF2B5EF4-FFF2-40B4-BE49-F238E27FC236}">
                <a16:creationId xmlns:a16="http://schemas.microsoft.com/office/drawing/2014/main" id="{D6FAAFD6-8D38-8BAC-16F7-7FBE22FD84E0}"/>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US" altLang="en-US">
                <a:latin typeface="Times New Roman" panose="02020603050405020304" pitchFamily="18" charset="0"/>
              </a:rPr>
              <a:t>Viện Đo lường Việt nam</a:t>
            </a:r>
          </a:p>
          <a:p>
            <a:pPr algn="l" eaLnBrk="1" hangingPunct="1"/>
            <a:r>
              <a:rPr lang="en-US" altLang="en-US">
                <a:latin typeface="Times New Roman" panose="02020603050405020304" pitchFamily="18" charset="0"/>
              </a:rPr>
              <a:t>Việt nam Metrology Institute</a:t>
            </a:r>
          </a:p>
          <a:p>
            <a:pPr algn="l" eaLnBrk="1" hangingPunct="1"/>
            <a:endParaRPr lang="en-US" altLang="en-US" sz="1800"/>
          </a:p>
          <a:p>
            <a:pPr eaLnBrk="1" hangingPunct="1"/>
            <a:endParaRPr lang="en-US" altLang="en-US">
              <a:latin typeface=".VnHelvetInsH" pitchFamily="34" charset="0"/>
            </a:endParaRPr>
          </a:p>
        </p:txBody>
      </p:sp>
      <p:sp>
        <p:nvSpPr>
          <p:cNvPr id="15365" name="Slide Number Placeholder 5">
            <a:extLst>
              <a:ext uri="{FF2B5EF4-FFF2-40B4-BE49-F238E27FC236}">
                <a16:creationId xmlns:a16="http://schemas.microsoft.com/office/drawing/2014/main" id="{35622B22-A0A1-A967-BBAA-F435A6570874}"/>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C9AC1B8-3310-48CC-A0AE-53AD6A9774A6}" type="slidenum">
              <a:rPr lang="en-US" altLang="en-US">
                <a:latin typeface="Times New Roman" panose="02020603050405020304" pitchFamily="18" charset="0"/>
              </a:rPr>
              <a:pPr eaLnBrk="1" hangingPunct="1"/>
              <a:t>12</a:t>
            </a:fld>
            <a:endParaRPr lang="en-US" altLang="en-US">
              <a:latin typeface="Times New Roman" panose="02020603050405020304" pitchFamily="18" charset="0"/>
            </a:endParaRPr>
          </a:p>
        </p:txBody>
      </p:sp>
      <p:pic>
        <p:nvPicPr>
          <p:cNvPr id="15366" name="Picture 2">
            <a:extLst>
              <a:ext uri="{FF2B5EF4-FFF2-40B4-BE49-F238E27FC236}">
                <a16:creationId xmlns:a16="http://schemas.microsoft.com/office/drawing/2014/main" id="{8622AD91-0E0A-854A-F4C2-E187DF59ECF4}"/>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1219200" y="762000"/>
            <a:ext cx="6553200" cy="3962400"/>
          </a:xfr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0B7183F2-7534-D0D3-5584-0CD089EF28AF}"/>
              </a:ext>
            </a:extLst>
          </p:cNvPr>
          <p:cNvSpPr>
            <a:spLocks noGrp="1"/>
          </p:cNvSpPr>
          <p:nvPr>
            <p:ph type="title"/>
          </p:nvPr>
        </p:nvSpPr>
        <p:spPr bwMode="auto">
          <a:xfrm>
            <a:off x="533400" y="228600"/>
            <a:ext cx="8229600" cy="4111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dB – đề xi ben</a:t>
            </a:r>
          </a:p>
        </p:txBody>
      </p:sp>
      <p:sp>
        <p:nvSpPr>
          <p:cNvPr id="16387" name="Content Placeholder 3">
            <a:extLst>
              <a:ext uri="{FF2B5EF4-FFF2-40B4-BE49-F238E27FC236}">
                <a16:creationId xmlns:a16="http://schemas.microsoft.com/office/drawing/2014/main" id="{9D6795D9-570C-479B-E69B-16964F1CEC06}"/>
              </a:ext>
            </a:extLst>
          </p:cNvPr>
          <p:cNvSpPr>
            <a:spLocks noGrp="1"/>
          </p:cNvSpPr>
          <p:nvPr>
            <p:ph sz="half" idx="2"/>
          </p:nvPr>
        </p:nvSpPr>
        <p:spPr>
          <a:xfrm>
            <a:off x="533400" y="4191000"/>
            <a:ext cx="8229600" cy="1981200"/>
          </a:xfrm>
        </p:spPr>
        <p:txBody>
          <a:bodyPr/>
          <a:lstStyle/>
          <a:p>
            <a:pPr>
              <a:buFontTx/>
              <a:buNone/>
            </a:pPr>
            <a:r>
              <a:rPr lang="en-US" altLang="en-US">
                <a:solidFill>
                  <a:schemeClr val="tx2"/>
                </a:solidFill>
              </a:rPr>
              <a:t>Mức áp suất âm thanh L</a:t>
            </a:r>
            <a:r>
              <a:rPr lang="en-US" altLang="en-US" baseline="-25000">
                <a:solidFill>
                  <a:schemeClr val="tx2"/>
                </a:solidFill>
              </a:rPr>
              <a:t>p </a:t>
            </a:r>
            <a:r>
              <a:rPr lang="en-US" altLang="en-US">
                <a:solidFill>
                  <a:schemeClr val="tx2"/>
                </a:solidFill>
              </a:rPr>
              <a:t> (dB) được định nghĩa bằng 20 log p/p</a:t>
            </a:r>
            <a:r>
              <a:rPr lang="en-US" altLang="en-US" baseline="-25000">
                <a:solidFill>
                  <a:schemeClr val="tx2"/>
                </a:solidFill>
              </a:rPr>
              <a:t>0</a:t>
            </a:r>
            <a:r>
              <a:rPr lang="en-US" altLang="en-US">
                <a:solidFill>
                  <a:schemeClr val="tx2"/>
                </a:solidFill>
              </a:rPr>
              <a:t> , trong đó p là áp suất đo được bằng Pa, và p</a:t>
            </a:r>
            <a:r>
              <a:rPr lang="en-US" altLang="en-US" baseline="-25000">
                <a:solidFill>
                  <a:schemeClr val="tx2"/>
                </a:solidFill>
              </a:rPr>
              <a:t>0</a:t>
            </a:r>
            <a:r>
              <a:rPr lang="en-US" altLang="en-US">
                <a:solidFill>
                  <a:schemeClr val="tx2"/>
                </a:solidFill>
              </a:rPr>
              <a:t>  là áp suất âm tham chiếu được tiêu chuẩn hóa bằng 20µPa . </a:t>
            </a:r>
            <a:r>
              <a:rPr lang="vi-VN" altLang="en-US">
                <a:solidFill>
                  <a:schemeClr val="tx2"/>
                </a:solidFill>
              </a:rPr>
              <a:t>Lưu ý ở đây </a:t>
            </a:r>
            <a:r>
              <a:rPr lang="en-US" altLang="en-US">
                <a:solidFill>
                  <a:schemeClr val="tx2"/>
                </a:solidFill>
              </a:rPr>
              <a:t>từ mức </a:t>
            </a:r>
            <a:r>
              <a:rPr lang="vi-VN" altLang="en-US">
                <a:solidFill>
                  <a:schemeClr val="tx2"/>
                </a:solidFill>
              </a:rPr>
              <a:t>được thêm vào áp suất âm thanh</a:t>
            </a:r>
            <a:r>
              <a:rPr lang="en-US" altLang="en-US">
                <a:solidFill>
                  <a:schemeClr val="tx2"/>
                </a:solidFill>
              </a:rPr>
              <a:t> </a:t>
            </a:r>
            <a:r>
              <a:rPr lang="vi-VN" altLang="en-US">
                <a:solidFill>
                  <a:schemeClr val="tx2"/>
                </a:solidFill>
              </a:rPr>
              <a:t>để chỉ ra rằng </a:t>
            </a:r>
            <a:r>
              <a:rPr lang="en-US" altLang="en-US">
                <a:solidFill>
                  <a:schemeClr val="tx2"/>
                </a:solidFill>
              </a:rPr>
              <a:t>đại lượng này </a:t>
            </a:r>
            <a:r>
              <a:rPr lang="vi-VN" altLang="en-US">
                <a:solidFill>
                  <a:schemeClr val="tx2"/>
                </a:solidFill>
              </a:rPr>
              <a:t>có một mức độ nhất định trên </a:t>
            </a:r>
            <a:r>
              <a:rPr lang="en-US" altLang="en-US">
                <a:solidFill>
                  <a:schemeClr val="tx2"/>
                </a:solidFill>
              </a:rPr>
              <a:t>so với một giá trị tham chiếu và kí hiệu</a:t>
            </a:r>
            <a:r>
              <a:rPr lang="vi-VN" altLang="en-US">
                <a:solidFill>
                  <a:schemeClr val="tx2"/>
                </a:solidFill>
              </a:rPr>
              <a:t> cho mức áp suất âm thanh</a:t>
            </a:r>
            <a:r>
              <a:rPr lang="en-US" altLang="en-US">
                <a:solidFill>
                  <a:schemeClr val="tx2"/>
                </a:solidFill>
              </a:rPr>
              <a:t> là L</a:t>
            </a:r>
            <a:r>
              <a:rPr lang="en-US" altLang="en-US" baseline="-25000">
                <a:solidFill>
                  <a:schemeClr val="tx2"/>
                </a:solidFill>
              </a:rPr>
              <a:t>P</a:t>
            </a:r>
            <a:r>
              <a:rPr lang="en-US" altLang="en-US">
                <a:solidFill>
                  <a:schemeClr val="tx2"/>
                </a:solidFill>
              </a:rPr>
              <a:t> . Trên</a:t>
            </a:r>
            <a:r>
              <a:rPr lang="vi-VN" altLang="en-US">
                <a:solidFill>
                  <a:schemeClr val="tx2"/>
                </a:solidFill>
              </a:rPr>
              <a:t> hình minh hoạ</a:t>
            </a:r>
            <a:r>
              <a:rPr lang="en-US" altLang="en-US">
                <a:solidFill>
                  <a:schemeClr val="tx2"/>
                </a:solidFill>
              </a:rPr>
              <a:t> là h</a:t>
            </a:r>
            <a:r>
              <a:rPr lang="vi-VN" altLang="en-US">
                <a:solidFill>
                  <a:schemeClr val="tx2"/>
                </a:solidFill>
              </a:rPr>
              <a:t>ai ví dụ về cách sử dụng các công thức tính mức dB</a:t>
            </a:r>
            <a:r>
              <a:rPr lang="en-US" altLang="en-US">
                <a:solidFill>
                  <a:schemeClr val="tx2"/>
                </a:solidFill>
              </a:rPr>
              <a:t> và </a:t>
            </a:r>
            <a:r>
              <a:rPr lang="vi-VN" altLang="en-US">
                <a:solidFill>
                  <a:schemeClr val="tx2"/>
                </a:solidFill>
              </a:rPr>
              <a:t> hai </a:t>
            </a:r>
            <a:r>
              <a:rPr lang="en-US" altLang="en-US">
                <a:solidFill>
                  <a:schemeClr val="tx2"/>
                </a:solidFill>
              </a:rPr>
              <a:t>là hai mức thường được sử dụng trong thiết bị hiệu chuẩn máy đo độ ồn.</a:t>
            </a:r>
            <a:endParaRPr lang="en-US" altLang="en-US" baseline="30000">
              <a:solidFill>
                <a:schemeClr val="tx2"/>
              </a:solidFill>
            </a:endParaRPr>
          </a:p>
          <a:p>
            <a:pPr>
              <a:buFontTx/>
              <a:buChar char="•"/>
            </a:pPr>
            <a:endParaRPr lang="en-US" altLang="en-US"/>
          </a:p>
        </p:txBody>
      </p:sp>
      <p:sp>
        <p:nvSpPr>
          <p:cNvPr id="16388" name="Footer Placeholder 4">
            <a:extLst>
              <a:ext uri="{FF2B5EF4-FFF2-40B4-BE49-F238E27FC236}">
                <a16:creationId xmlns:a16="http://schemas.microsoft.com/office/drawing/2014/main" id="{D3235D53-F78C-9E74-BBC8-946F01A85CAE}"/>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US" altLang="en-US">
                <a:latin typeface="Times New Roman" panose="02020603050405020304" pitchFamily="18" charset="0"/>
              </a:rPr>
              <a:t>Viện Đo lường Việt nam</a:t>
            </a:r>
          </a:p>
          <a:p>
            <a:pPr algn="l" eaLnBrk="1" hangingPunct="1"/>
            <a:r>
              <a:rPr lang="en-US" altLang="en-US">
                <a:latin typeface="Times New Roman" panose="02020603050405020304" pitchFamily="18" charset="0"/>
              </a:rPr>
              <a:t>Việt nam Metrology Institute</a:t>
            </a:r>
          </a:p>
          <a:p>
            <a:pPr algn="l" eaLnBrk="1" hangingPunct="1"/>
            <a:endParaRPr lang="en-US" altLang="en-US" sz="1800"/>
          </a:p>
          <a:p>
            <a:pPr eaLnBrk="1" hangingPunct="1"/>
            <a:endParaRPr lang="en-US" altLang="en-US">
              <a:latin typeface=".VnHelvetInsH" pitchFamily="34" charset="0"/>
            </a:endParaRPr>
          </a:p>
        </p:txBody>
      </p:sp>
      <p:sp>
        <p:nvSpPr>
          <p:cNvPr id="16389" name="Slide Number Placeholder 5">
            <a:extLst>
              <a:ext uri="{FF2B5EF4-FFF2-40B4-BE49-F238E27FC236}">
                <a16:creationId xmlns:a16="http://schemas.microsoft.com/office/drawing/2014/main" id="{BD9E77B1-5D24-892C-395E-93A4F9FF33E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C2744DA-05D0-4DBB-B92D-12BF29D8FBF5}" type="slidenum">
              <a:rPr lang="en-US" altLang="en-US">
                <a:latin typeface="Times New Roman" panose="02020603050405020304" pitchFamily="18" charset="0"/>
              </a:rPr>
              <a:pPr eaLnBrk="1" hangingPunct="1"/>
              <a:t>13</a:t>
            </a:fld>
            <a:endParaRPr lang="en-US" altLang="en-US">
              <a:latin typeface="Times New Roman" panose="02020603050405020304" pitchFamily="18" charset="0"/>
            </a:endParaRPr>
          </a:p>
        </p:txBody>
      </p:sp>
      <p:pic>
        <p:nvPicPr>
          <p:cNvPr id="16390" name="Picture 4">
            <a:extLst>
              <a:ext uri="{FF2B5EF4-FFF2-40B4-BE49-F238E27FC236}">
                <a16:creationId xmlns:a16="http://schemas.microsoft.com/office/drawing/2014/main" id="{01FEE519-00F6-9959-AFF8-A6F592596CFD}"/>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1397000" y="762000"/>
            <a:ext cx="6197600" cy="3276600"/>
          </a:xfr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0DB38D04-EC99-7A0B-935A-C45FDD56DCD5}"/>
              </a:ext>
            </a:extLst>
          </p:cNvPr>
          <p:cNvSpPr>
            <a:spLocks noGrp="1"/>
          </p:cNvSpPr>
          <p:nvPr>
            <p:ph type="title"/>
          </p:nvPr>
        </p:nvSpPr>
        <p:spPr bwMode="auto">
          <a:xfrm>
            <a:off x="533400" y="228600"/>
            <a:ext cx="8229600" cy="4111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dB – đề xi ben</a:t>
            </a:r>
          </a:p>
        </p:txBody>
      </p:sp>
      <p:graphicFrame>
        <p:nvGraphicFramePr>
          <p:cNvPr id="7" name="Content Placeholder 6">
            <a:extLst>
              <a:ext uri="{FF2B5EF4-FFF2-40B4-BE49-F238E27FC236}">
                <a16:creationId xmlns:a16="http://schemas.microsoft.com/office/drawing/2014/main" id="{B798DD39-A49C-E83B-76C5-806B359F16A1}"/>
              </a:ext>
            </a:extLst>
          </p:cNvPr>
          <p:cNvGraphicFramePr>
            <a:graphicFrameLocks noGrp="1"/>
          </p:cNvGraphicFramePr>
          <p:nvPr>
            <p:ph sz="half" idx="1"/>
          </p:nvPr>
        </p:nvGraphicFramePr>
        <p:xfrm>
          <a:off x="1981200" y="838200"/>
          <a:ext cx="5486400" cy="2225676"/>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2971800">
                  <a:extLst>
                    <a:ext uri="{9D8B030D-6E8A-4147-A177-3AD203B41FA5}">
                      <a16:colId xmlns:a16="http://schemas.microsoft.com/office/drawing/2014/main" val="20001"/>
                    </a:ext>
                  </a:extLst>
                </a:gridCol>
              </a:tblGrid>
              <a:tr h="370946">
                <a:tc>
                  <a:txBody>
                    <a:bodyPr/>
                    <a:lstStyle/>
                    <a:p>
                      <a:pPr algn="ctr"/>
                      <a:r>
                        <a:rPr lang="en-US" sz="1400" dirty="0" err="1">
                          <a:latin typeface="Times New Roman" pitchFamily="18" charset="0"/>
                          <a:cs typeface="Times New Roman" pitchFamily="18" charset="0"/>
                        </a:rPr>
                        <a:t>Sự</a:t>
                      </a:r>
                      <a:r>
                        <a:rPr lang="en-US" sz="1400" baseline="0" dirty="0">
                          <a:latin typeface="Times New Roman" pitchFamily="18" charset="0"/>
                          <a:cs typeface="Times New Roman" pitchFamily="18" charset="0"/>
                        </a:rPr>
                        <a:t> </a:t>
                      </a:r>
                      <a:r>
                        <a:rPr lang="en-US" sz="1400" baseline="0" dirty="0" err="1">
                          <a:latin typeface="Times New Roman" pitchFamily="18" charset="0"/>
                          <a:cs typeface="Times New Roman" pitchFamily="18" charset="0"/>
                        </a:rPr>
                        <a:t>thay</a:t>
                      </a:r>
                      <a:r>
                        <a:rPr lang="en-US" sz="1400" baseline="0" dirty="0">
                          <a:latin typeface="Times New Roman" pitchFamily="18" charset="0"/>
                          <a:cs typeface="Times New Roman" pitchFamily="18" charset="0"/>
                        </a:rPr>
                        <a:t> </a:t>
                      </a:r>
                      <a:r>
                        <a:rPr lang="en-US" sz="1400" baseline="0" dirty="0" err="1">
                          <a:latin typeface="Times New Roman" pitchFamily="18" charset="0"/>
                          <a:cs typeface="Times New Roman" pitchFamily="18" charset="0"/>
                        </a:rPr>
                        <a:t>đổi</a:t>
                      </a:r>
                      <a:r>
                        <a:rPr lang="en-US" sz="1400" baseline="0" dirty="0">
                          <a:latin typeface="Times New Roman" pitchFamily="18" charset="0"/>
                          <a:cs typeface="Times New Roman" pitchFamily="18" charset="0"/>
                        </a:rPr>
                        <a:t> </a:t>
                      </a:r>
                      <a:r>
                        <a:rPr lang="en-US" sz="1400" baseline="0" dirty="0" err="1">
                          <a:latin typeface="Times New Roman" pitchFamily="18" charset="0"/>
                          <a:cs typeface="Times New Roman" pitchFamily="18" charset="0"/>
                        </a:rPr>
                        <a:t>mức</a:t>
                      </a:r>
                      <a:r>
                        <a:rPr lang="en-US" sz="1400" baseline="0" dirty="0">
                          <a:latin typeface="Times New Roman" pitchFamily="18" charset="0"/>
                          <a:cs typeface="Times New Roman" pitchFamily="18" charset="0"/>
                        </a:rPr>
                        <a:t> </a:t>
                      </a:r>
                      <a:r>
                        <a:rPr lang="en-US" sz="1400" baseline="0" dirty="0" err="1">
                          <a:latin typeface="Times New Roman" pitchFamily="18" charset="0"/>
                          <a:cs typeface="Times New Roman" pitchFamily="18" charset="0"/>
                        </a:rPr>
                        <a:t>âm</a:t>
                      </a:r>
                      <a:endParaRPr lang="en-US" sz="1400" dirty="0">
                        <a:latin typeface="Times New Roman" pitchFamily="18" charset="0"/>
                        <a:cs typeface="Times New Roman" pitchFamily="18" charset="0"/>
                      </a:endParaRPr>
                    </a:p>
                  </a:txBody>
                  <a:tcPr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err="1">
                          <a:latin typeface="Times New Roman" pitchFamily="18" charset="0"/>
                          <a:cs typeface="Times New Roman" pitchFamily="18" charset="0"/>
                        </a:rPr>
                        <a:t>C</a:t>
                      </a:r>
                      <a:r>
                        <a:rPr lang="en-US" sz="1400" baseline="0" dirty="0" err="1">
                          <a:latin typeface="Times New Roman" pitchFamily="18" charset="0"/>
                          <a:cs typeface="Times New Roman" pitchFamily="18" charset="0"/>
                        </a:rPr>
                        <a:t>ảm</a:t>
                      </a:r>
                      <a:r>
                        <a:rPr lang="en-US" sz="1400" baseline="0" dirty="0">
                          <a:latin typeface="Times New Roman" pitchFamily="18" charset="0"/>
                          <a:cs typeface="Times New Roman" pitchFamily="18" charset="0"/>
                        </a:rPr>
                        <a:t> </a:t>
                      </a:r>
                      <a:r>
                        <a:rPr lang="en-US" sz="1400" baseline="0" dirty="0" err="1">
                          <a:latin typeface="Times New Roman" pitchFamily="18" charset="0"/>
                          <a:cs typeface="Times New Roman" pitchFamily="18" charset="0"/>
                        </a:rPr>
                        <a:t>nhận</a:t>
                      </a:r>
                      <a:r>
                        <a:rPr lang="en-US" sz="1400" baseline="0" dirty="0">
                          <a:latin typeface="Times New Roman" pitchFamily="18" charset="0"/>
                          <a:cs typeface="Times New Roman" pitchFamily="18" charset="0"/>
                        </a:rPr>
                        <a:t> </a:t>
                      </a:r>
                      <a:r>
                        <a:rPr lang="en-US" sz="1400" baseline="0" dirty="0" err="1">
                          <a:latin typeface="Times New Roman" pitchFamily="18" charset="0"/>
                          <a:cs typeface="Times New Roman" pitchFamily="18" charset="0"/>
                        </a:rPr>
                        <a:t>sự</a:t>
                      </a:r>
                      <a:r>
                        <a:rPr lang="en-US" sz="1400" baseline="0" dirty="0">
                          <a:latin typeface="Times New Roman" pitchFamily="18" charset="0"/>
                          <a:cs typeface="Times New Roman" pitchFamily="18" charset="0"/>
                        </a:rPr>
                        <a:t> </a:t>
                      </a:r>
                      <a:r>
                        <a:rPr lang="en-US" sz="1400" baseline="0" dirty="0" err="1">
                          <a:latin typeface="Times New Roman" pitchFamily="18" charset="0"/>
                          <a:cs typeface="Times New Roman" pitchFamily="18" charset="0"/>
                        </a:rPr>
                        <a:t>thay</a:t>
                      </a:r>
                      <a:r>
                        <a:rPr lang="en-US" sz="1400" baseline="0" dirty="0">
                          <a:latin typeface="Times New Roman" pitchFamily="18" charset="0"/>
                          <a:cs typeface="Times New Roman" pitchFamily="18" charset="0"/>
                        </a:rPr>
                        <a:t> </a:t>
                      </a:r>
                      <a:r>
                        <a:rPr lang="en-US" sz="1400" baseline="0" dirty="0" err="1">
                          <a:latin typeface="Times New Roman" pitchFamily="18" charset="0"/>
                          <a:cs typeface="Times New Roman" pitchFamily="18" charset="0"/>
                        </a:rPr>
                        <a:t>đổi</a:t>
                      </a:r>
                      <a:r>
                        <a:rPr lang="en-US" sz="1400" baseline="0" dirty="0">
                          <a:latin typeface="Times New Roman" pitchFamily="18" charset="0"/>
                          <a:cs typeface="Times New Roman" pitchFamily="18" charset="0"/>
                        </a:rPr>
                        <a:t> </a:t>
                      </a:r>
                      <a:r>
                        <a:rPr lang="en-US" sz="1400" baseline="0" dirty="0" err="1">
                          <a:latin typeface="Times New Roman" pitchFamily="18" charset="0"/>
                          <a:cs typeface="Times New Roman" pitchFamily="18" charset="0"/>
                        </a:rPr>
                        <a:t>về</a:t>
                      </a:r>
                      <a:r>
                        <a:rPr lang="en-US" sz="1400" baseline="0" dirty="0">
                          <a:latin typeface="Times New Roman" pitchFamily="18" charset="0"/>
                          <a:cs typeface="Times New Roman" pitchFamily="18" charset="0"/>
                        </a:rPr>
                        <a:t> </a:t>
                      </a:r>
                      <a:r>
                        <a:rPr lang="en-US" sz="1400" baseline="0" dirty="0" err="1">
                          <a:latin typeface="Times New Roman" pitchFamily="18" charset="0"/>
                          <a:cs typeface="Times New Roman" pitchFamily="18" charset="0"/>
                        </a:rPr>
                        <a:t>độ</a:t>
                      </a:r>
                      <a:r>
                        <a:rPr lang="en-US" sz="1400" baseline="0" dirty="0">
                          <a:latin typeface="Times New Roman" pitchFamily="18" charset="0"/>
                          <a:cs typeface="Times New Roman" pitchFamily="18" charset="0"/>
                        </a:rPr>
                        <a:t> to</a:t>
                      </a:r>
                      <a:endParaRPr lang="en-US" sz="1400" dirty="0">
                        <a:latin typeface="Times New Roman" pitchFamily="18" charset="0"/>
                        <a:cs typeface="Times New Roman" pitchFamily="18" charset="0"/>
                      </a:endParaRPr>
                    </a:p>
                  </a:txBody>
                  <a:tcPr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70946">
                <a:tc>
                  <a:txBody>
                    <a:bodyPr/>
                    <a:lstStyle/>
                    <a:p>
                      <a:pPr algn="ctr"/>
                      <a:r>
                        <a:rPr lang="en-US" sz="1400" dirty="0">
                          <a:latin typeface="Times New Roman" pitchFamily="18" charset="0"/>
                          <a:cs typeface="Times New Roman" pitchFamily="18" charset="0"/>
                        </a:rPr>
                        <a:t>3</a:t>
                      </a:r>
                    </a:p>
                  </a:txBody>
                  <a:tcPr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latin typeface="Times New Roman" pitchFamily="18" charset="0"/>
                          <a:cs typeface="Times New Roman" pitchFamily="18" charset="0"/>
                        </a:rPr>
                        <a:t>C</a:t>
                      </a:r>
                      <a:r>
                        <a:rPr lang="vi-VN" sz="1400" dirty="0">
                          <a:latin typeface="Times New Roman" pitchFamily="18" charset="0"/>
                          <a:cs typeface="Times New Roman" pitchFamily="18" charset="0"/>
                        </a:rPr>
                        <a:t>hỉ </a:t>
                      </a:r>
                      <a:r>
                        <a:rPr lang="en-US" sz="1400" dirty="0" err="1">
                          <a:latin typeface="Times New Roman" pitchFamily="18" charset="0"/>
                          <a:cs typeface="Times New Roman" pitchFamily="18" charset="0"/>
                        </a:rPr>
                        <a:t>hơi</a:t>
                      </a:r>
                      <a:r>
                        <a:rPr lang="vi-VN" sz="1400" dirty="0">
                          <a:latin typeface="Times New Roman" pitchFamily="18" charset="0"/>
                          <a:cs typeface="Times New Roman" pitchFamily="18" charset="0"/>
                        </a:rPr>
                        <a:t> cảm nhận được</a:t>
                      </a:r>
                      <a:endParaRPr lang="en-US" sz="1400" dirty="0">
                        <a:latin typeface="Times New Roman" pitchFamily="18" charset="0"/>
                        <a:cs typeface="Times New Roman" pitchFamily="18" charset="0"/>
                      </a:endParaRPr>
                    </a:p>
                  </a:txBody>
                  <a:tcPr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70946">
                <a:tc>
                  <a:txBody>
                    <a:bodyPr/>
                    <a:lstStyle/>
                    <a:p>
                      <a:pPr algn="ctr"/>
                      <a:r>
                        <a:rPr lang="en-US" sz="1400" dirty="0">
                          <a:latin typeface="Times New Roman" pitchFamily="18" charset="0"/>
                          <a:cs typeface="Times New Roman" pitchFamily="18" charset="0"/>
                        </a:rPr>
                        <a:t>5</a:t>
                      </a:r>
                    </a:p>
                  </a:txBody>
                  <a:tcPr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err="1">
                          <a:latin typeface="Times New Roman" pitchFamily="18" charset="0"/>
                          <a:cs typeface="Times New Roman" pitchFamily="18" charset="0"/>
                        </a:rPr>
                        <a:t>Thấy</a:t>
                      </a:r>
                      <a:r>
                        <a:rPr lang="en-US" sz="1400" baseline="0" dirty="0">
                          <a:latin typeface="Times New Roman" pitchFamily="18" charset="0"/>
                          <a:cs typeface="Times New Roman" pitchFamily="18" charset="0"/>
                        </a:rPr>
                        <a:t> </a:t>
                      </a:r>
                      <a:r>
                        <a:rPr lang="en-US" sz="1400" baseline="0" dirty="0" err="1">
                          <a:latin typeface="Times New Roman" pitchFamily="18" charset="0"/>
                          <a:cs typeface="Times New Roman" pitchFamily="18" charset="0"/>
                        </a:rPr>
                        <a:t>có</a:t>
                      </a:r>
                      <a:r>
                        <a:rPr lang="en-US" sz="1400" baseline="0" dirty="0">
                          <a:latin typeface="Times New Roman" pitchFamily="18" charset="0"/>
                          <a:cs typeface="Times New Roman" pitchFamily="18" charset="0"/>
                        </a:rPr>
                        <a:t> </a:t>
                      </a:r>
                      <a:r>
                        <a:rPr lang="en-US" sz="1400" baseline="0" dirty="0" err="1">
                          <a:latin typeface="Times New Roman" pitchFamily="18" charset="0"/>
                          <a:cs typeface="Times New Roman" pitchFamily="18" charset="0"/>
                        </a:rPr>
                        <a:t>khác</a:t>
                      </a:r>
                      <a:r>
                        <a:rPr lang="en-US" sz="1400" baseline="0" dirty="0">
                          <a:latin typeface="Times New Roman" pitchFamily="18" charset="0"/>
                          <a:cs typeface="Times New Roman" pitchFamily="18" charset="0"/>
                        </a:rPr>
                        <a:t> </a:t>
                      </a:r>
                      <a:r>
                        <a:rPr lang="en-US" sz="1400" baseline="0" dirty="0" err="1">
                          <a:latin typeface="Times New Roman" pitchFamily="18" charset="0"/>
                          <a:cs typeface="Times New Roman" pitchFamily="18" charset="0"/>
                        </a:rPr>
                        <a:t>biệt</a:t>
                      </a:r>
                      <a:r>
                        <a:rPr lang="en-US" sz="1400" baseline="0" dirty="0">
                          <a:latin typeface="Times New Roman" pitchFamily="18" charset="0"/>
                          <a:cs typeface="Times New Roman" pitchFamily="18" charset="0"/>
                        </a:rPr>
                        <a:t> </a:t>
                      </a:r>
                      <a:r>
                        <a:rPr lang="en-US" sz="1400" baseline="0" dirty="0" err="1">
                          <a:latin typeface="Times New Roman" pitchFamily="18" charset="0"/>
                          <a:cs typeface="Times New Roman" pitchFamily="18" charset="0"/>
                        </a:rPr>
                        <a:t>đáng</a:t>
                      </a:r>
                      <a:r>
                        <a:rPr lang="en-US" sz="1400" baseline="0" dirty="0">
                          <a:latin typeface="Times New Roman" pitchFamily="18" charset="0"/>
                          <a:cs typeface="Times New Roman" pitchFamily="18" charset="0"/>
                        </a:rPr>
                        <a:t> </a:t>
                      </a:r>
                      <a:r>
                        <a:rPr lang="en-US" sz="1400" baseline="0" dirty="0" err="1">
                          <a:latin typeface="Times New Roman" pitchFamily="18" charset="0"/>
                          <a:cs typeface="Times New Roman" pitchFamily="18" charset="0"/>
                        </a:rPr>
                        <a:t>lưu</a:t>
                      </a:r>
                      <a:r>
                        <a:rPr lang="en-US" sz="1400" baseline="0" dirty="0">
                          <a:latin typeface="Times New Roman" pitchFamily="18" charset="0"/>
                          <a:cs typeface="Times New Roman" pitchFamily="18" charset="0"/>
                        </a:rPr>
                        <a:t> ý</a:t>
                      </a:r>
                      <a:endParaRPr lang="en-US" sz="1400" dirty="0">
                        <a:latin typeface="Times New Roman" pitchFamily="18" charset="0"/>
                        <a:cs typeface="Times New Roman" pitchFamily="18" charset="0"/>
                      </a:endParaRPr>
                    </a:p>
                  </a:txBody>
                  <a:tcPr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70946">
                <a:tc>
                  <a:txBody>
                    <a:bodyPr/>
                    <a:lstStyle/>
                    <a:p>
                      <a:pPr algn="ctr"/>
                      <a:r>
                        <a:rPr lang="en-US" sz="1400" dirty="0">
                          <a:latin typeface="Times New Roman" pitchFamily="18" charset="0"/>
                          <a:cs typeface="Times New Roman" pitchFamily="18" charset="0"/>
                        </a:rPr>
                        <a:t>10</a:t>
                      </a:r>
                    </a:p>
                  </a:txBody>
                  <a:tcPr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latin typeface="Times New Roman" pitchFamily="18" charset="0"/>
                          <a:cs typeface="Times New Roman" pitchFamily="18" charset="0"/>
                        </a:rPr>
                        <a:t>To </a:t>
                      </a:r>
                      <a:r>
                        <a:rPr lang="en-US" sz="1400" dirty="0" err="1">
                          <a:latin typeface="Times New Roman" pitchFamily="18" charset="0"/>
                          <a:cs typeface="Times New Roman" pitchFamily="18" charset="0"/>
                        </a:rPr>
                        <a:t>gấp</a:t>
                      </a:r>
                      <a:r>
                        <a:rPr lang="en-US" sz="1400" baseline="0" dirty="0">
                          <a:latin typeface="Times New Roman" pitchFamily="18" charset="0"/>
                          <a:cs typeface="Times New Roman" pitchFamily="18" charset="0"/>
                        </a:rPr>
                        <a:t> 2 </a:t>
                      </a:r>
                      <a:r>
                        <a:rPr lang="en-US" sz="1400" baseline="0" dirty="0" err="1">
                          <a:latin typeface="Times New Roman" pitchFamily="18" charset="0"/>
                          <a:cs typeface="Times New Roman" pitchFamily="18" charset="0"/>
                        </a:rPr>
                        <a:t>lần</a:t>
                      </a:r>
                      <a:endParaRPr lang="en-US" sz="1400" dirty="0">
                        <a:latin typeface="Times New Roman" pitchFamily="18" charset="0"/>
                        <a:cs typeface="Times New Roman" pitchFamily="18" charset="0"/>
                      </a:endParaRPr>
                    </a:p>
                  </a:txBody>
                  <a:tcPr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370946">
                <a:tc>
                  <a:txBody>
                    <a:bodyPr/>
                    <a:lstStyle/>
                    <a:p>
                      <a:pPr algn="ctr"/>
                      <a:r>
                        <a:rPr lang="en-US" sz="1400" dirty="0">
                          <a:latin typeface="Times New Roman" pitchFamily="18" charset="0"/>
                          <a:cs typeface="Times New Roman" pitchFamily="18" charset="0"/>
                        </a:rPr>
                        <a:t>15</a:t>
                      </a:r>
                    </a:p>
                  </a:txBody>
                  <a:tcPr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err="1">
                          <a:latin typeface="Times New Roman" pitchFamily="18" charset="0"/>
                          <a:cs typeface="Times New Roman" pitchFamily="18" charset="0"/>
                        </a:rPr>
                        <a:t>Thay</a:t>
                      </a:r>
                      <a:r>
                        <a:rPr lang="en-US" sz="1400" dirty="0">
                          <a:latin typeface="Times New Roman" pitchFamily="18" charset="0"/>
                          <a:cs typeface="Times New Roman" pitchFamily="18" charset="0"/>
                        </a:rPr>
                        <a:t> </a:t>
                      </a:r>
                      <a:r>
                        <a:rPr lang="en-US" sz="1400" dirty="0" err="1">
                          <a:latin typeface="Times New Roman" pitchFamily="18" charset="0"/>
                          <a:cs typeface="Times New Roman" pitchFamily="18" charset="0"/>
                        </a:rPr>
                        <a:t>đổi</a:t>
                      </a:r>
                      <a:r>
                        <a:rPr lang="en-US" sz="1400" baseline="0" dirty="0">
                          <a:latin typeface="Times New Roman" pitchFamily="18" charset="0"/>
                          <a:cs typeface="Times New Roman" pitchFamily="18" charset="0"/>
                        </a:rPr>
                        <a:t> </a:t>
                      </a:r>
                      <a:r>
                        <a:rPr lang="en-US" sz="1400" baseline="0" dirty="0" err="1">
                          <a:latin typeface="Times New Roman" pitchFamily="18" charset="0"/>
                          <a:cs typeface="Times New Roman" pitchFamily="18" charset="0"/>
                        </a:rPr>
                        <a:t>lớn</a:t>
                      </a:r>
                      <a:endParaRPr lang="en-US" sz="1400" dirty="0">
                        <a:latin typeface="Times New Roman" pitchFamily="18" charset="0"/>
                        <a:cs typeface="Times New Roman" pitchFamily="18" charset="0"/>
                      </a:endParaRPr>
                    </a:p>
                  </a:txBody>
                  <a:tcPr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370946">
                <a:tc>
                  <a:txBody>
                    <a:bodyPr/>
                    <a:lstStyle/>
                    <a:p>
                      <a:pPr algn="ctr"/>
                      <a:r>
                        <a:rPr lang="en-US" sz="1400" dirty="0">
                          <a:latin typeface="Times New Roman" pitchFamily="18" charset="0"/>
                          <a:cs typeface="Times New Roman" pitchFamily="18" charset="0"/>
                        </a:rPr>
                        <a:t>20</a:t>
                      </a:r>
                    </a:p>
                  </a:txBody>
                  <a:tcPr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400" dirty="0">
                          <a:latin typeface="Times New Roman" pitchFamily="18" charset="0"/>
                          <a:cs typeface="Times New Roman" pitchFamily="18" charset="0"/>
                        </a:rPr>
                        <a:t>To </a:t>
                      </a:r>
                      <a:r>
                        <a:rPr lang="en-US" sz="1400" dirty="0" err="1">
                          <a:latin typeface="Times New Roman" pitchFamily="18" charset="0"/>
                          <a:cs typeface="Times New Roman" pitchFamily="18" charset="0"/>
                        </a:rPr>
                        <a:t>gấp</a:t>
                      </a:r>
                      <a:r>
                        <a:rPr lang="en-US" sz="1400" baseline="0" dirty="0">
                          <a:latin typeface="Times New Roman" pitchFamily="18" charset="0"/>
                          <a:cs typeface="Times New Roman" pitchFamily="18" charset="0"/>
                        </a:rPr>
                        <a:t> 4 </a:t>
                      </a:r>
                      <a:r>
                        <a:rPr lang="en-US" sz="1400" baseline="0" dirty="0" err="1">
                          <a:latin typeface="Times New Roman" pitchFamily="18" charset="0"/>
                          <a:cs typeface="Times New Roman" pitchFamily="18" charset="0"/>
                        </a:rPr>
                        <a:t>lần</a:t>
                      </a:r>
                      <a:endParaRPr lang="en-US" sz="1400" dirty="0">
                        <a:latin typeface="Times New Roman" pitchFamily="18" charset="0"/>
                        <a:cs typeface="Times New Roman" pitchFamily="18" charset="0"/>
                      </a:endParaRPr>
                    </a:p>
                  </a:txBody>
                  <a:tcPr marT="45733" marB="4573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bl>
          </a:graphicData>
        </a:graphic>
      </p:graphicFrame>
      <p:sp>
        <p:nvSpPr>
          <p:cNvPr id="17434" name="Content Placeholder 3">
            <a:extLst>
              <a:ext uri="{FF2B5EF4-FFF2-40B4-BE49-F238E27FC236}">
                <a16:creationId xmlns:a16="http://schemas.microsoft.com/office/drawing/2014/main" id="{2365D5B5-4C57-7761-7B0B-512372F56461}"/>
              </a:ext>
            </a:extLst>
          </p:cNvPr>
          <p:cNvSpPr>
            <a:spLocks noGrp="1"/>
          </p:cNvSpPr>
          <p:nvPr>
            <p:ph sz="half" idx="2"/>
          </p:nvPr>
        </p:nvSpPr>
        <p:spPr>
          <a:xfrm>
            <a:off x="381000" y="3581400"/>
            <a:ext cx="8229600" cy="1905000"/>
          </a:xfrm>
        </p:spPr>
        <p:txBody>
          <a:bodyPr/>
          <a:lstStyle/>
          <a:p>
            <a:pPr>
              <a:buFontTx/>
              <a:buNone/>
            </a:pPr>
            <a:r>
              <a:rPr lang="en-US" altLang="en-US">
                <a:solidFill>
                  <a:schemeClr val="tx2"/>
                </a:solidFill>
              </a:rPr>
              <a:t>Một sự tăng 3 dB (tương ứng với 1,4 lần) về mức áp suất âm thanh chỉ mới khiến người  ta hơi cảm nhận được. Khi tăng 10 dB (tương ứng với 3,16) ;lần cho thấy độ to tăng gấp 2 lần. Hoàn toàn không có quan hệ tuyến tính về độ to theo dB và cảm nhận của tai người.</a:t>
            </a:r>
          </a:p>
          <a:p>
            <a:pPr>
              <a:buFontTx/>
              <a:buChar char="•"/>
            </a:pPr>
            <a:endParaRPr lang="en-US" altLang="en-US"/>
          </a:p>
        </p:txBody>
      </p:sp>
      <p:sp>
        <p:nvSpPr>
          <p:cNvPr id="17435" name="Footer Placeholder 4">
            <a:extLst>
              <a:ext uri="{FF2B5EF4-FFF2-40B4-BE49-F238E27FC236}">
                <a16:creationId xmlns:a16="http://schemas.microsoft.com/office/drawing/2014/main" id="{A7EC655A-A470-893E-32B1-C8ECF46C0405}"/>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US" altLang="en-US">
                <a:latin typeface="Times New Roman" panose="02020603050405020304" pitchFamily="18" charset="0"/>
              </a:rPr>
              <a:t>Viện Đo lường Việt nam</a:t>
            </a:r>
          </a:p>
          <a:p>
            <a:pPr algn="l" eaLnBrk="1" hangingPunct="1"/>
            <a:r>
              <a:rPr lang="en-US" altLang="en-US">
                <a:latin typeface="Times New Roman" panose="02020603050405020304" pitchFamily="18" charset="0"/>
              </a:rPr>
              <a:t>Việt nam Metrology Institute</a:t>
            </a:r>
          </a:p>
          <a:p>
            <a:pPr algn="l" eaLnBrk="1" hangingPunct="1"/>
            <a:endParaRPr lang="en-US" altLang="en-US" sz="1800"/>
          </a:p>
          <a:p>
            <a:pPr eaLnBrk="1" hangingPunct="1"/>
            <a:endParaRPr lang="en-US" altLang="en-US">
              <a:latin typeface=".VnHelvetInsH" pitchFamily="34" charset="0"/>
            </a:endParaRPr>
          </a:p>
        </p:txBody>
      </p:sp>
      <p:sp>
        <p:nvSpPr>
          <p:cNvPr id="17436" name="Slide Number Placeholder 5">
            <a:extLst>
              <a:ext uri="{FF2B5EF4-FFF2-40B4-BE49-F238E27FC236}">
                <a16:creationId xmlns:a16="http://schemas.microsoft.com/office/drawing/2014/main" id="{1B396A51-CA31-6CEE-DC61-3BF4664DF0E4}"/>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1ED5498-219D-4CBC-A394-9D7E70264F9F}" type="slidenum">
              <a:rPr lang="en-US" altLang="en-US">
                <a:latin typeface="Times New Roman" panose="02020603050405020304" pitchFamily="18" charset="0"/>
              </a:rPr>
              <a:pPr eaLnBrk="1" hangingPunct="1"/>
              <a:t>14</a:t>
            </a:fld>
            <a:endParaRPr lang="en-US" altLang="en-US">
              <a:latin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1B91BBA8-F992-CB9B-AA8F-90CF8BA70DC6}"/>
              </a:ext>
            </a:extLst>
          </p:cNvPr>
          <p:cNvSpPr>
            <a:spLocks noGrp="1"/>
          </p:cNvSpPr>
          <p:nvPr>
            <p:ph type="title"/>
          </p:nvPr>
        </p:nvSpPr>
        <p:spPr bwMode="auto">
          <a:xfrm>
            <a:off x="533400" y="228600"/>
            <a:ext cx="8229600" cy="4111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Sử dụng bảng để đổi sang dB</a:t>
            </a:r>
          </a:p>
        </p:txBody>
      </p:sp>
      <p:sp>
        <p:nvSpPr>
          <p:cNvPr id="18435" name="Content Placeholder 3">
            <a:extLst>
              <a:ext uri="{FF2B5EF4-FFF2-40B4-BE49-F238E27FC236}">
                <a16:creationId xmlns:a16="http://schemas.microsoft.com/office/drawing/2014/main" id="{9733A262-9577-269B-A126-D7ED52419BDF}"/>
              </a:ext>
            </a:extLst>
          </p:cNvPr>
          <p:cNvSpPr>
            <a:spLocks noGrp="1"/>
          </p:cNvSpPr>
          <p:nvPr>
            <p:ph sz="half" idx="2"/>
          </p:nvPr>
        </p:nvSpPr>
        <p:spPr>
          <a:xfrm>
            <a:off x="533400" y="4724400"/>
            <a:ext cx="8229600" cy="1447800"/>
          </a:xfrm>
        </p:spPr>
        <p:txBody>
          <a:bodyPr/>
          <a:lstStyle/>
          <a:p>
            <a:pPr>
              <a:buFontTx/>
              <a:buNone/>
            </a:pPr>
            <a:r>
              <a:rPr lang="en-US" altLang="en-US">
                <a:solidFill>
                  <a:schemeClr val="tx2"/>
                </a:solidFill>
              </a:rPr>
              <a:t>Thay vì sử dụng công thức để đổi từ đơn vị áp suất sang mức (hoặc ngược lại) người ta có thể sử dụng một biểu đồ đơn giản như hình trên để đổi</a:t>
            </a:r>
            <a:endParaRPr lang="en-US" altLang="en-US"/>
          </a:p>
        </p:txBody>
      </p:sp>
      <p:sp>
        <p:nvSpPr>
          <p:cNvPr id="18436" name="Footer Placeholder 4">
            <a:extLst>
              <a:ext uri="{FF2B5EF4-FFF2-40B4-BE49-F238E27FC236}">
                <a16:creationId xmlns:a16="http://schemas.microsoft.com/office/drawing/2014/main" id="{623D35CC-D271-9137-BD81-F8AFFA205647}"/>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US" altLang="en-US">
                <a:latin typeface="Times New Roman" panose="02020603050405020304" pitchFamily="18" charset="0"/>
              </a:rPr>
              <a:t>Viện Đo lường Việt nam</a:t>
            </a:r>
          </a:p>
          <a:p>
            <a:pPr algn="l" eaLnBrk="1" hangingPunct="1"/>
            <a:r>
              <a:rPr lang="en-US" altLang="en-US">
                <a:latin typeface="Times New Roman" panose="02020603050405020304" pitchFamily="18" charset="0"/>
              </a:rPr>
              <a:t>Việt nam Metrology Institute</a:t>
            </a:r>
          </a:p>
          <a:p>
            <a:pPr algn="l" eaLnBrk="1" hangingPunct="1"/>
            <a:endParaRPr lang="en-US" altLang="en-US" sz="1800"/>
          </a:p>
          <a:p>
            <a:pPr eaLnBrk="1" hangingPunct="1"/>
            <a:endParaRPr lang="en-US" altLang="en-US">
              <a:latin typeface=".VnHelvetInsH" pitchFamily="34" charset="0"/>
            </a:endParaRPr>
          </a:p>
        </p:txBody>
      </p:sp>
      <p:sp>
        <p:nvSpPr>
          <p:cNvPr id="18437" name="Slide Number Placeholder 5">
            <a:extLst>
              <a:ext uri="{FF2B5EF4-FFF2-40B4-BE49-F238E27FC236}">
                <a16:creationId xmlns:a16="http://schemas.microsoft.com/office/drawing/2014/main" id="{AC59C390-C8DE-7160-725D-5F321575CE1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D078E6D-3FBD-4ACA-B10C-C32DE473A2B9}" type="slidenum">
              <a:rPr lang="en-US" altLang="en-US">
                <a:latin typeface="Times New Roman" panose="02020603050405020304" pitchFamily="18" charset="0"/>
              </a:rPr>
              <a:pPr eaLnBrk="1" hangingPunct="1"/>
              <a:t>15</a:t>
            </a:fld>
            <a:endParaRPr lang="en-US" altLang="en-US">
              <a:latin typeface="Times New Roman" panose="02020603050405020304" pitchFamily="18" charset="0"/>
            </a:endParaRPr>
          </a:p>
        </p:txBody>
      </p:sp>
      <p:pic>
        <p:nvPicPr>
          <p:cNvPr id="18438" name="Picture 3">
            <a:extLst>
              <a:ext uri="{FF2B5EF4-FFF2-40B4-BE49-F238E27FC236}">
                <a16:creationId xmlns:a16="http://schemas.microsoft.com/office/drawing/2014/main" id="{66B28253-AD3C-30B4-CF5A-05DF6C3E9B3C}"/>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1241425" y="762000"/>
            <a:ext cx="6508750" cy="3733800"/>
          </a:xfr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E856B8F7-898B-CAC2-EDE8-B1D82DD8DB06}"/>
              </a:ext>
            </a:extLst>
          </p:cNvPr>
          <p:cNvSpPr>
            <a:spLocks noGrp="1"/>
          </p:cNvSpPr>
          <p:nvPr>
            <p:ph type="title"/>
          </p:nvPr>
        </p:nvSpPr>
        <p:spPr bwMode="auto">
          <a:xfrm>
            <a:off x="533400" y="228600"/>
            <a:ext cx="8229600" cy="4111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Sử dụng biểu đồ để đổi sang dB</a:t>
            </a:r>
          </a:p>
        </p:txBody>
      </p:sp>
      <p:sp>
        <p:nvSpPr>
          <p:cNvPr id="19459" name="Content Placeholder 3">
            <a:extLst>
              <a:ext uri="{FF2B5EF4-FFF2-40B4-BE49-F238E27FC236}">
                <a16:creationId xmlns:a16="http://schemas.microsoft.com/office/drawing/2014/main" id="{81BA9F98-D3B8-5DC8-5761-A8F63CFFB475}"/>
              </a:ext>
            </a:extLst>
          </p:cNvPr>
          <p:cNvSpPr>
            <a:spLocks noGrp="1"/>
          </p:cNvSpPr>
          <p:nvPr>
            <p:ph sz="half" idx="2"/>
          </p:nvPr>
        </p:nvSpPr>
        <p:spPr>
          <a:xfrm>
            <a:off x="533400" y="4800600"/>
            <a:ext cx="8229600" cy="1371600"/>
          </a:xfrm>
        </p:spPr>
        <p:txBody>
          <a:bodyPr/>
          <a:lstStyle/>
          <a:p>
            <a:pPr>
              <a:buFontTx/>
              <a:buNone/>
            </a:pPr>
            <a:r>
              <a:rPr lang="en-US" altLang="en-US">
                <a:solidFill>
                  <a:schemeClr val="tx2"/>
                </a:solidFill>
              </a:rPr>
              <a:t>Thay vì sử dụng công thức để đổi từ đơn vị áp suất sang mức (hoặc ngược lại) người ta có thể sử dụng một biểu đồ đơn giản như hình trên để đổi. </a:t>
            </a:r>
            <a:endParaRPr lang="en-US" altLang="en-US" baseline="30000">
              <a:solidFill>
                <a:schemeClr val="tx2"/>
              </a:solidFill>
            </a:endParaRPr>
          </a:p>
          <a:p>
            <a:pPr>
              <a:buFontTx/>
              <a:buChar char="•"/>
            </a:pPr>
            <a:endParaRPr lang="en-US" altLang="en-US"/>
          </a:p>
        </p:txBody>
      </p:sp>
      <p:sp>
        <p:nvSpPr>
          <p:cNvPr id="19460" name="Footer Placeholder 4">
            <a:extLst>
              <a:ext uri="{FF2B5EF4-FFF2-40B4-BE49-F238E27FC236}">
                <a16:creationId xmlns:a16="http://schemas.microsoft.com/office/drawing/2014/main" id="{0CB9A890-34D4-251C-3B7F-9E8A6B2E3834}"/>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US" altLang="en-US">
                <a:latin typeface="Times New Roman" panose="02020603050405020304" pitchFamily="18" charset="0"/>
              </a:rPr>
              <a:t>Viện Đo lường Việt nam</a:t>
            </a:r>
          </a:p>
          <a:p>
            <a:pPr algn="l" eaLnBrk="1" hangingPunct="1"/>
            <a:r>
              <a:rPr lang="en-US" altLang="en-US">
                <a:latin typeface="Times New Roman" panose="02020603050405020304" pitchFamily="18" charset="0"/>
              </a:rPr>
              <a:t>Việt nam Metrology Institute</a:t>
            </a:r>
          </a:p>
          <a:p>
            <a:pPr algn="l" eaLnBrk="1" hangingPunct="1"/>
            <a:endParaRPr lang="en-US" altLang="en-US" sz="1800"/>
          </a:p>
          <a:p>
            <a:pPr eaLnBrk="1" hangingPunct="1"/>
            <a:endParaRPr lang="en-US" altLang="en-US">
              <a:latin typeface=".VnHelvetInsH" pitchFamily="34" charset="0"/>
            </a:endParaRPr>
          </a:p>
        </p:txBody>
      </p:sp>
      <p:sp>
        <p:nvSpPr>
          <p:cNvPr id="19461" name="Slide Number Placeholder 5">
            <a:extLst>
              <a:ext uri="{FF2B5EF4-FFF2-40B4-BE49-F238E27FC236}">
                <a16:creationId xmlns:a16="http://schemas.microsoft.com/office/drawing/2014/main" id="{54EBB834-22F6-3C9C-BB66-BA52B12C21F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E6C6EE5-C976-4286-BC41-CC9BABA75A47}" type="slidenum">
              <a:rPr lang="en-US" altLang="en-US">
                <a:latin typeface="Times New Roman" panose="02020603050405020304" pitchFamily="18" charset="0"/>
              </a:rPr>
              <a:pPr eaLnBrk="1" hangingPunct="1"/>
              <a:t>16</a:t>
            </a:fld>
            <a:endParaRPr lang="en-US" altLang="en-US">
              <a:latin typeface="Times New Roman" panose="02020603050405020304" pitchFamily="18" charset="0"/>
            </a:endParaRPr>
          </a:p>
        </p:txBody>
      </p:sp>
      <p:pic>
        <p:nvPicPr>
          <p:cNvPr id="19462" name="Picture 2">
            <a:extLst>
              <a:ext uri="{FF2B5EF4-FFF2-40B4-BE49-F238E27FC236}">
                <a16:creationId xmlns:a16="http://schemas.microsoft.com/office/drawing/2014/main" id="{E3A162A0-0DC9-8DEB-8D23-A882054B6F59}"/>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855663" y="762000"/>
            <a:ext cx="7280275" cy="3886200"/>
          </a:xfr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088708C9-02E2-AC50-3ED7-3232BCA3803D}"/>
              </a:ext>
            </a:extLst>
          </p:cNvPr>
          <p:cNvSpPr>
            <a:spLocks noGrp="1"/>
          </p:cNvSpPr>
          <p:nvPr>
            <p:ph type="title"/>
          </p:nvPr>
        </p:nvSpPr>
        <p:spPr bwMode="auto">
          <a:xfrm>
            <a:off x="533400" y="228600"/>
            <a:ext cx="8229600" cy="4111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Quy tăc chuyển đổi đơn giản</a:t>
            </a:r>
          </a:p>
        </p:txBody>
      </p:sp>
      <p:sp>
        <p:nvSpPr>
          <p:cNvPr id="20483" name="Content Placeholder 3">
            <a:extLst>
              <a:ext uri="{FF2B5EF4-FFF2-40B4-BE49-F238E27FC236}">
                <a16:creationId xmlns:a16="http://schemas.microsoft.com/office/drawing/2014/main" id="{5DA199D2-0C45-B7DA-6B15-0DB7BFB93AF6}"/>
              </a:ext>
            </a:extLst>
          </p:cNvPr>
          <p:cNvSpPr>
            <a:spLocks noGrp="1"/>
          </p:cNvSpPr>
          <p:nvPr>
            <p:ph sz="half" idx="2"/>
          </p:nvPr>
        </p:nvSpPr>
        <p:spPr>
          <a:xfrm>
            <a:off x="533400" y="4800600"/>
            <a:ext cx="8229600" cy="1371600"/>
          </a:xfrm>
        </p:spPr>
        <p:txBody>
          <a:bodyPr/>
          <a:lstStyle/>
          <a:p>
            <a:pPr>
              <a:buFontTx/>
              <a:buNone/>
            </a:pPr>
            <a:r>
              <a:rPr lang="en-US" altLang="en-US">
                <a:solidFill>
                  <a:schemeClr val="tx2"/>
                </a:solidFill>
              </a:rPr>
              <a:t>Quy tắc này khá hữu ích khi đang thực hiện đo lường âm thanh và cần chuyển đổi giữa thang tuyến tính sang thang lo ga rít. Trên hình là một số giá trị thường dùng.</a:t>
            </a:r>
            <a:endParaRPr lang="en-US" altLang="en-US"/>
          </a:p>
        </p:txBody>
      </p:sp>
      <p:sp>
        <p:nvSpPr>
          <p:cNvPr id="20484" name="Footer Placeholder 4">
            <a:extLst>
              <a:ext uri="{FF2B5EF4-FFF2-40B4-BE49-F238E27FC236}">
                <a16:creationId xmlns:a16="http://schemas.microsoft.com/office/drawing/2014/main" id="{F30D8FF0-3B73-B167-7A77-D28CB7C5FA7E}"/>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US" altLang="en-US">
                <a:latin typeface="Times New Roman" panose="02020603050405020304" pitchFamily="18" charset="0"/>
              </a:rPr>
              <a:t>Viện Đo lường Việt nam</a:t>
            </a:r>
          </a:p>
          <a:p>
            <a:pPr algn="l" eaLnBrk="1" hangingPunct="1"/>
            <a:r>
              <a:rPr lang="en-US" altLang="en-US">
                <a:latin typeface="Times New Roman" panose="02020603050405020304" pitchFamily="18" charset="0"/>
              </a:rPr>
              <a:t>Việt nam Metrology Institute</a:t>
            </a:r>
          </a:p>
          <a:p>
            <a:pPr algn="l" eaLnBrk="1" hangingPunct="1"/>
            <a:endParaRPr lang="en-US" altLang="en-US" sz="1800"/>
          </a:p>
          <a:p>
            <a:pPr eaLnBrk="1" hangingPunct="1"/>
            <a:endParaRPr lang="en-US" altLang="en-US">
              <a:latin typeface=".VnHelvetInsH" pitchFamily="34" charset="0"/>
            </a:endParaRPr>
          </a:p>
        </p:txBody>
      </p:sp>
      <p:sp>
        <p:nvSpPr>
          <p:cNvPr id="20485" name="Slide Number Placeholder 5">
            <a:extLst>
              <a:ext uri="{FF2B5EF4-FFF2-40B4-BE49-F238E27FC236}">
                <a16:creationId xmlns:a16="http://schemas.microsoft.com/office/drawing/2014/main" id="{A6EB8ECC-313B-AA69-FAE2-4C90A50D267D}"/>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2280929-211A-4F16-86EE-70BE271D10C7}" type="slidenum">
              <a:rPr lang="en-US" altLang="en-US">
                <a:latin typeface="Times New Roman" panose="02020603050405020304" pitchFamily="18" charset="0"/>
              </a:rPr>
              <a:pPr eaLnBrk="1" hangingPunct="1"/>
              <a:t>17</a:t>
            </a:fld>
            <a:endParaRPr lang="en-US" altLang="en-US">
              <a:latin typeface="Times New Roman" panose="02020603050405020304" pitchFamily="18" charset="0"/>
            </a:endParaRPr>
          </a:p>
        </p:txBody>
      </p:sp>
      <p:pic>
        <p:nvPicPr>
          <p:cNvPr id="20486" name="Picture 2">
            <a:extLst>
              <a:ext uri="{FF2B5EF4-FFF2-40B4-BE49-F238E27FC236}">
                <a16:creationId xmlns:a16="http://schemas.microsoft.com/office/drawing/2014/main" id="{2BE9E1C1-0050-0D82-D7FF-5EF1612D28AD}"/>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1530350" y="762000"/>
            <a:ext cx="5930900" cy="3733800"/>
          </a:xfr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D4CA4CA3-CF0E-DF66-AD11-E1AE83769FCC}"/>
              </a:ext>
            </a:extLst>
          </p:cNvPr>
          <p:cNvSpPr>
            <a:spLocks noGrp="1"/>
          </p:cNvSpPr>
          <p:nvPr>
            <p:ph type="title"/>
          </p:nvPr>
        </p:nvSpPr>
        <p:spPr bwMode="auto">
          <a:xfrm>
            <a:off x="533400" y="228600"/>
            <a:ext cx="8229600" cy="4111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Sự truyền âm trong không khí</a:t>
            </a:r>
          </a:p>
        </p:txBody>
      </p:sp>
      <p:sp>
        <p:nvSpPr>
          <p:cNvPr id="21507" name="Content Placeholder 2">
            <a:extLst>
              <a:ext uri="{FF2B5EF4-FFF2-40B4-BE49-F238E27FC236}">
                <a16:creationId xmlns:a16="http://schemas.microsoft.com/office/drawing/2014/main" id="{024854C8-3A08-7D7F-F794-19AC0B984BA4}"/>
              </a:ext>
            </a:extLst>
          </p:cNvPr>
          <p:cNvSpPr>
            <a:spLocks noGrp="1"/>
          </p:cNvSpPr>
          <p:nvPr>
            <p:ph sz="half" idx="1"/>
          </p:nvPr>
        </p:nvSpPr>
        <p:spPr>
          <a:xfrm>
            <a:off x="533400" y="762000"/>
            <a:ext cx="8229600" cy="1447800"/>
          </a:xfrm>
        </p:spPr>
        <p:txBody>
          <a:bodyPr/>
          <a:lstStyle/>
          <a:p>
            <a:pPr algn="just"/>
            <a:r>
              <a:rPr lang="en-US" altLang="en-US"/>
              <a:t>Một chiếc xe tải 10 tấn phát ra tiếng ồn là bảo nhiêu</a:t>
            </a:r>
            <a:r>
              <a:rPr lang="vi-VN" altLang="en-US"/>
              <a:t>? Điều đó phụ thuộc rất nhiều vào </a:t>
            </a:r>
            <a:r>
              <a:rPr lang="en-US" altLang="en-US"/>
              <a:t>bạn đang đứng cách đó bao xa </a:t>
            </a:r>
            <a:r>
              <a:rPr lang="vi-VN" altLang="en-US"/>
              <a:t>và </a:t>
            </a:r>
            <a:r>
              <a:rPr lang="en-US" altLang="en-US"/>
              <a:t>có </a:t>
            </a:r>
            <a:r>
              <a:rPr lang="vi-VN" altLang="en-US"/>
              <a:t>rào cản </a:t>
            </a:r>
            <a:r>
              <a:rPr lang="en-US" altLang="en-US"/>
              <a:t>phía trước </a:t>
            </a:r>
            <a:r>
              <a:rPr lang="vi-VN" altLang="en-US"/>
              <a:t>hay </a:t>
            </a:r>
            <a:r>
              <a:rPr lang="en-US" altLang="en-US"/>
              <a:t>phía</a:t>
            </a:r>
            <a:r>
              <a:rPr lang="vi-VN" altLang="en-US"/>
              <a:t> sau nó</a:t>
            </a:r>
            <a:r>
              <a:rPr lang="en-US" altLang="en-US"/>
              <a:t> không.</a:t>
            </a:r>
            <a:r>
              <a:rPr lang="vi-VN" altLang="en-US"/>
              <a:t> </a:t>
            </a:r>
            <a:r>
              <a:rPr lang="en-US" altLang="en-US"/>
              <a:t>Ngoài ra có rất n</a:t>
            </a:r>
            <a:r>
              <a:rPr lang="vi-VN" altLang="en-US"/>
              <a:t>hiều yếu tố khác ảnh hưởng đến</a:t>
            </a:r>
            <a:r>
              <a:rPr lang="en-US" altLang="en-US"/>
              <a:t> </a:t>
            </a:r>
            <a:r>
              <a:rPr lang="vi-VN" altLang="en-US"/>
              <a:t>mức độ tiếng ồn, và kết quả đo có thể </a:t>
            </a:r>
            <a:r>
              <a:rPr lang="en-US" altLang="en-US"/>
              <a:t>lệch nhau </a:t>
            </a:r>
            <a:r>
              <a:rPr lang="vi-VN" altLang="en-US"/>
              <a:t>hàng chục decibel </a:t>
            </a:r>
            <a:r>
              <a:rPr lang="en-US" altLang="en-US"/>
              <a:t>cho cùng </a:t>
            </a:r>
            <a:r>
              <a:rPr lang="vi-VN" altLang="en-US"/>
              <a:t>một nguồn tiếng ồn. </a:t>
            </a:r>
            <a:r>
              <a:rPr lang="en-US" altLang="en-US"/>
              <a:t>Nguyên nhân của sự chêch lệch đó có thể do các yếu tố sau:</a:t>
            </a:r>
          </a:p>
          <a:p>
            <a:pPr algn="just">
              <a:buFontTx/>
              <a:buChar char="-"/>
            </a:pPr>
            <a:endParaRPr lang="en-US" altLang="en-US"/>
          </a:p>
          <a:p>
            <a:pPr algn="just">
              <a:buFontTx/>
              <a:buChar char="-"/>
            </a:pPr>
            <a:endParaRPr lang="en-US" altLang="en-US"/>
          </a:p>
          <a:p>
            <a:pPr algn="just"/>
            <a:endParaRPr lang="en-US" altLang="en-US"/>
          </a:p>
        </p:txBody>
      </p:sp>
      <p:sp>
        <p:nvSpPr>
          <p:cNvPr id="21508" name="Footer Placeholder 4">
            <a:extLst>
              <a:ext uri="{FF2B5EF4-FFF2-40B4-BE49-F238E27FC236}">
                <a16:creationId xmlns:a16="http://schemas.microsoft.com/office/drawing/2014/main" id="{3FC78B9B-302E-2C1B-203B-85259E1F64E8}"/>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US" altLang="en-US">
                <a:latin typeface="Times New Roman" panose="02020603050405020304" pitchFamily="18" charset="0"/>
              </a:rPr>
              <a:t>Viện Đo lường Việt nam</a:t>
            </a:r>
          </a:p>
          <a:p>
            <a:pPr algn="l" eaLnBrk="1" hangingPunct="1"/>
            <a:r>
              <a:rPr lang="en-US" altLang="en-US">
                <a:latin typeface="Times New Roman" panose="02020603050405020304" pitchFamily="18" charset="0"/>
              </a:rPr>
              <a:t>Việt nam Metrology Institute</a:t>
            </a:r>
          </a:p>
          <a:p>
            <a:pPr algn="l" eaLnBrk="1" hangingPunct="1"/>
            <a:endParaRPr lang="en-US" altLang="en-US" sz="1800"/>
          </a:p>
          <a:p>
            <a:pPr eaLnBrk="1" hangingPunct="1"/>
            <a:endParaRPr lang="en-US" altLang="en-US">
              <a:latin typeface=".VnHelvetInsH" pitchFamily="34" charset="0"/>
            </a:endParaRPr>
          </a:p>
        </p:txBody>
      </p:sp>
      <p:sp>
        <p:nvSpPr>
          <p:cNvPr id="21509" name="Slide Number Placeholder 5">
            <a:extLst>
              <a:ext uri="{FF2B5EF4-FFF2-40B4-BE49-F238E27FC236}">
                <a16:creationId xmlns:a16="http://schemas.microsoft.com/office/drawing/2014/main" id="{3A5552E5-205B-2EEF-02BE-9E392DB21C76}"/>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2224E79-5F17-4805-837B-4BB294EFFA35}" type="slidenum">
              <a:rPr lang="en-US" altLang="en-US">
                <a:latin typeface="Times New Roman" panose="02020603050405020304" pitchFamily="18" charset="0"/>
              </a:rPr>
              <a:pPr eaLnBrk="1" hangingPunct="1"/>
              <a:t>18</a:t>
            </a:fld>
            <a:endParaRPr lang="en-US" altLang="en-US">
              <a:latin typeface="Times New Roman" panose="02020603050405020304" pitchFamily="18" charset="0"/>
            </a:endParaRPr>
          </a:p>
        </p:txBody>
      </p:sp>
      <p:sp>
        <p:nvSpPr>
          <p:cNvPr id="21510" name="TextBox 9">
            <a:extLst>
              <a:ext uri="{FF2B5EF4-FFF2-40B4-BE49-F238E27FC236}">
                <a16:creationId xmlns:a16="http://schemas.microsoft.com/office/drawing/2014/main" id="{6F1F2557-2FE4-989B-D829-C8261A9B6C8B}"/>
              </a:ext>
            </a:extLst>
          </p:cNvPr>
          <p:cNvSpPr txBox="1">
            <a:spLocks noChangeArrowheads="1"/>
          </p:cNvSpPr>
          <p:nvPr/>
        </p:nvSpPr>
        <p:spPr bwMode="auto">
          <a:xfrm>
            <a:off x="609600" y="2209800"/>
            <a:ext cx="2663825" cy="327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50000"/>
              </a:lnSpc>
              <a:buFontTx/>
              <a:buChar char="-"/>
            </a:pPr>
            <a:r>
              <a:rPr lang="en-US" altLang="en-US" sz="1400">
                <a:latin typeface="Times New Roman" panose="02020603050405020304" pitchFamily="18" charset="0"/>
                <a:cs typeface="Times New Roman" panose="02020603050405020304" pitchFamily="18" charset="0"/>
              </a:rPr>
              <a:t>Loại nguồn âm (điểm hay đường)</a:t>
            </a:r>
          </a:p>
          <a:p>
            <a:pPr eaLnBrk="1" hangingPunct="1">
              <a:lnSpc>
                <a:spcPct val="150000"/>
              </a:lnSpc>
              <a:buFontTx/>
              <a:buChar char="-"/>
            </a:pPr>
            <a:r>
              <a:rPr lang="en-US" altLang="en-US" sz="1400">
                <a:latin typeface="Times New Roman" panose="02020603050405020304" pitchFamily="18" charset="0"/>
                <a:cs typeface="Times New Roman" panose="02020603050405020304" pitchFamily="18" charset="0"/>
              </a:rPr>
              <a:t>Khoảng cách từ nguồn</a:t>
            </a:r>
          </a:p>
          <a:p>
            <a:pPr eaLnBrk="1" hangingPunct="1">
              <a:lnSpc>
                <a:spcPct val="150000"/>
              </a:lnSpc>
              <a:buFontTx/>
              <a:buChar char="-"/>
            </a:pPr>
            <a:r>
              <a:rPr lang="en-US" altLang="en-US" sz="1400">
                <a:latin typeface="Times New Roman" panose="02020603050405020304" pitchFamily="18" charset="0"/>
                <a:cs typeface="Times New Roman" panose="02020603050405020304" pitchFamily="18" charset="0"/>
              </a:rPr>
              <a:t>Sự hấp thụ của khí quyển</a:t>
            </a:r>
          </a:p>
          <a:p>
            <a:pPr eaLnBrk="1" hangingPunct="1">
              <a:lnSpc>
                <a:spcPct val="150000"/>
              </a:lnSpc>
              <a:buFontTx/>
              <a:buChar char="-"/>
            </a:pPr>
            <a:r>
              <a:rPr lang="en-US" altLang="en-US" sz="1400">
                <a:latin typeface="Times New Roman" panose="02020603050405020304" pitchFamily="18" charset="0"/>
                <a:cs typeface="Times New Roman" panose="02020603050405020304" pitchFamily="18" charset="0"/>
              </a:rPr>
              <a:t>Gió</a:t>
            </a:r>
          </a:p>
          <a:p>
            <a:pPr eaLnBrk="1" hangingPunct="1">
              <a:lnSpc>
                <a:spcPct val="150000"/>
              </a:lnSpc>
              <a:buFontTx/>
              <a:buChar char="-"/>
            </a:pPr>
            <a:r>
              <a:rPr lang="en-US" altLang="en-US" sz="1400">
                <a:latin typeface="Times New Roman" panose="02020603050405020304" pitchFamily="18" charset="0"/>
                <a:cs typeface="Times New Roman" panose="02020603050405020304" pitchFamily="18" charset="0"/>
              </a:rPr>
              <a:t>Nhiệt độ, độ ẩm</a:t>
            </a:r>
          </a:p>
          <a:p>
            <a:pPr eaLnBrk="1" hangingPunct="1">
              <a:lnSpc>
                <a:spcPct val="150000"/>
              </a:lnSpc>
              <a:buFontTx/>
              <a:buChar char="-"/>
            </a:pPr>
            <a:r>
              <a:rPr lang="en-US" altLang="en-US" sz="1400">
                <a:latin typeface="Times New Roman" panose="02020603050405020304" pitchFamily="18" charset="0"/>
                <a:cs typeface="Times New Roman" panose="02020603050405020304" pitchFamily="18" charset="0"/>
              </a:rPr>
              <a:t>Vật cản</a:t>
            </a:r>
          </a:p>
          <a:p>
            <a:pPr eaLnBrk="1" hangingPunct="1">
              <a:lnSpc>
                <a:spcPct val="150000"/>
              </a:lnSpc>
              <a:buFontTx/>
              <a:buChar char="-"/>
            </a:pPr>
            <a:r>
              <a:rPr lang="en-US" altLang="en-US" sz="1400">
                <a:latin typeface="Times New Roman" panose="02020603050405020304" pitchFamily="18" charset="0"/>
                <a:cs typeface="Times New Roman" panose="02020603050405020304" pitchFamily="18" charset="0"/>
              </a:rPr>
              <a:t>Sự hấp thụ của mặt đất</a:t>
            </a:r>
          </a:p>
          <a:p>
            <a:pPr eaLnBrk="1" hangingPunct="1">
              <a:lnSpc>
                <a:spcPct val="150000"/>
              </a:lnSpc>
              <a:buFontTx/>
              <a:buChar char="-"/>
            </a:pPr>
            <a:r>
              <a:rPr lang="en-US" altLang="en-US" sz="1400">
                <a:latin typeface="Times New Roman" panose="02020603050405020304" pitchFamily="18" charset="0"/>
                <a:cs typeface="Times New Roman" panose="02020603050405020304" pitchFamily="18" charset="0"/>
              </a:rPr>
              <a:t>Sự phản xạ</a:t>
            </a:r>
          </a:p>
          <a:p>
            <a:pPr eaLnBrk="1" hangingPunct="1">
              <a:lnSpc>
                <a:spcPct val="150000"/>
              </a:lnSpc>
              <a:buFontTx/>
              <a:buChar char="-"/>
            </a:pPr>
            <a:r>
              <a:rPr lang="en-US" altLang="en-US" sz="1400">
                <a:latin typeface="Times New Roman" panose="02020603050405020304" pitchFamily="18" charset="0"/>
                <a:cs typeface="Times New Roman" panose="02020603050405020304" pitchFamily="18" charset="0"/>
              </a:rPr>
              <a:t>Lượng mưa</a:t>
            </a:r>
          </a:p>
          <a:p>
            <a:pPr eaLnBrk="1" hangingPunct="1"/>
            <a:endParaRPr lang="en-US" altLang="en-US"/>
          </a:p>
        </p:txBody>
      </p:sp>
      <p:pic>
        <p:nvPicPr>
          <p:cNvPr id="21511" name="Picture 5">
            <a:extLst>
              <a:ext uri="{FF2B5EF4-FFF2-40B4-BE49-F238E27FC236}">
                <a16:creationId xmlns:a16="http://schemas.microsoft.com/office/drawing/2014/main" id="{CA179811-27B9-8493-CF8F-DE74C96AF9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14800" y="2362200"/>
            <a:ext cx="4100513" cy="246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8535375B-BF11-8034-7EDC-B5BEB846EE3E}"/>
              </a:ext>
            </a:extLst>
          </p:cNvPr>
          <p:cNvSpPr>
            <a:spLocks noGrp="1"/>
          </p:cNvSpPr>
          <p:nvPr>
            <p:ph type="title"/>
          </p:nvPr>
        </p:nvSpPr>
        <p:spPr bwMode="auto">
          <a:xfrm>
            <a:off x="533400" y="228600"/>
            <a:ext cx="8229600" cy="4111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Một số dạng nguồn âm</a:t>
            </a:r>
          </a:p>
        </p:txBody>
      </p:sp>
      <p:sp>
        <p:nvSpPr>
          <p:cNvPr id="22531" name="Content Placeholder 3">
            <a:extLst>
              <a:ext uri="{FF2B5EF4-FFF2-40B4-BE49-F238E27FC236}">
                <a16:creationId xmlns:a16="http://schemas.microsoft.com/office/drawing/2014/main" id="{D0F7C126-4923-86C3-A1D3-FC52ADD2E285}"/>
              </a:ext>
            </a:extLst>
          </p:cNvPr>
          <p:cNvSpPr>
            <a:spLocks noGrp="1"/>
          </p:cNvSpPr>
          <p:nvPr>
            <p:ph sz="half" idx="2"/>
          </p:nvPr>
        </p:nvSpPr>
        <p:spPr>
          <a:xfrm>
            <a:off x="533400" y="3657600"/>
            <a:ext cx="4876800" cy="2286000"/>
          </a:xfrm>
        </p:spPr>
        <p:txBody>
          <a:bodyPr/>
          <a:lstStyle/>
          <a:p>
            <a:pPr lvl="1">
              <a:buFontTx/>
              <a:buNone/>
              <a:tabLst>
                <a:tab pos="457200" algn="l"/>
              </a:tabLst>
            </a:pPr>
            <a:r>
              <a:rPr lang="en-US" altLang="en-US" b="1">
                <a:solidFill>
                  <a:schemeClr val="tx2"/>
                </a:solidFill>
              </a:rPr>
              <a:t>Nguồn điểm</a:t>
            </a:r>
          </a:p>
          <a:p>
            <a:pPr lvl="1">
              <a:buFont typeface="Arial" pitchFamily="34" charset="0"/>
              <a:buChar char="•"/>
              <a:tabLst>
                <a:tab pos="457200" algn="l"/>
              </a:tabLst>
            </a:pPr>
            <a:r>
              <a:rPr lang="en-US" altLang="en-US">
                <a:solidFill>
                  <a:schemeClr val="tx2"/>
                </a:solidFill>
              </a:rPr>
              <a:t>     Nguồn âm mà có kích thước nhỏ hơn so với khoảng cách đến người nghe thì gọi là nguồn âm điểm. Năng lượng âm được lan ra theo hình cầu và mức áp suất âm tại tất cả các điểm cách đều nguồn âm là như nhau  và theo quy tắc khi khoảng cách tăng gấp đôi thì áp suất âm giảm một nửa và tương ứng là mức âm giảm đi 6 dB.</a:t>
            </a:r>
          </a:p>
          <a:p>
            <a:pPr lvl="1">
              <a:buFont typeface="Arial" pitchFamily="34" charset="0"/>
              <a:buChar char="•"/>
              <a:tabLst>
                <a:tab pos="457200" algn="l"/>
              </a:tabLst>
            </a:pPr>
            <a:r>
              <a:rPr lang="en-US" altLang="en-US">
                <a:solidFill>
                  <a:schemeClr val="tx2"/>
                </a:solidFill>
              </a:rPr>
              <a:t>    Một nguồn âm điểm có công suất âm là L</a:t>
            </a:r>
            <a:r>
              <a:rPr lang="en-US" altLang="en-US" baseline="-25000">
                <a:solidFill>
                  <a:schemeClr val="tx2"/>
                </a:solidFill>
              </a:rPr>
              <a:t>w </a:t>
            </a:r>
            <a:r>
              <a:rPr lang="en-US" altLang="en-US">
                <a:solidFill>
                  <a:schemeClr val="tx2"/>
                </a:solidFill>
              </a:rPr>
              <a:t> đặt nằm trên mặt đất thì mức áp suất âm tại bất kì khoảng cách r (m) từ nguồn âm có thể được tính từ công thức:</a:t>
            </a:r>
          </a:p>
          <a:p>
            <a:pPr lvl="1">
              <a:buFontTx/>
              <a:buNone/>
              <a:tabLst>
                <a:tab pos="457200" algn="l"/>
              </a:tabLst>
            </a:pPr>
            <a:endParaRPr lang="en-US" altLang="en-US">
              <a:solidFill>
                <a:schemeClr val="tx2"/>
              </a:solidFill>
            </a:endParaRPr>
          </a:p>
          <a:p>
            <a:pPr>
              <a:buFont typeface="Wingdings" panose="05000000000000000000" pitchFamily="2" charset="2"/>
              <a:buChar char="q"/>
              <a:tabLst>
                <a:tab pos="457200" algn="l"/>
              </a:tabLst>
            </a:pPr>
            <a:endParaRPr lang="en-US" altLang="en-US">
              <a:solidFill>
                <a:schemeClr val="tx2"/>
              </a:solidFill>
            </a:endParaRPr>
          </a:p>
          <a:p>
            <a:pPr lvl="1">
              <a:buFont typeface="Wingdings" panose="05000000000000000000" pitchFamily="2" charset="2"/>
              <a:buChar char="q"/>
              <a:tabLst>
                <a:tab pos="457200" algn="l"/>
              </a:tabLst>
            </a:pPr>
            <a:endParaRPr lang="en-US" altLang="en-US">
              <a:solidFill>
                <a:schemeClr val="tx2"/>
              </a:solidFill>
            </a:endParaRPr>
          </a:p>
          <a:p>
            <a:pPr lvl="1">
              <a:buFont typeface="Wingdings" panose="05000000000000000000" pitchFamily="2" charset="2"/>
              <a:buChar char="q"/>
              <a:tabLst>
                <a:tab pos="457200" algn="l"/>
              </a:tabLst>
            </a:pPr>
            <a:endParaRPr lang="en-US" altLang="en-US"/>
          </a:p>
        </p:txBody>
      </p:sp>
      <p:sp>
        <p:nvSpPr>
          <p:cNvPr id="22532" name="Footer Placeholder 4">
            <a:extLst>
              <a:ext uri="{FF2B5EF4-FFF2-40B4-BE49-F238E27FC236}">
                <a16:creationId xmlns:a16="http://schemas.microsoft.com/office/drawing/2014/main" id="{AC3903E1-F16D-0DA9-2FAF-1AE2888E1BBD}"/>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US" altLang="en-US">
                <a:latin typeface="Times New Roman" panose="02020603050405020304" pitchFamily="18" charset="0"/>
              </a:rPr>
              <a:t>Viện Đo lường Việt nam</a:t>
            </a:r>
          </a:p>
          <a:p>
            <a:pPr algn="l" eaLnBrk="1" hangingPunct="1"/>
            <a:r>
              <a:rPr lang="en-US" altLang="en-US">
                <a:latin typeface="Times New Roman" panose="02020603050405020304" pitchFamily="18" charset="0"/>
              </a:rPr>
              <a:t>Việt nam Metrology Institute</a:t>
            </a:r>
          </a:p>
          <a:p>
            <a:pPr algn="l" eaLnBrk="1" hangingPunct="1"/>
            <a:endParaRPr lang="en-US" altLang="en-US" sz="1800"/>
          </a:p>
          <a:p>
            <a:pPr eaLnBrk="1" hangingPunct="1"/>
            <a:endParaRPr lang="en-US" altLang="en-US">
              <a:latin typeface=".VnHelvetInsH" pitchFamily="34" charset="0"/>
            </a:endParaRPr>
          </a:p>
        </p:txBody>
      </p:sp>
      <p:sp>
        <p:nvSpPr>
          <p:cNvPr id="22533" name="Slide Number Placeholder 5">
            <a:extLst>
              <a:ext uri="{FF2B5EF4-FFF2-40B4-BE49-F238E27FC236}">
                <a16:creationId xmlns:a16="http://schemas.microsoft.com/office/drawing/2014/main" id="{70B4BDA7-535F-7824-8026-5EDE71D302E4}"/>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9195905-F6FD-4B7D-8C21-F5536934C9FF}" type="slidenum">
              <a:rPr lang="en-US" altLang="en-US">
                <a:latin typeface="Times New Roman" panose="02020603050405020304" pitchFamily="18" charset="0"/>
              </a:rPr>
              <a:pPr eaLnBrk="1" hangingPunct="1"/>
              <a:t>19</a:t>
            </a:fld>
            <a:endParaRPr lang="en-US" altLang="en-US">
              <a:latin typeface="Times New Roman" panose="02020603050405020304" pitchFamily="18" charset="0"/>
            </a:endParaRPr>
          </a:p>
        </p:txBody>
      </p:sp>
      <p:pic>
        <p:nvPicPr>
          <p:cNvPr id="22534" name="Picture 2">
            <a:extLst>
              <a:ext uri="{FF2B5EF4-FFF2-40B4-BE49-F238E27FC236}">
                <a16:creationId xmlns:a16="http://schemas.microsoft.com/office/drawing/2014/main" id="{3D4822E3-9938-E027-AA2C-CC0F91BF8D88}"/>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2595563" y="762000"/>
            <a:ext cx="3800475" cy="2386013"/>
          </a:xfrm>
          <a:noFill/>
        </p:spPr>
      </p:pic>
      <p:sp>
        <p:nvSpPr>
          <p:cNvPr id="7" name="Rectangle 6">
            <a:extLst>
              <a:ext uri="{FF2B5EF4-FFF2-40B4-BE49-F238E27FC236}">
                <a16:creationId xmlns:a16="http://schemas.microsoft.com/office/drawing/2014/main" id="{BBE4A40A-3C27-6AC6-34CD-959195113993}"/>
              </a:ext>
            </a:extLst>
          </p:cNvPr>
          <p:cNvSpPr/>
          <p:nvPr/>
        </p:nvSpPr>
        <p:spPr>
          <a:xfrm>
            <a:off x="6019800" y="5181600"/>
            <a:ext cx="19812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lvl="1" algn="ctr">
              <a:defRPr/>
            </a:pPr>
            <a:endParaRPr lang="en-US" sz="1400" i="1">
              <a:solidFill>
                <a:schemeClr val="tx2"/>
              </a:solidFill>
              <a:latin typeface="Times New Roman" pitchFamily="18" charset="0"/>
              <a:cs typeface="Times New Roman" pitchFamily="18" charset="0"/>
            </a:endParaRPr>
          </a:p>
          <a:p>
            <a:pPr marL="0" lvl="1" algn="ctr">
              <a:defRPr/>
            </a:pPr>
            <a:r>
              <a:rPr lang="en-US" sz="1400" i="1">
                <a:solidFill>
                  <a:schemeClr val="tx2"/>
                </a:solidFill>
                <a:latin typeface="Times New Roman" pitchFamily="18" charset="0"/>
                <a:cs typeface="Times New Roman" pitchFamily="18" charset="0"/>
              </a:rPr>
              <a:t>L</a:t>
            </a:r>
            <a:r>
              <a:rPr lang="en-US" sz="1400" i="1" baseline="-25000">
                <a:solidFill>
                  <a:schemeClr val="tx2"/>
                </a:solidFill>
                <a:latin typeface="Times New Roman" pitchFamily="18" charset="0"/>
                <a:cs typeface="Times New Roman" pitchFamily="18" charset="0"/>
              </a:rPr>
              <a:t>p</a:t>
            </a:r>
            <a:r>
              <a:rPr lang="en-US" sz="1400" i="1">
                <a:solidFill>
                  <a:schemeClr val="tx2"/>
                </a:solidFill>
                <a:latin typeface="Times New Roman" pitchFamily="18" charset="0"/>
                <a:cs typeface="Times New Roman" pitchFamily="18" charset="0"/>
              </a:rPr>
              <a:t> =L</a:t>
            </a:r>
            <a:r>
              <a:rPr lang="en-US" sz="1400" i="1" baseline="-25000">
                <a:solidFill>
                  <a:schemeClr val="tx2"/>
                </a:solidFill>
                <a:latin typeface="Times New Roman" pitchFamily="18" charset="0"/>
                <a:cs typeface="Times New Roman" pitchFamily="18" charset="0"/>
              </a:rPr>
              <a:t>w</a:t>
            </a:r>
            <a:r>
              <a:rPr lang="en-US" sz="1400" i="1">
                <a:solidFill>
                  <a:schemeClr val="tx2"/>
                </a:solidFill>
                <a:latin typeface="Times New Roman" pitchFamily="18" charset="0"/>
                <a:cs typeface="Times New Roman" pitchFamily="18" charset="0"/>
              </a:rPr>
              <a:t> -20lg(r)-8 dB</a:t>
            </a:r>
            <a:r>
              <a:rPr lang="en-US" sz="1400" i="1" baseline="-25000">
                <a:solidFill>
                  <a:schemeClr val="tx2"/>
                </a:solidFill>
                <a:latin typeface="Times New Roman" pitchFamily="18" charset="0"/>
                <a:cs typeface="Times New Roman" pitchFamily="18" charset="0"/>
              </a:rPr>
              <a:t> </a:t>
            </a:r>
            <a:endParaRPr lang="en-US" sz="1400" i="1">
              <a:solidFill>
                <a:schemeClr val="tx2"/>
              </a:solidFill>
              <a:latin typeface="Times New Roman" pitchFamily="18" charset="0"/>
              <a:cs typeface="Times New Roman" pitchFamily="18" charset="0"/>
            </a:endParaRPr>
          </a:p>
          <a:p>
            <a:pPr algn="ctr">
              <a:defRPr/>
            </a:pPr>
            <a:endParaRPr lang="en-US"/>
          </a:p>
        </p:txBody>
      </p:sp>
      <p:pic>
        <p:nvPicPr>
          <p:cNvPr id="22536" name="Picture 8">
            <a:extLst>
              <a:ext uri="{FF2B5EF4-FFF2-40B4-BE49-F238E27FC236}">
                <a16:creationId xmlns:a16="http://schemas.microsoft.com/office/drawing/2014/main" id="{366F2785-81BC-D634-D2C1-14BEDF667E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7400" y="3429000"/>
            <a:ext cx="2219325" cy="1352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5641517C-8C9F-1F5C-61FD-684DC99FB9A0}"/>
              </a:ext>
            </a:extLst>
          </p:cNvPr>
          <p:cNvSpPr>
            <a:spLocks noGrp="1"/>
          </p:cNvSpPr>
          <p:nvPr>
            <p:ph type="title"/>
          </p:nvPr>
        </p:nvSpPr>
        <p:spPr bwMode="auto">
          <a:xfrm>
            <a:off x="533400" y="228600"/>
            <a:ext cx="8229600" cy="4111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Một số dạng nguồn âm</a:t>
            </a:r>
          </a:p>
        </p:txBody>
      </p:sp>
      <p:sp>
        <p:nvSpPr>
          <p:cNvPr id="23555" name="Content Placeholder 3">
            <a:extLst>
              <a:ext uri="{FF2B5EF4-FFF2-40B4-BE49-F238E27FC236}">
                <a16:creationId xmlns:a16="http://schemas.microsoft.com/office/drawing/2014/main" id="{405FE472-BAF0-E5D1-0002-3FBD7A743BE3}"/>
              </a:ext>
            </a:extLst>
          </p:cNvPr>
          <p:cNvSpPr>
            <a:spLocks noGrp="1"/>
          </p:cNvSpPr>
          <p:nvPr>
            <p:ph sz="half" idx="2"/>
          </p:nvPr>
        </p:nvSpPr>
        <p:spPr>
          <a:xfrm>
            <a:off x="533400" y="838200"/>
            <a:ext cx="4191000" cy="4191000"/>
          </a:xfrm>
        </p:spPr>
        <p:txBody>
          <a:bodyPr/>
          <a:lstStyle/>
          <a:p>
            <a:pPr lvl="1">
              <a:lnSpc>
                <a:spcPct val="150000"/>
              </a:lnSpc>
              <a:buFontTx/>
              <a:buNone/>
              <a:tabLst>
                <a:tab pos="457200" algn="l"/>
              </a:tabLst>
            </a:pPr>
            <a:r>
              <a:rPr lang="en-US" altLang="en-US" b="1">
                <a:solidFill>
                  <a:schemeClr val="tx2"/>
                </a:solidFill>
              </a:rPr>
              <a:t>Nguồn đường</a:t>
            </a:r>
            <a:r>
              <a:rPr lang="en-US" altLang="en-US">
                <a:solidFill>
                  <a:schemeClr val="tx2"/>
                </a:solidFill>
              </a:rPr>
              <a:t> </a:t>
            </a:r>
          </a:p>
          <a:p>
            <a:pPr lvl="1">
              <a:lnSpc>
                <a:spcPct val="150000"/>
              </a:lnSpc>
              <a:buFont typeface="Arial" pitchFamily="34" charset="0"/>
              <a:buChar char="•"/>
              <a:tabLst>
                <a:tab pos="457200" algn="l"/>
              </a:tabLst>
            </a:pPr>
            <a:r>
              <a:rPr lang="en-US" altLang="en-US">
                <a:solidFill>
                  <a:schemeClr val="tx2"/>
                </a:solidFill>
              </a:rPr>
              <a:t>     Nếu nguồn âm hẹp trải theo một hướng và dài so với khoảng cách người nghe thì gọi là nguồn âm dạng đường. Ví dụ như một cái ống chứa đầy dung dịch chảy bên trong hoặc một con đường có lưu lượng giao thông cao. Năng lượng âm được trải dài theo hình trụ, và do đó mức áp suất âm tại tất cả các điểm cách đều đường là bằng nhau và giảm 3dB khi khoảng cách tăng gấp đôi.</a:t>
            </a:r>
          </a:p>
          <a:p>
            <a:pPr lvl="1">
              <a:lnSpc>
                <a:spcPct val="150000"/>
              </a:lnSpc>
              <a:buFont typeface="Arial" pitchFamily="34" charset="0"/>
              <a:buChar char="•"/>
              <a:tabLst>
                <a:tab pos="457200" algn="l"/>
              </a:tabLst>
            </a:pPr>
            <a:r>
              <a:rPr lang="en-US" altLang="en-US">
                <a:solidFill>
                  <a:schemeClr val="tx2"/>
                </a:solidFill>
              </a:rPr>
              <a:t>     Một nguồn đường có công suất âm trên mét (L</a:t>
            </a:r>
            <a:r>
              <a:rPr lang="en-US" altLang="en-US" baseline="-25000">
                <a:solidFill>
                  <a:schemeClr val="tx2"/>
                </a:solidFill>
              </a:rPr>
              <a:t>w</a:t>
            </a:r>
            <a:r>
              <a:rPr lang="en-US" altLang="en-US">
                <a:solidFill>
                  <a:schemeClr val="tx2"/>
                </a:solidFill>
              </a:rPr>
              <a:t>/m) nằm trên mặt đất thì, mức áp suất âm L</a:t>
            </a:r>
            <a:r>
              <a:rPr lang="en-US" altLang="en-US" baseline="-25000">
                <a:solidFill>
                  <a:schemeClr val="tx2"/>
                </a:solidFill>
              </a:rPr>
              <a:t>P</a:t>
            </a:r>
            <a:r>
              <a:rPr lang="en-US" altLang="en-US">
                <a:solidFill>
                  <a:schemeClr val="tx2"/>
                </a:solidFill>
              </a:rPr>
              <a:t> tại một điểm cách r (m) bất kì được tính theo công thức:</a:t>
            </a:r>
          </a:p>
        </p:txBody>
      </p:sp>
      <p:sp>
        <p:nvSpPr>
          <p:cNvPr id="23556" name="Footer Placeholder 4">
            <a:extLst>
              <a:ext uri="{FF2B5EF4-FFF2-40B4-BE49-F238E27FC236}">
                <a16:creationId xmlns:a16="http://schemas.microsoft.com/office/drawing/2014/main" id="{010CB2D3-496C-18C8-CE35-A4B0CB2C3BCF}"/>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US" altLang="en-US">
                <a:latin typeface="Times New Roman" panose="02020603050405020304" pitchFamily="18" charset="0"/>
              </a:rPr>
              <a:t>Viện Đo lường Việt nam</a:t>
            </a:r>
          </a:p>
          <a:p>
            <a:pPr algn="l" eaLnBrk="1" hangingPunct="1"/>
            <a:r>
              <a:rPr lang="en-US" altLang="en-US">
                <a:latin typeface="Times New Roman" panose="02020603050405020304" pitchFamily="18" charset="0"/>
              </a:rPr>
              <a:t>Việt nam Metrology Institute</a:t>
            </a:r>
          </a:p>
          <a:p>
            <a:pPr algn="l" eaLnBrk="1" hangingPunct="1"/>
            <a:endParaRPr lang="en-US" altLang="en-US" sz="1800"/>
          </a:p>
          <a:p>
            <a:pPr eaLnBrk="1" hangingPunct="1"/>
            <a:endParaRPr lang="en-US" altLang="en-US">
              <a:latin typeface=".VnHelvetInsH" pitchFamily="34" charset="0"/>
            </a:endParaRPr>
          </a:p>
        </p:txBody>
      </p:sp>
      <p:sp>
        <p:nvSpPr>
          <p:cNvPr id="23557" name="Slide Number Placeholder 5">
            <a:extLst>
              <a:ext uri="{FF2B5EF4-FFF2-40B4-BE49-F238E27FC236}">
                <a16:creationId xmlns:a16="http://schemas.microsoft.com/office/drawing/2014/main" id="{631FE3FD-F715-5E9F-75ED-27DBDC8CA9B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503AC47-CDEE-4C7B-ADFC-B6960D29B51F}" type="slidenum">
              <a:rPr lang="en-US" altLang="en-US">
                <a:latin typeface="Times New Roman" panose="02020603050405020304" pitchFamily="18" charset="0"/>
              </a:rPr>
              <a:pPr eaLnBrk="1" hangingPunct="1"/>
              <a:t>20</a:t>
            </a:fld>
            <a:endParaRPr lang="en-US" altLang="en-US">
              <a:latin typeface="Times New Roman" panose="02020603050405020304" pitchFamily="18" charset="0"/>
            </a:endParaRPr>
          </a:p>
        </p:txBody>
      </p:sp>
      <p:pic>
        <p:nvPicPr>
          <p:cNvPr id="23558" name="Picture 2">
            <a:extLst>
              <a:ext uri="{FF2B5EF4-FFF2-40B4-BE49-F238E27FC236}">
                <a16:creationId xmlns:a16="http://schemas.microsoft.com/office/drawing/2014/main" id="{BD324E40-82BE-CEBD-2D5D-D841380037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29200" y="685800"/>
            <a:ext cx="3438525" cy="141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a:extLst>
              <a:ext uri="{FF2B5EF4-FFF2-40B4-BE49-F238E27FC236}">
                <a16:creationId xmlns:a16="http://schemas.microsoft.com/office/drawing/2014/main" id="{239F9E90-6A92-9BD7-A330-2BED31C198A6}"/>
              </a:ext>
            </a:extLst>
          </p:cNvPr>
          <p:cNvSpPr/>
          <p:nvPr/>
        </p:nvSpPr>
        <p:spPr>
          <a:xfrm>
            <a:off x="5791200" y="4038600"/>
            <a:ext cx="19812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lvl="1" algn="ctr">
              <a:defRPr/>
            </a:pPr>
            <a:endParaRPr lang="en-US" sz="1400" i="1">
              <a:solidFill>
                <a:schemeClr val="tx2"/>
              </a:solidFill>
              <a:latin typeface="Times New Roman" pitchFamily="18" charset="0"/>
              <a:cs typeface="Times New Roman" pitchFamily="18" charset="0"/>
            </a:endParaRPr>
          </a:p>
          <a:p>
            <a:pPr marL="0" lvl="1" algn="ctr">
              <a:defRPr/>
            </a:pPr>
            <a:r>
              <a:rPr lang="en-US" sz="1400" i="1">
                <a:solidFill>
                  <a:schemeClr val="tx2"/>
                </a:solidFill>
                <a:latin typeface="Times New Roman" pitchFamily="18" charset="0"/>
                <a:cs typeface="Times New Roman" pitchFamily="18" charset="0"/>
              </a:rPr>
              <a:t>L</a:t>
            </a:r>
            <a:r>
              <a:rPr lang="en-US" sz="1400" i="1" baseline="-25000">
                <a:solidFill>
                  <a:schemeClr val="tx2"/>
                </a:solidFill>
                <a:latin typeface="Times New Roman" pitchFamily="18" charset="0"/>
                <a:cs typeface="Times New Roman" pitchFamily="18" charset="0"/>
              </a:rPr>
              <a:t>p</a:t>
            </a:r>
            <a:r>
              <a:rPr lang="en-US" sz="1400" i="1">
                <a:solidFill>
                  <a:schemeClr val="tx2"/>
                </a:solidFill>
                <a:latin typeface="Times New Roman" pitchFamily="18" charset="0"/>
                <a:cs typeface="Times New Roman" pitchFamily="18" charset="0"/>
              </a:rPr>
              <a:t> =L</a:t>
            </a:r>
            <a:r>
              <a:rPr lang="en-US" sz="1400" i="1" baseline="-25000">
                <a:solidFill>
                  <a:schemeClr val="tx2"/>
                </a:solidFill>
                <a:latin typeface="Times New Roman" pitchFamily="18" charset="0"/>
                <a:cs typeface="Times New Roman" pitchFamily="18" charset="0"/>
              </a:rPr>
              <a:t>w</a:t>
            </a:r>
            <a:r>
              <a:rPr lang="en-US" sz="1400" i="1">
                <a:solidFill>
                  <a:schemeClr val="tx2"/>
                </a:solidFill>
                <a:latin typeface="Times New Roman" pitchFamily="18" charset="0"/>
                <a:cs typeface="Times New Roman" pitchFamily="18" charset="0"/>
              </a:rPr>
              <a:t> -10lg(r)-5 dB</a:t>
            </a:r>
            <a:r>
              <a:rPr lang="en-US" sz="1400" i="1" baseline="-25000">
                <a:solidFill>
                  <a:schemeClr val="tx2"/>
                </a:solidFill>
                <a:latin typeface="Times New Roman" pitchFamily="18" charset="0"/>
                <a:cs typeface="Times New Roman" pitchFamily="18" charset="0"/>
              </a:rPr>
              <a:t> </a:t>
            </a:r>
            <a:endParaRPr lang="en-US" sz="1400" i="1">
              <a:solidFill>
                <a:schemeClr val="tx2"/>
              </a:solidFill>
              <a:latin typeface="Times New Roman" pitchFamily="18" charset="0"/>
              <a:cs typeface="Times New Roman" pitchFamily="18" charset="0"/>
            </a:endParaRPr>
          </a:p>
          <a:p>
            <a:pPr algn="ctr">
              <a:defRPr/>
            </a:pP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8068D6D9-52BA-E6C3-7DA1-DAD6B0BBED94}"/>
              </a:ext>
            </a:extLst>
          </p:cNvPr>
          <p:cNvSpPr>
            <a:spLocks noGrp="1"/>
          </p:cNvSpPr>
          <p:nvPr>
            <p:ph type="title"/>
          </p:nvPr>
        </p:nvSpPr>
        <p:spPr bwMode="auto">
          <a:xfrm>
            <a:off x="533400" y="228600"/>
            <a:ext cx="8229600" cy="4111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Một số dạng nguồn âm</a:t>
            </a:r>
          </a:p>
        </p:txBody>
      </p:sp>
      <p:sp>
        <p:nvSpPr>
          <p:cNvPr id="24579" name="Content Placeholder 2">
            <a:extLst>
              <a:ext uri="{FF2B5EF4-FFF2-40B4-BE49-F238E27FC236}">
                <a16:creationId xmlns:a16="http://schemas.microsoft.com/office/drawing/2014/main" id="{67C4D8EF-1EF7-12B9-D2A9-6087F3C1DB0B}"/>
              </a:ext>
            </a:extLst>
          </p:cNvPr>
          <p:cNvSpPr>
            <a:spLocks noGrp="1"/>
          </p:cNvSpPr>
          <p:nvPr>
            <p:ph sz="half" idx="1"/>
          </p:nvPr>
        </p:nvSpPr>
        <p:spPr/>
        <p:txBody>
          <a:bodyPr/>
          <a:lstStyle/>
          <a:p>
            <a:pPr marL="0" lvl="1" indent="0">
              <a:buFontTx/>
              <a:buNone/>
              <a:tabLst>
                <a:tab pos="457200" algn="l"/>
              </a:tabLst>
            </a:pPr>
            <a:r>
              <a:rPr lang="en-US" altLang="en-US" sz="1400" b="1">
                <a:solidFill>
                  <a:schemeClr val="tx2"/>
                </a:solidFill>
                <a:latin typeface="Times New Roman" panose="02020603050405020304" pitchFamily="18" charset="0"/>
                <a:cs typeface="Times New Roman" panose="02020603050405020304" pitchFamily="18" charset="0"/>
              </a:rPr>
              <a:t>Nguồn phẳng</a:t>
            </a:r>
          </a:p>
          <a:p>
            <a:pPr algn="just">
              <a:tabLst>
                <a:tab pos="457200" algn="l"/>
              </a:tabLst>
            </a:pPr>
            <a:r>
              <a:rPr lang="en-US" altLang="en-US">
                <a:solidFill>
                  <a:schemeClr val="tx2"/>
                </a:solidFill>
              </a:rPr>
              <a:t>Một loại nguồn âm hiếm gặp trong thực tế là dạng nguồn phẳng. Theo nguyên lý thì một nguồn âm phẳng bao gồm một piston từ đó năng lượng được phát xạ vào trong một ống hình thành nên sóng phẳng trong ống đó. </a:t>
            </a:r>
            <a:r>
              <a:rPr lang="vi-VN" altLang="en-US">
                <a:solidFill>
                  <a:schemeClr val="tx2"/>
                </a:solidFill>
              </a:rPr>
              <a:t>Giả sử không có tổn thất năng lượng qua </a:t>
            </a:r>
            <a:r>
              <a:rPr lang="en-US" altLang="en-US">
                <a:solidFill>
                  <a:schemeClr val="tx2"/>
                </a:solidFill>
              </a:rPr>
              <a:t>thành </a:t>
            </a:r>
            <a:r>
              <a:rPr lang="vi-VN" altLang="en-US">
                <a:solidFill>
                  <a:schemeClr val="tx2"/>
                </a:solidFill>
              </a:rPr>
              <a:t>ống,</a:t>
            </a:r>
            <a:r>
              <a:rPr lang="en-US" altLang="en-US">
                <a:solidFill>
                  <a:schemeClr val="tx2"/>
                </a:solidFill>
              </a:rPr>
              <a:t> </a:t>
            </a:r>
            <a:r>
              <a:rPr lang="vi-VN" altLang="en-US">
                <a:solidFill>
                  <a:schemeClr val="tx2"/>
                </a:solidFill>
              </a:rPr>
              <a:t>cường độ, </a:t>
            </a:r>
            <a:r>
              <a:rPr lang="en-US" altLang="en-US">
                <a:solidFill>
                  <a:schemeClr val="tx2"/>
                </a:solidFill>
              </a:rPr>
              <a:t>hay là </a:t>
            </a:r>
            <a:r>
              <a:rPr lang="vi-VN" altLang="en-US">
                <a:solidFill>
                  <a:schemeClr val="tx2"/>
                </a:solidFill>
              </a:rPr>
              <a:t>năng lượng âm thanh chảy qua ống, là độc lập</a:t>
            </a:r>
            <a:r>
              <a:rPr lang="en-US" altLang="en-US">
                <a:solidFill>
                  <a:schemeClr val="tx2"/>
                </a:solidFill>
              </a:rPr>
              <a:t> </a:t>
            </a:r>
            <a:r>
              <a:rPr lang="vi-VN" altLang="en-US">
                <a:solidFill>
                  <a:schemeClr val="tx2"/>
                </a:solidFill>
              </a:rPr>
              <a:t>khoảng cách từ nguồn. Vì cường độ là như nhau ở khắp mọi nơi </a:t>
            </a:r>
            <a:r>
              <a:rPr lang="en-US" altLang="en-US">
                <a:solidFill>
                  <a:schemeClr val="tx2"/>
                </a:solidFill>
              </a:rPr>
              <a:t>trong </a:t>
            </a:r>
            <a:r>
              <a:rPr lang="vi-VN" altLang="en-US">
                <a:solidFill>
                  <a:schemeClr val="tx2"/>
                </a:solidFill>
              </a:rPr>
              <a:t>ống, </a:t>
            </a:r>
            <a:r>
              <a:rPr lang="en-US" altLang="en-US">
                <a:solidFill>
                  <a:schemeClr val="tx2"/>
                </a:solidFill>
              </a:rPr>
              <a:t>nên áp suất âm thanh sẽ không giảm khi tăng khoảng cách t</a:t>
            </a:r>
            <a:r>
              <a:rPr lang="vi-VN" altLang="en-US">
                <a:solidFill>
                  <a:schemeClr val="tx2"/>
                </a:solidFill>
              </a:rPr>
              <a:t>ừ piston</a:t>
            </a:r>
            <a:endParaRPr lang="en-US" altLang="en-US"/>
          </a:p>
          <a:p>
            <a:pPr>
              <a:tabLst>
                <a:tab pos="457200" algn="l"/>
              </a:tabLst>
            </a:pPr>
            <a:endParaRPr lang="en-US" altLang="en-US"/>
          </a:p>
        </p:txBody>
      </p:sp>
      <p:sp>
        <p:nvSpPr>
          <p:cNvPr id="24580" name="Footer Placeholder 4">
            <a:extLst>
              <a:ext uri="{FF2B5EF4-FFF2-40B4-BE49-F238E27FC236}">
                <a16:creationId xmlns:a16="http://schemas.microsoft.com/office/drawing/2014/main" id="{89CF04B1-76A5-371C-7616-4C82B92A0ED1}"/>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US" altLang="en-US">
                <a:latin typeface="Times New Roman" panose="02020603050405020304" pitchFamily="18" charset="0"/>
              </a:rPr>
              <a:t>Viện Đo lường Việt nam</a:t>
            </a:r>
          </a:p>
          <a:p>
            <a:pPr algn="l" eaLnBrk="1" hangingPunct="1"/>
            <a:r>
              <a:rPr lang="en-US" altLang="en-US">
                <a:latin typeface="Times New Roman" panose="02020603050405020304" pitchFamily="18" charset="0"/>
              </a:rPr>
              <a:t>Việt nam Metrology Institute</a:t>
            </a:r>
          </a:p>
          <a:p>
            <a:pPr algn="l" eaLnBrk="1" hangingPunct="1"/>
            <a:endParaRPr lang="en-US" altLang="en-US">
              <a:latin typeface="Times New Roman" panose="02020603050405020304" pitchFamily="18" charset="0"/>
            </a:endParaRPr>
          </a:p>
          <a:p>
            <a:pPr eaLnBrk="1" hangingPunct="1"/>
            <a:endParaRPr lang="en-US" altLang="en-US">
              <a:latin typeface="Times New Roman" panose="02020603050405020304" pitchFamily="18" charset="0"/>
            </a:endParaRPr>
          </a:p>
        </p:txBody>
      </p:sp>
      <p:sp>
        <p:nvSpPr>
          <p:cNvPr id="24581" name="Slide Number Placeholder 5">
            <a:extLst>
              <a:ext uri="{FF2B5EF4-FFF2-40B4-BE49-F238E27FC236}">
                <a16:creationId xmlns:a16="http://schemas.microsoft.com/office/drawing/2014/main" id="{5713C084-C57E-ADFE-C6F2-CE29B67DDB5C}"/>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D664D92-6652-4A70-8653-50FB50E4E382}" type="slidenum">
              <a:rPr lang="en-US" altLang="en-US">
                <a:latin typeface="Times New Roman" panose="02020603050405020304" pitchFamily="18" charset="0"/>
              </a:rPr>
              <a:pPr eaLnBrk="1" hangingPunct="1"/>
              <a:t>21</a:t>
            </a:fld>
            <a:endParaRPr lang="en-US" altLang="en-US">
              <a:latin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3C101C42-1E2F-C99A-D2D9-F34997BECCAD}"/>
              </a:ext>
            </a:extLst>
          </p:cNvPr>
          <p:cNvSpPr>
            <a:spLocks noGrp="1"/>
          </p:cNvSpPr>
          <p:nvPr>
            <p:ph type="title"/>
          </p:nvPr>
        </p:nvSpPr>
        <p:spPr bwMode="auto">
          <a:xfrm>
            <a:off x="533400" y="228600"/>
            <a:ext cx="8229600" cy="4111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Rào chắn</a:t>
            </a:r>
          </a:p>
        </p:txBody>
      </p:sp>
      <p:sp>
        <p:nvSpPr>
          <p:cNvPr id="25603" name="Content Placeholder 2">
            <a:extLst>
              <a:ext uri="{FF2B5EF4-FFF2-40B4-BE49-F238E27FC236}">
                <a16:creationId xmlns:a16="http://schemas.microsoft.com/office/drawing/2014/main" id="{A8F39AA4-5D03-68E0-B1BA-EDAB6B22E965}"/>
              </a:ext>
            </a:extLst>
          </p:cNvPr>
          <p:cNvSpPr>
            <a:spLocks noGrp="1"/>
          </p:cNvSpPr>
          <p:nvPr>
            <p:ph sz="half" idx="1"/>
          </p:nvPr>
        </p:nvSpPr>
        <p:spPr>
          <a:xfrm>
            <a:off x="533400" y="762000"/>
            <a:ext cx="8229600" cy="1295400"/>
          </a:xfrm>
        </p:spPr>
        <p:txBody>
          <a:bodyPr/>
          <a:lstStyle/>
          <a:p>
            <a:pPr algn="l"/>
            <a:r>
              <a:rPr lang="en-US" altLang="en-US"/>
              <a:t>Độ ồn giảm do rào chắn phụ thuộc hai yêu tố:</a:t>
            </a:r>
          </a:p>
          <a:p>
            <a:pPr algn="just">
              <a:buFontTx/>
              <a:buChar char="-"/>
            </a:pPr>
            <a:r>
              <a:rPr lang="en-US" altLang="en-US"/>
              <a:t>Độ lệch giữa đường truyền thẳng và đường truyền vượt lên trên rào chắn</a:t>
            </a:r>
          </a:p>
          <a:p>
            <a:pPr algn="just">
              <a:buFontTx/>
              <a:buChar char="-"/>
            </a:pPr>
            <a:r>
              <a:rPr lang="en-US" altLang="en-US"/>
              <a:t>Các thành phần tần số của tiếng ồn</a:t>
            </a:r>
          </a:p>
        </p:txBody>
      </p:sp>
      <p:sp>
        <p:nvSpPr>
          <p:cNvPr id="25604" name="Footer Placeholder 4">
            <a:extLst>
              <a:ext uri="{FF2B5EF4-FFF2-40B4-BE49-F238E27FC236}">
                <a16:creationId xmlns:a16="http://schemas.microsoft.com/office/drawing/2014/main" id="{BB404EEA-C9E4-63F0-A6CA-E48307DA8E47}"/>
              </a:ext>
            </a:extLst>
          </p:cNvPr>
          <p:cNvSpPr>
            <a:spLocks noGrp="1"/>
          </p:cNvSpPr>
          <p:nvPr>
            <p:ph type="ftr" sz="quarter" idx="10"/>
          </p:nvPr>
        </p:nvSpPr>
        <p:spPr>
          <a:xfrm>
            <a:off x="838200" y="6172200"/>
            <a:ext cx="28956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US" altLang="en-US">
                <a:latin typeface="Times New Roman" panose="02020603050405020304" pitchFamily="18" charset="0"/>
              </a:rPr>
              <a:t>Viện Đo lường Việt nam</a:t>
            </a:r>
          </a:p>
          <a:p>
            <a:pPr algn="l" eaLnBrk="1" hangingPunct="1"/>
            <a:r>
              <a:rPr lang="en-US" altLang="en-US">
                <a:latin typeface="Times New Roman" panose="02020603050405020304" pitchFamily="18" charset="0"/>
              </a:rPr>
              <a:t>Việt nam Metrology Institute</a:t>
            </a:r>
          </a:p>
          <a:p>
            <a:pPr algn="l" eaLnBrk="1" hangingPunct="1"/>
            <a:endParaRPr lang="en-US" altLang="en-US" sz="1800"/>
          </a:p>
          <a:p>
            <a:pPr eaLnBrk="1" hangingPunct="1"/>
            <a:endParaRPr lang="en-US" altLang="en-US">
              <a:latin typeface=".VnHelvetInsH" pitchFamily="34" charset="0"/>
            </a:endParaRPr>
          </a:p>
        </p:txBody>
      </p:sp>
      <p:sp>
        <p:nvSpPr>
          <p:cNvPr id="25605" name="Slide Number Placeholder 5">
            <a:extLst>
              <a:ext uri="{FF2B5EF4-FFF2-40B4-BE49-F238E27FC236}">
                <a16:creationId xmlns:a16="http://schemas.microsoft.com/office/drawing/2014/main" id="{38903E3B-DA6D-9E18-CCED-145F9289383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AD4CB87-13C5-4F15-9FE0-FD80BE519488}" type="slidenum">
              <a:rPr lang="en-US" altLang="en-US">
                <a:latin typeface="Times New Roman" panose="02020603050405020304" pitchFamily="18" charset="0"/>
              </a:rPr>
              <a:pPr eaLnBrk="1" hangingPunct="1"/>
              <a:t>22</a:t>
            </a:fld>
            <a:endParaRPr lang="en-US" altLang="en-US">
              <a:latin typeface="Times New Roman" panose="02020603050405020304" pitchFamily="18" charset="0"/>
            </a:endParaRPr>
          </a:p>
        </p:txBody>
      </p:sp>
      <p:pic>
        <p:nvPicPr>
          <p:cNvPr id="25606" name="Picture 2">
            <a:extLst>
              <a:ext uri="{FF2B5EF4-FFF2-40B4-BE49-F238E27FC236}">
                <a16:creationId xmlns:a16="http://schemas.microsoft.com/office/drawing/2014/main" id="{0857110E-BD10-A133-3378-66DD23CFAB22}"/>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457200" y="2286000"/>
            <a:ext cx="3689350" cy="2362200"/>
          </a:xfrm>
          <a:noFill/>
        </p:spPr>
      </p:pic>
      <p:pic>
        <p:nvPicPr>
          <p:cNvPr id="25607" name="Picture 3">
            <a:extLst>
              <a:ext uri="{FF2B5EF4-FFF2-40B4-BE49-F238E27FC236}">
                <a16:creationId xmlns:a16="http://schemas.microsoft.com/office/drawing/2014/main" id="{EAE63F67-85BB-F704-CF94-292B2C2938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1000" y="1676400"/>
            <a:ext cx="4456113" cy="302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8" name="Rectangle 8">
            <a:extLst>
              <a:ext uri="{FF2B5EF4-FFF2-40B4-BE49-F238E27FC236}">
                <a16:creationId xmlns:a16="http://schemas.microsoft.com/office/drawing/2014/main" id="{4A37019F-4087-3C93-3EA7-B436D1DE26BB}"/>
              </a:ext>
            </a:extLst>
          </p:cNvPr>
          <p:cNvSpPr>
            <a:spLocks noChangeArrowheads="1"/>
          </p:cNvSpPr>
          <p:nvPr/>
        </p:nvSpPr>
        <p:spPr bwMode="auto">
          <a:xfrm>
            <a:off x="533400" y="4800600"/>
            <a:ext cx="423545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n-US" altLang="en-US" sz="1400">
                <a:latin typeface="Times New Roman" panose="02020603050405020304" pitchFamily="18" charset="0"/>
                <a:cs typeface="Times New Roman" panose="02020603050405020304" pitchFamily="18" charset="0"/>
              </a:rPr>
              <a:t>Độ giảm âm phụ thuộc khoảng cách và tần số âm</a:t>
            </a:r>
          </a:p>
          <a:p>
            <a:pPr algn="just" eaLnBrk="1" hangingPunct="1"/>
            <a:endParaRPr lang="en-US" altLang="en-US" sz="1400">
              <a:latin typeface="Times New Roman" panose="02020603050405020304" pitchFamily="18" charset="0"/>
              <a:cs typeface="Times New Roman" panose="02020603050405020304" pitchFamily="18" charset="0"/>
            </a:endParaRPr>
          </a:p>
          <a:p>
            <a:pPr algn="just" eaLnBrk="1" hangingPunct="1"/>
            <a:r>
              <a:rPr lang="en-US" altLang="en-US" sz="1400">
                <a:latin typeface="Times New Roman" panose="02020603050405020304" pitchFamily="18" charset="0"/>
                <a:cs typeface="Times New Roman" panose="02020603050405020304" pitchFamily="18" charset="0"/>
              </a:rPr>
              <a:t>** Âm thanh ở tần số thấp rất khó bị cản lại bởi rào chắn</a:t>
            </a:r>
          </a:p>
        </p:txBody>
      </p:sp>
      <p:sp>
        <p:nvSpPr>
          <p:cNvPr id="25609" name="Rectangle 9">
            <a:extLst>
              <a:ext uri="{FF2B5EF4-FFF2-40B4-BE49-F238E27FC236}">
                <a16:creationId xmlns:a16="http://schemas.microsoft.com/office/drawing/2014/main" id="{4A7ADE1C-294F-CE5E-CC21-5D6D751B29F6}"/>
              </a:ext>
            </a:extLst>
          </p:cNvPr>
          <p:cNvSpPr>
            <a:spLocks noChangeArrowheads="1"/>
          </p:cNvSpPr>
          <p:nvPr/>
        </p:nvSpPr>
        <p:spPr bwMode="auto">
          <a:xfrm>
            <a:off x="4648200" y="4800600"/>
            <a:ext cx="35147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r>
              <a:rPr lang="en-US" altLang="en-US" sz="1400">
                <a:latin typeface="Times New Roman" panose="02020603050405020304" pitchFamily="18" charset="0"/>
                <a:cs typeface="Times New Roman" panose="02020603050405020304" pitchFamily="18" charset="0"/>
              </a:rPr>
              <a:t>Độ giảm âm phụ thuộc chiều cao của rào chắn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788956B2-0EF6-C221-9D71-018D68E25854}"/>
              </a:ext>
            </a:extLst>
          </p:cNvPr>
          <p:cNvSpPr>
            <a:spLocks noGrp="1"/>
          </p:cNvSpPr>
          <p:nvPr>
            <p:ph type="title"/>
          </p:nvPr>
        </p:nvSpPr>
        <p:spPr bwMode="auto">
          <a:xfrm>
            <a:off x="533400" y="228600"/>
            <a:ext cx="8229600" cy="4111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Sự hấp thụ âm của khí quyển</a:t>
            </a:r>
          </a:p>
        </p:txBody>
      </p:sp>
      <p:sp>
        <p:nvSpPr>
          <p:cNvPr id="26627" name="Content Placeholder 2">
            <a:extLst>
              <a:ext uri="{FF2B5EF4-FFF2-40B4-BE49-F238E27FC236}">
                <a16:creationId xmlns:a16="http://schemas.microsoft.com/office/drawing/2014/main" id="{4AA03F2E-7405-066A-0AA4-B22B6B5DF6E7}"/>
              </a:ext>
            </a:extLst>
          </p:cNvPr>
          <p:cNvSpPr>
            <a:spLocks noGrp="1"/>
          </p:cNvSpPr>
          <p:nvPr>
            <p:ph sz="half" idx="1"/>
          </p:nvPr>
        </p:nvSpPr>
        <p:spPr>
          <a:xfrm>
            <a:off x="533400" y="762000"/>
            <a:ext cx="8229600" cy="2895600"/>
          </a:xfrm>
        </p:spPr>
        <p:txBody>
          <a:bodyPr/>
          <a:lstStyle/>
          <a:p>
            <a:pPr algn="l"/>
            <a:r>
              <a:rPr lang="en-US" altLang="en-US"/>
              <a:t>Sự giảm âm trong không khí phụ thuộc vào các yếu tố nhứ:</a:t>
            </a:r>
          </a:p>
          <a:p>
            <a:pPr algn="l">
              <a:buFontTx/>
              <a:buChar char="-"/>
            </a:pPr>
            <a:r>
              <a:rPr lang="en-US" altLang="en-US"/>
              <a:t>Khoảng cách từ nguồn âm</a:t>
            </a:r>
          </a:p>
          <a:p>
            <a:pPr algn="l">
              <a:buFontTx/>
              <a:buChar char="-"/>
            </a:pPr>
            <a:r>
              <a:rPr lang="en-US" altLang="en-US"/>
              <a:t>Tần số âm</a:t>
            </a:r>
          </a:p>
          <a:p>
            <a:pPr algn="l">
              <a:buFontTx/>
              <a:buChar char="-"/>
            </a:pPr>
            <a:r>
              <a:rPr lang="en-US" altLang="en-US"/>
              <a:t>Nhiệt độ môi trường</a:t>
            </a:r>
          </a:p>
          <a:p>
            <a:pPr algn="l">
              <a:buFontTx/>
              <a:buChar char="-"/>
            </a:pPr>
            <a:r>
              <a:rPr lang="en-US" altLang="en-US"/>
              <a:t>Độ ẩm</a:t>
            </a:r>
          </a:p>
          <a:p>
            <a:pPr algn="l">
              <a:buFontTx/>
              <a:buChar char="-"/>
            </a:pPr>
            <a:r>
              <a:rPr lang="en-US" altLang="en-US"/>
              <a:t>Áp suất khí quyển</a:t>
            </a:r>
          </a:p>
          <a:p>
            <a:pPr algn="l"/>
            <a:r>
              <a:rPr lang="vi-VN" altLang="en-US"/>
              <a:t>Hai yếu tố đầu tiên được </a:t>
            </a:r>
            <a:r>
              <a:rPr lang="en-US" altLang="en-US"/>
              <a:t>xem là </a:t>
            </a:r>
            <a:r>
              <a:rPr lang="vi-VN" altLang="en-US"/>
              <a:t>ảnh hưởng lớn nhất và được </a:t>
            </a:r>
            <a:r>
              <a:rPr lang="en-US" altLang="en-US"/>
              <a:t>b</a:t>
            </a:r>
            <a:r>
              <a:rPr lang="vi-VN" altLang="en-US"/>
              <a:t>iển thị trong</a:t>
            </a:r>
            <a:r>
              <a:rPr lang="en-US" altLang="en-US"/>
              <a:t> </a:t>
            </a:r>
            <a:r>
              <a:rPr lang="vi-VN" altLang="en-US"/>
              <a:t>sơ đồ dưới đây. </a:t>
            </a:r>
            <a:r>
              <a:rPr lang="en-US" altLang="en-US"/>
              <a:t>T</a:t>
            </a:r>
            <a:r>
              <a:rPr lang="vi-VN" altLang="en-US"/>
              <a:t>ần số thấp cũng </a:t>
            </a:r>
            <a:r>
              <a:rPr lang="en-US" altLang="en-US"/>
              <a:t>ít bị hấp thụ bởi </a:t>
            </a:r>
            <a:r>
              <a:rPr lang="vi-VN" altLang="en-US"/>
              <a:t>khí quyển.</a:t>
            </a:r>
            <a:endParaRPr lang="en-US" altLang="en-US"/>
          </a:p>
        </p:txBody>
      </p:sp>
      <p:sp>
        <p:nvSpPr>
          <p:cNvPr id="26628" name="Footer Placeholder 4">
            <a:extLst>
              <a:ext uri="{FF2B5EF4-FFF2-40B4-BE49-F238E27FC236}">
                <a16:creationId xmlns:a16="http://schemas.microsoft.com/office/drawing/2014/main" id="{2F3DF3AC-6B00-3C2D-A96C-350C006AE8D6}"/>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US" altLang="en-US">
                <a:latin typeface="Times New Roman" panose="02020603050405020304" pitchFamily="18" charset="0"/>
              </a:rPr>
              <a:t>Viện Đo lường Việt nam</a:t>
            </a:r>
          </a:p>
          <a:p>
            <a:pPr algn="l" eaLnBrk="1" hangingPunct="1"/>
            <a:r>
              <a:rPr lang="en-US" altLang="en-US">
                <a:latin typeface="Times New Roman" panose="02020603050405020304" pitchFamily="18" charset="0"/>
              </a:rPr>
              <a:t>Việt nam Metrology Institute</a:t>
            </a:r>
          </a:p>
          <a:p>
            <a:pPr algn="l" eaLnBrk="1" hangingPunct="1"/>
            <a:endParaRPr lang="en-US" altLang="en-US" sz="1800"/>
          </a:p>
          <a:p>
            <a:pPr eaLnBrk="1" hangingPunct="1"/>
            <a:endParaRPr lang="en-US" altLang="en-US">
              <a:latin typeface=".VnHelvetInsH" pitchFamily="34" charset="0"/>
            </a:endParaRPr>
          </a:p>
        </p:txBody>
      </p:sp>
      <p:sp>
        <p:nvSpPr>
          <p:cNvPr id="26629" name="Slide Number Placeholder 5">
            <a:extLst>
              <a:ext uri="{FF2B5EF4-FFF2-40B4-BE49-F238E27FC236}">
                <a16:creationId xmlns:a16="http://schemas.microsoft.com/office/drawing/2014/main" id="{14E8542E-2F1B-4396-06D5-945BCDA9F6E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22F912A-0EAA-4858-A955-1E8E85ABA08D}" type="slidenum">
              <a:rPr lang="en-US" altLang="en-US">
                <a:latin typeface="Times New Roman" panose="02020603050405020304" pitchFamily="18" charset="0"/>
              </a:rPr>
              <a:pPr eaLnBrk="1" hangingPunct="1"/>
              <a:t>23</a:t>
            </a:fld>
            <a:endParaRPr lang="en-US" altLang="en-US">
              <a:latin typeface="Times New Roman" panose="02020603050405020304" pitchFamily="18" charset="0"/>
            </a:endParaRPr>
          </a:p>
        </p:txBody>
      </p:sp>
      <p:pic>
        <p:nvPicPr>
          <p:cNvPr id="26630" name="Picture 2">
            <a:extLst>
              <a:ext uri="{FF2B5EF4-FFF2-40B4-BE49-F238E27FC236}">
                <a16:creationId xmlns:a16="http://schemas.microsoft.com/office/drawing/2014/main" id="{ED690E4D-0AAA-DA3A-665F-67A3B7FEEF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7463" y="3429000"/>
            <a:ext cx="3876675" cy="255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id="{1CE427DB-85ED-9D99-7283-B50519A5B0C0}"/>
              </a:ext>
            </a:extLst>
          </p:cNvPr>
          <p:cNvSpPr>
            <a:spLocks noGrp="1"/>
          </p:cNvSpPr>
          <p:nvPr>
            <p:ph type="title"/>
          </p:nvPr>
        </p:nvSpPr>
        <p:spPr bwMode="auto">
          <a:xfrm>
            <a:off x="533400" y="228600"/>
            <a:ext cx="8229600" cy="4111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Gió</a:t>
            </a:r>
          </a:p>
        </p:txBody>
      </p:sp>
      <p:sp>
        <p:nvSpPr>
          <p:cNvPr id="27651" name="Content Placeholder 2">
            <a:extLst>
              <a:ext uri="{FF2B5EF4-FFF2-40B4-BE49-F238E27FC236}">
                <a16:creationId xmlns:a16="http://schemas.microsoft.com/office/drawing/2014/main" id="{9D300931-93DF-E626-AD79-5BCF6585EC8A}"/>
              </a:ext>
            </a:extLst>
          </p:cNvPr>
          <p:cNvSpPr>
            <a:spLocks noGrp="1"/>
          </p:cNvSpPr>
          <p:nvPr>
            <p:ph sz="half" idx="1"/>
          </p:nvPr>
        </p:nvSpPr>
        <p:spPr/>
        <p:txBody>
          <a:bodyPr/>
          <a:lstStyle/>
          <a:p>
            <a:pPr algn="just"/>
            <a:r>
              <a:rPr lang="en-US" altLang="en-US"/>
              <a:t>Tốc đô gió t</a:t>
            </a:r>
            <a:r>
              <a:rPr lang="vi-VN" altLang="en-US"/>
              <a:t>ăng theo độ cao, </a:t>
            </a:r>
            <a:r>
              <a:rPr lang="en-US" altLang="en-US"/>
              <a:t>làm</a:t>
            </a:r>
            <a:r>
              <a:rPr lang="vi-VN" altLang="en-US"/>
              <a:t> bẻ cong đường đi của âm thanh hướng gió và làm </a:t>
            </a:r>
            <a:r>
              <a:rPr lang="en-US" altLang="en-US"/>
              <a:t>hình thành một vùng tối </a:t>
            </a:r>
            <a:r>
              <a:rPr lang="vi-VN" altLang="en-US"/>
              <a:t>về phía ngược chiều gió</a:t>
            </a:r>
            <a:endParaRPr lang="en-US" altLang="en-US"/>
          </a:p>
          <a:p>
            <a:pPr algn="just"/>
            <a:r>
              <a:rPr lang="en-US" altLang="en-US"/>
              <a:t>Tại sao lại đo theo hướng gió: ở khoảng cách gần, lên đến 50m gió có ảnh hường rất nhỏ đến mức áp suất âm. Ở khoảng cách lớn hơn, gió sẽ ảnh hưởng đáng kể hơn. </a:t>
            </a:r>
            <a:r>
              <a:rPr lang="vi-VN" altLang="en-US"/>
              <a:t>Theo chiều gió, </a:t>
            </a:r>
            <a:r>
              <a:rPr lang="en-US" altLang="en-US"/>
              <a:t>mức âm </a:t>
            </a:r>
            <a:r>
              <a:rPr lang="vi-VN" altLang="en-US"/>
              <a:t>có thể tăng lên bởi một vài dB, tùy thuộc vào tốc độ gió</a:t>
            </a:r>
            <a:r>
              <a:rPr lang="en-US" altLang="en-US"/>
              <a:t>,</a:t>
            </a:r>
            <a:r>
              <a:rPr lang="vi-VN" altLang="en-US"/>
              <a:t> </a:t>
            </a:r>
            <a:r>
              <a:rPr lang="en-US" altLang="en-US"/>
              <a:t>n</a:t>
            </a:r>
            <a:r>
              <a:rPr lang="vi-VN" altLang="en-US"/>
              <a:t>hưng</a:t>
            </a:r>
            <a:r>
              <a:rPr lang="en-US" altLang="en-US"/>
              <a:t> </a:t>
            </a:r>
            <a:r>
              <a:rPr lang="vi-VN" altLang="en-US"/>
              <a:t>đo </a:t>
            </a:r>
            <a:r>
              <a:rPr lang="en-US" altLang="en-US"/>
              <a:t>ngược chiều </a:t>
            </a:r>
            <a:r>
              <a:rPr lang="vi-VN" altLang="en-US"/>
              <a:t>gió</a:t>
            </a:r>
            <a:r>
              <a:rPr lang="en-US" altLang="en-US"/>
              <a:t>,</a:t>
            </a:r>
            <a:r>
              <a:rPr lang="vi-VN" altLang="en-US"/>
              <a:t> mức </a:t>
            </a:r>
            <a:r>
              <a:rPr lang="en-US" altLang="en-US"/>
              <a:t>âm</a:t>
            </a:r>
            <a:r>
              <a:rPr lang="vi-VN" altLang="en-US"/>
              <a:t> có thể giảm hơn 20 dB, tùy thuộc vào</a:t>
            </a:r>
            <a:r>
              <a:rPr lang="en-US" altLang="en-US"/>
              <a:t> </a:t>
            </a:r>
            <a:r>
              <a:rPr lang="vi-VN" altLang="en-US"/>
              <a:t>tốc độ gió và khoảng cách. Đây là lý do tại sao </a:t>
            </a:r>
            <a:r>
              <a:rPr lang="en-US" altLang="en-US"/>
              <a:t>đo </a:t>
            </a:r>
            <a:r>
              <a:rPr lang="vi-VN" altLang="en-US"/>
              <a:t>theo hướng gió đo được </a:t>
            </a:r>
            <a:r>
              <a:rPr lang="en-US" altLang="en-US"/>
              <a:t>lựa chọn, kết quả đo có </a:t>
            </a:r>
            <a:r>
              <a:rPr lang="vi-VN" altLang="en-US"/>
              <a:t>độ lệch nhỏ hơn và kết quả </a:t>
            </a:r>
            <a:r>
              <a:rPr lang="en-US" altLang="en-US"/>
              <a:t>cũng đảm bảo hơn.</a:t>
            </a:r>
          </a:p>
        </p:txBody>
      </p:sp>
      <p:sp>
        <p:nvSpPr>
          <p:cNvPr id="27652" name="Footer Placeholder 4">
            <a:extLst>
              <a:ext uri="{FF2B5EF4-FFF2-40B4-BE49-F238E27FC236}">
                <a16:creationId xmlns:a16="http://schemas.microsoft.com/office/drawing/2014/main" id="{D829EC7E-646F-D27E-A107-B5A23222FC79}"/>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US" altLang="en-US">
                <a:latin typeface="Times New Roman" panose="02020603050405020304" pitchFamily="18" charset="0"/>
              </a:rPr>
              <a:t>Viện Đo lường Việt nam</a:t>
            </a:r>
          </a:p>
          <a:p>
            <a:pPr algn="l" eaLnBrk="1" hangingPunct="1"/>
            <a:r>
              <a:rPr lang="en-US" altLang="en-US">
                <a:latin typeface="Times New Roman" panose="02020603050405020304" pitchFamily="18" charset="0"/>
              </a:rPr>
              <a:t>Việt nam Metrology Institute</a:t>
            </a:r>
          </a:p>
          <a:p>
            <a:pPr algn="l" eaLnBrk="1" hangingPunct="1"/>
            <a:endParaRPr lang="en-US" altLang="en-US" sz="1800"/>
          </a:p>
          <a:p>
            <a:pPr eaLnBrk="1" hangingPunct="1"/>
            <a:endParaRPr lang="en-US" altLang="en-US">
              <a:latin typeface=".VnHelvetInsH" pitchFamily="34" charset="0"/>
            </a:endParaRPr>
          </a:p>
        </p:txBody>
      </p:sp>
      <p:sp>
        <p:nvSpPr>
          <p:cNvPr id="27653" name="Slide Number Placeholder 5">
            <a:extLst>
              <a:ext uri="{FF2B5EF4-FFF2-40B4-BE49-F238E27FC236}">
                <a16:creationId xmlns:a16="http://schemas.microsoft.com/office/drawing/2014/main" id="{6EBEDBF5-B8C2-985E-FE79-9BC2E153B11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1945F18-2D0F-4CB4-A21F-33E319889933}" type="slidenum">
              <a:rPr lang="en-US" altLang="en-US">
                <a:latin typeface="Times New Roman" panose="02020603050405020304" pitchFamily="18" charset="0"/>
              </a:rPr>
              <a:pPr eaLnBrk="1" hangingPunct="1"/>
              <a:t>24</a:t>
            </a:fld>
            <a:endParaRPr lang="en-US" altLang="en-US">
              <a:latin typeface="Times New Roman" panose="02020603050405020304" pitchFamily="18" charset="0"/>
            </a:endParaRPr>
          </a:p>
        </p:txBody>
      </p:sp>
      <p:pic>
        <p:nvPicPr>
          <p:cNvPr id="27654" name="Picture 2">
            <a:extLst>
              <a:ext uri="{FF2B5EF4-FFF2-40B4-BE49-F238E27FC236}">
                <a16:creationId xmlns:a16="http://schemas.microsoft.com/office/drawing/2014/main" id="{531CC1B3-045F-07D3-0DDB-22ED3001EBB1}"/>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2286000" y="3048000"/>
            <a:ext cx="4419600" cy="2590800"/>
          </a:xfrm>
          <a:noFill/>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a:extLst>
              <a:ext uri="{FF2B5EF4-FFF2-40B4-BE49-F238E27FC236}">
                <a16:creationId xmlns:a16="http://schemas.microsoft.com/office/drawing/2014/main" id="{71D14714-91E3-E7B8-B3E7-1C720CF85862}"/>
              </a:ext>
            </a:extLst>
          </p:cNvPr>
          <p:cNvSpPr>
            <a:spLocks noGrp="1"/>
          </p:cNvSpPr>
          <p:nvPr>
            <p:ph type="title"/>
          </p:nvPr>
        </p:nvSpPr>
        <p:spPr bwMode="auto">
          <a:xfrm>
            <a:off x="533400" y="228600"/>
            <a:ext cx="8229600" cy="4111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Nhiệt độ</a:t>
            </a:r>
          </a:p>
        </p:txBody>
      </p:sp>
      <p:sp>
        <p:nvSpPr>
          <p:cNvPr id="28675" name="Content Placeholder 3">
            <a:extLst>
              <a:ext uri="{FF2B5EF4-FFF2-40B4-BE49-F238E27FC236}">
                <a16:creationId xmlns:a16="http://schemas.microsoft.com/office/drawing/2014/main" id="{252D4C04-5E0D-9BD9-35AD-3582D6AC452D}"/>
              </a:ext>
            </a:extLst>
          </p:cNvPr>
          <p:cNvSpPr>
            <a:spLocks noGrp="1"/>
          </p:cNvSpPr>
          <p:nvPr>
            <p:ph sz="half" idx="2"/>
          </p:nvPr>
        </p:nvSpPr>
        <p:spPr/>
        <p:txBody>
          <a:bodyPr/>
          <a:lstStyle/>
          <a:p>
            <a:pPr>
              <a:buFontTx/>
              <a:buNone/>
            </a:pPr>
            <a:r>
              <a:rPr lang="en-US" altLang="en-US"/>
              <a:t>Nhiệt độ cũng </a:t>
            </a:r>
            <a:r>
              <a:rPr lang="vi-VN" altLang="en-US"/>
              <a:t>tạo ra hiệu ứng tương tự như gió, ngoại trừ</a:t>
            </a:r>
            <a:r>
              <a:rPr lang="en-US" altLang="en-US"/>
              <a:t> việc đồng nhất theo tất cả các hướng. Vào ngày trời nắng, không </a:t>
            </a:r>
            <a:r>
              <a:rPr lang="vi-VN" altLang="en-US"/>
              <a:t>gió, nhiệt độ giảm theo độ cao, tạo ra một hiệu ứng </a:t>
            </a:r>
            <a:r>
              <a:rPr lang="en-US" altLang="en-US"/>
              <a:t>vùng tối của âm thanh. Trong một đêm trời quang, </a:t>
            </a:r>
            <a:r>
              <a:rPr lang="vi-VN" altLang="en-US"/>
              <a:t>nhiệt độ có thể tăng lên theo độ cao (nhiệt độ đảo ngược),</a:t>
            </a:r>
            <a:r>
              <a:rPr lang="en-US" altLang="en-US"/>
              <a:t> âm thanh tập trung trên mặt đất.</a:t>
            </a:r>
            <a:endParaRPr lang="vi-VN" altLang="en-US"/>
          </a:p>
        </p:txBody>
      </p:sp>
      <p:sp>
        <p:nvSpPr>
          <p:cNvPr id="28676" name="Footer Placeholder 4">
            <a:extLst>
              <a:ext uri="{FF2B5EF4-FFF2-40B4-BE49-F238E27FC236}">
                <a16:creationId xmlns:a16="http://schemas.microsoft.com/office/drawing/2014/main" id="{B1FE0025-F7B8-2E70-CCA4-D9F143A502EF}"/>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US" altLang="en-US">
                <a:latin typeface="Times New Roman" panose="02020603050405020304" pitchFamily="18" charset="0"/>
              </a:rPr>
              <a:t>Viện Đo lường Việt nam</a:t>
            </a:r>
          </a:p>
          <a:p>
            <a:pPr algn="l" eaLnBrk="1" hangingPunct="1"/>
            <a:r>
              <a:rPr lang="en-US" altLang="en-US">
                <a:latin typeface="Times New Roman" panose="02020603050405020304" pitchFamily="18" charset="0"/>
              </a:rPr>
              <a:t>Việt nam Metrology Institute</a:t>
            </a:r>
          </a:p>
          <a:p>
            <a:pPr algn="l" eaLnBrk="1" hangingPunct="1"/>
            <a:endParaRPr lang="en-US" altLang="en-US" sz="1800"/>
          </a:p>
          <a:p>
            <a:pPr eaLnBrk="1" hangingPunct="1"/>
            <a:endParaRPr lang="en-US" altLang="en-US">
              <a:latin typeface=".VnHelvetInsH" pitchFamily="34" charset="0"/>
            </a:endParaRPr>
          </a:p>
        </p:txBody>
      </p:sp>
      <p:sp>
        <p:nvSpPr>
          <p:cNvPr id="28677" name="Slide Number Placeholder 5">
            <a:extLst>
              <a:ext uri="{FF2B5EF4-FFF2-40B4-BE49-F238E27FC236}">
                <a16:creationId xmlns:a16="http://schemas.microsoft.com/office/drawing/2014/main" id="{884345FB-0781-3B31-2D67-5126B3F7D920}"/>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40849FC-9D9D-47FB-8263-3D6FAA00C8E4}" type="slidenum">
              <a:rPr lang="en-US" altLang="en-US">
                <a:latin typeface="Times New Roman" panose="02020603050405020304" pitchFamily="18" charset="0"/>
              </a:rPr>
              <a:pPr eaLnBrk="1" hangingPunct="1"/>
              <a:t>25</a:t>
            </a:fld>
            <a:endParaRPr lang="en-US" altLang="en-US">
              <a:latin typeface="Times New Roman" panose="02020603050405020304" pitchFamily="18" charset="0"/>
            </a:endParaRPr>
          </a:p>
        </p:txBody>
      </p:sp>
      <p:pic>
        <p:nvPicPr>
          <p:cNvPr id="28678" name="Picture 2">
            <a:extLst>
              <a:ext uri="{FF2B5EF4-FFF2-40B4-BE49-F238E27FC236}">
                <a16:creationId xmlns:a16="http://schemas.microsoft.com/office/drawing/2014/main" id="{EB13F005-8378-A096-1F58-D193DB310243}"/>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1514475" y="762000"/>
            <a:ext cx="6267450" cy="2667000"/>
          </a:xfrm>
          <a:noFill/>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a:extLst>
              <a:ext uri="{FF2B5EF4-FFF2-40B4-BE49-F238E27FC236}">
                <a16:creationId xmlns:a16="http://schemas.microsoft.com/office/drawing/2014/main" id="{909A3BEB-7F31-2255-7ED2-21B23E4E9FFC}"/>
              </a:ext>
            </a:extLst>
          </p:cNvPr>
          <p:cNvSpPr>
            <a:spLocks noGrp="1"/>
          </p:cNvSpPr>
          <p:nvPr>
            <p:ph type="title"/>
          </p:nvPr>
        </p:nvSpPr>
        <p:spPr bwMode="auto">
          <a:xfrm>
            <a:off x="533400" y="228600"/>
            <a:ext cx="8229600" cy="4111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Mặt đất</a:t>
            </a:r>
          </a:p>
        </p:txBody>
      </p:sp>
      <p:sp>
        <p:nvSpPr>
          <p:cNvPr id="29699" name="Content Placeholder 3">
            <a:extLst>
              <a:ext uri="{FF2B5EF4-FFF2-40B4-BE49-F238E27FC236}">
                <a16:creationId xmlns:a16="http://schemas.microsoft.com/office/drawing/2014/main" id="{C61EF357-27F3-6CEE-9FDC-327120D68CC9}"/>
              </a:ext>
            </a:extLst>
          </p:cNvPr>
          <p:cNvSpPr>
            <a:spLocks noGrp="1"/>
          </p:cNvSpPr>
          <p:nvPr>
            <p:ph sz="half" idx="2"/>
          </p:nvPr>
        </p:nvSpPr>
        <p:spPr/>
        <p:txBody>
          <a:bodyPr/>
          <a:lstStyle/>
          <a:p>
            <a:pPr>
              <a:buFontTx/>
              <a:buNone/>
            </a:pPr>
            <a:r>
              <a:rPr lang="vi-VN" altLang="en-US"/>
              <a:t>Âm thanh phản xạ bởi mặt đất </a:t>
            </a:r>
            <a:r>
              <a:rPr lang="en-US" altLang="en-US"/>
              <a:t>làm ảnh hưởng</a:t>
            </a:r>
            <a:r>
              <a:rPr lang="vi-VN" altLang="en-US"/>
              <a:t> </a:t>
            </a:r>
            <a:r>
              <a:rPr lang="en-US" altLang="en-US"/>
              <a:t>đến </a:t>
            </a:r>
            <a:r>
              <a:rPr lang="vi-VN" altLang="en-US"/>
              <a:t>những </a:t>
            </a:r>
            <a:r>
              <a:rPr lang="en-US" altLang="en-US"/>
              <a:t>đường truyền âm </a:t>
            </a:r>
            <a:r>
              <a:rPr lang="vi-VN" altLang="en-US"/>
              <a:t>trực tiếp.</a:t>
            </a:r>
            <a:r>
              <a:rPr lang="en-US" altLang="en-US"/>
              <a:t> Sự phản xạ này  tùy thuộc vào</a:t>
            </a:r>
            <a:r>
              <a:rPr lang="vi-VN" altLang="en-US"/>
              <a:t> mặt đất </a:t>
            </a:r>
            <a:r>
              <a:rPr lang="en-US" altLang="en-US"/>
              <a:t>khác nhau: </a:t>
            </a:r>
            <a:r>
              <a:rPr lang="vi-VN" altLang="en-US"/>
              <a:t>ví dụ</a:t>
            </a:r>
            <a:r>
              <a:rPr lang="en-US" altLang="en-US"/>
              <a:t> bề mặt cứng như</a:t>
            </a:r>
            <a:r>
              <a:rPr lang="vi-VN" altLang="en-US"/>
              <a:t> bê tông hoặc nước</a:t>
            </a:r>
            <a:r>
              <a:rPr lang="en-US" altLang="en-US"/>
              <a:t>, </a:t>
            </a:r>
            <a:r>
              <a:rPr lang="vi-VN" altLang="en-US"/>
              <a:t>mềm </a:t>
            </a:r>
            <a:r>
              <a:rPr lang="en-US" altLang="en-US"/>
              <a:t>như</a:t>
            </a:r>
            <a:r>
              <a:rPr lang="vi-VN" altLang="en-US"/>
              <a:t> cỏ, cây xanh hay thảm thực vật và bề mặt hỗn hợp. </a:t>
            </a:r>
            <a:r>
              <a:rPr lang="en-US" altLang="en-US"/>
              <a:t>Sự suy giảm do mặt đất thường được tính toán theo từng băng tần. </a:t>
            </a:r>
            <a:r>
              <a:rPr lang="vi-VN" altLang="en-US"/>
              <a:t>Lượng mưa có thể ảnh hưởng đến sự </a:t>
            </a:r>
            <a:r>
              <a:rPr lang="en-US" altLang="en-US"/>
              <a:t>hấp thụ</a:t>
            </a:r>
            <a:r>
              <a:rPr lang="vi-VN" altLang="en-US"/>
              <a:t> trên mặt đất. </a:t>
            </a:r>
            <a:r>
              <a:rPr lang="en-US" altLang="en-US"/>
              <a:t>Tuyết có thể làm tăng sự hấp thụ âm của mặt đất. Và thông thường chúng ta sẽ không tiến hành đo trong những điều kiện thời tiết như vậy</a:t>
            </a:r>
          </a:p>
        </p:txBody>
      </p:sp>
      <p:sp>
        <p:nvSpPr>
          <p:cNvPr id="29700" name="Footer Placeholder 4">
            <a:extLst>
              <a:ext uri="{FF2B5EF4-FFF2-40B4-BE49-F238E27FC236}">
                <a16:creationId xmlns:a16="http://schemas.microsoft.com/office/drawing/2014/main" id="{6476B9B4-7EB4-F95F-6F84-421A49BA618E}"/>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US" altLang="en-US">
                <a:latin typeface="Times New Roman" panose="02020603050405020304" pitchFamily="18" charset="0"/>
              </a:rPr>
              <a:t>Viện Đo lường Việt nam</a:t>
            </a:r>
          </a:p>
          <a:p>
            <a:pPr algn="l" eaLnBrk="1" hangingPunct="1"/>
            <a:r>
              <a:rPr lang="en-US" altLang="en-US">
                <a:latin typeface="Times New Roman" panose="02020603050405020304" pitchFamily="18" charset="0"/>
              </a:rPr>
              <a:t>Việt nam Metrology Institute</a:t>
            </a:r>
          </a:p>
          <a:p>
            <a:pPr algn="l" eaLnBrk="1" hangingPunct="1"/>
            <a:endParaRPr lang="en-US" altLang="en-US" sz="1800"/>
          </a:p>
          <a:p>
            <a:pPr eaLnBrk="1" hangingPunct="1"/>
            <a:endParaRPr lang="en-US" altLang="en-US">
              <a:latin typeface=".VnHelvetInsH" pitchFamily="34" charset="0"/>
            </a:endParaRPr>
          </a:p>
        </p:txBody>
      </p:sp>
      <p:sp>
        <p:nvSpPr>
          <p:cNvPr id="29701" name="Slide Number Placeholder 5">
            <a:extLst>
              <a:ext uri="{FF2B5EF4-FFF2-40B4-BE49-F238E27FC236}">
                <a16:creationId xmlns:a16="http://schemas.microsoft.com/office/drawing/2014/main" id="{0D26C49C-1FA8-2877-954B-F829DE8136B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A884393-F7AA-40FC-ABD0-35FEE0034052}" type="slidenum">
              <a:rPr lang="en-US" altLang="en-US">
                <a:latin typeface="Times New Roman" panose="02020603050405020304" pitchFamily="18" charset="0"/>
              </a:rPr>
              <a:pPr eaLnBrk="1" hangingPunct="1"/>
              <a:t>26</a:t>
            </a:fld>
            <a:endParaRPr lang="en-US" altLang="en-US">
              <a:latin typeface="Times New Roman" panose="02020603050405020304" pitchFamily="18" charset="0"/>
            </a:endParaRPr>
          </a:p>
        </p:txBody>
      </p:sp>
      <p:pic>
        <p:nvPicPr>
          <p:cNvPr id="29702" name="Picture 2">
            <a:extLst>
              <a:ext uri="{FF2B5EF4-FFF2-40B4-BE49-F238E27FC236}">
                <a16:creationId xmlns:a16="http://schemas.microsoft.com/office/drawing/2014/main" id="{CD6B85D8-EA34-1A8D-F033-62ABDF0BA845}"/>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5105400" y="381000"/>
            <a:ext cx="3587750" cy="3048000"/>
          </a:xfrm>
          <a:noFill/>
        </p:spPr>
      </p:pic>
      <p:sp>
        <p:nvSpPr>
          <p:cNvPr id="29703" name="Rectangle 7">
            <a:extLst>
              <a:ext uri="{FF2B5EF4-FFF2-40B4-BE49-F238E27FC236}">
                <a16:creationId xmlns:a16="http://schemas.microsoft.com/office/drawing/2014/main" id="{024B5F98-F327-09CC-AD50-2FD44B948D8F}"/>
              </a:ext>
            </a:extLst>
          </p:cNvPr>
          <p:cNvSpPr>
            <a:spLocks noChangeArrowheads="1"/>
          </p:cNvSpPr>
          <p:nvPr/>
        </p:nvSpPr>
        <p:spPr bwMode="auto">
          <a:xfrm>
            <a:off x="457200" y="1752600"/>
            <a:ext cx="4572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a:latin typeface="Times New Roman" panose="02020603050405020304" pitchFamily="18" charset="0"/>
                <a:cs typeface="Times New Roman" panose="02020603050405020304" pitchFamily="18" charset="0"/>
              </a:rPr>
              <a:t>Ảnh hưởng của mặt đất ở khoảng cách 100m giữa nguồn và người nhận, nguồn và người nhận cách mặt đất khoảng 2m</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B876BD48-1806-A023-3239-E50BBE071880}"/>
              </a:ext>
            </a:extLst>
          </p:cNvPr>
          <p:cNvSpPr>
            <a:spLocks noGrp="1"/>
          </p:cNvSpPr>
          <p:nvPr>
            <p:ph type="title"/>
          </p:nvPr>
        </p:nvSpPr>
        <p:spPr bwMode="auto">
          <a:xfrm>
            <a:off x="533400" y="228600"/>
            <a:ext cx="8229600" cy="4111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Trường âm thanh</a:t>
            </a:r>
          </a:p>
        </p:txBody>
      </p:sp>
      <p:sp>
        <p:nvSpPr>
          <p:cNvPr id="30723" name="Content Placeholder 3">
            <a:extLst>
              <a:ext uri="{FF2B5EF4-FFF2-40B4-BE49-F238E27FC236}">
                <a16:creationId xmlns:a16="http://schemas.microsoft.com/office/drawing/2014/main" id="{17E3E00D-478C-6A66-2DA6-0B8F209E584E}"/>
              </a:ext>
            </a:extLst>
          </p:cNvPr>
          <p:cNvSpPr>
            <a:spLocks noGrp="1"/>
          </p:cNvSpPr>
          <p:nvPr>
            <p:ph sz="half" idx="2"/>
          </p:nvPr>
        </p:nvSpPr>
        <p:spPr>
          <a:xfrm>
            <a:off x="533400" y="2971800"/>
            <a:ext cx="8229600" cy="3200400"/>
          </a:xfrm>
        </p:spPr>
        <p:txBody>
          <a:bodyPr/>
          <a:lstStyle/>
          <a:p>
            <a:pPr lvl="1">
              <a:buFont typeface="Wingdings" panose="05000000000000000000" pitchFamily="2" charset="2"/>
              <a:buChar char="q"/>
              <a:tabLst>
                <a:tab pos="457200" algn="l"/>
              </a:tabLst>
            </a:pPr>
            <a:r>
              <a:rPr lang="en-US" altLang="en-US">
                <a:solidFill>
                  <a:schemeClr val="tx2"/>
                </a:solidFill>
              </a:rPr>
              <a:t>	</a:t>
            </a:r>
            <a:r>
              <a:rPr lang="vi-VN" altLang="en-US">
                <a:solidFill>
                  <a:schemeClr val="tx2"/>
                </a:solidFill>
              </a:rPr>
              <a:t>Trong thực tế, phần lớn các phép đo âm thanh được thực hiện trong phòng </a:t>
            </a:r>
            <a:r>
              <a:rPr lang="en-US" altLang="en-US">
                <a:solidFill>
                  <a:schemeClr val="tx2"/>
                </a:solidFill>
              </a:rPr>
              <a:t>không hẳn là phòng vang hay phòng câm </a:t>
            </a:r>
            <a:r>
              <a:rPr lang="vi-VN" altLang="en-US">
                <a:solidFill>
                  <a:schemeClr val="tx2"/>
                </a:solidFill>
              </a:rPr>
              <a:t>- nhưng đâu đó ở giữa.</a:t>
            </a:r>
            <a:r>
              <a:rPr lang="en-US" altLang="en-US">
                <a:solidFill>
                  <a:schemeClr val="tx2"/>
                </a:solidFill>
              </a:rPr>
              <a:t>hai loại này.</a:t>
            </a:r>
            <a:r>
              <a:rPr lang="vi-VN" altLang="en-US">
                <a:solidFill>
                  <a:schemeClr val="tx2"/>
                </a:solidFill>
              </a:rPr>
              <a:t> Điều này </a:t>
            </a:r>
            <a:r>
              <a:rPr lang="en-US" altLang="en-US">
                <a:solidFill>
                  <a:schemeClr val="tx2"/>
                </a:solidFill>
              </a:rPr>
              <a:t>dẫn đến </a:t>
            </a:r>
            <a:r>
              <a:rPr lang="vi-VN" altLang="en-US">
                <a:solidFill>
                  <a:schemeClr val="tx2"/>
                </a:solidFill>
              </a:rPr>
              <a:t>khó khăn </a:t>
            </a:r>
            <a:r>
              <a:rPr lang="en-US" altLang="en-US">
                <a:solidFill>
                  <a:schemeClr val="tx2"/>
                </a:solidFill>
              </a:rPr>
              <a:t>trong việc</a:t>
            </a:r>
            <a:r>
              <a:rPr lang="vi-VN" altLang="en-US">
                <a:solidFill>
                  <a:schemeClr val="tx2"/>
                </a:solidFill>
              </a:rPr>
              <a:t> tìm ra vị trí đo đúng nơi tiếng ồn</a:t>
            </a:r>
            <a:r>
              <a:rPr lang="en-US" altLang="en-US">
                <a:solidFill>
                  <a:schemeClr val="tx2"/>
                </a:solidFill>
              </a:rPr>
              <a:t> phát xạ ra </a:t>
            </a:r>
            <a:r>
              <a:rPr lang="vi-VN" altLang="en-US">
                <a:solidFill>
                  <a:schemeClr val="tx2"/>
                </a:solidFill>
              </a:rPr>
              <a:t>từ một nguồn </a:t>
            </a:r>
            <a:r>
              <a:rPr lang="en-US" altLang="en-US">
                <a:solidFill>
                  <a:schemeClr val="tx2"/>
                </a:solidFill>
              </a:rPr>
              <a:t>âm cho trước.</a:t>
            </a:r>
          </a:p>
          <a:p>
            <a:pPr>
              <a:lnSpc>
                <a:spcPct val="100000"/>
              </a:lnSpc>
              <a:buFont typeface="Wingdings" panose="05000000000000000000" pitchFamily="2" charset="2"/>
              <a:buChar char="q"/>
              <a:tabLst>
                <a:tab pos="457200" algn="l"/>
              </a:tabLst>
            </a:pPr>
            <a:r>
              <a:rPr lang="en-US" altLang="en-US">
                <a:solidFill>
                  <a:schemeClr val="tx2"/>
                </a:solidFill>
              </a:rPr>
              <a:t>	Thông thường trong thực hành không gian xung quanh nguồn ồn, ví dụ như máy móc được chia thành bốn trường: trường gần, trường xa, trường tự do và trường vang (reverberant field).</a:t>
            </a:r>
          </a:p>
          <a:p>
            <a:pPr>
              <a:lnSpc>
                <a:spcPct val="100000"/>
              </a:lnSpc>
              <a:buFont typeface="Wingdings" panose="05000000000000000000" pitchFamily="2" charset="2"/>
              <a:buChar char="q"/>
              <a:tabLst>
                <a:tab pos="457200" algn="l"/>
              </a:tabLst>
            </a:pPr>
            <a:r>
              <a:rPr lang="en-US" altLang="en-US">
                <a:solidFill>
                  <a:schemeClr val="tx2"/>
                </a:solidFill>
              </a:rPr>
              <a:t>	Trường gần là không gian cận kề nguồn ồn, tại đó mức áp suất âm có thể thay đổi đáng kể khi thay đổi vị trí. Khu vực này kéo dài đến khoảng cách nhỏ hơn bước sóng của tần số thấp nhất phát ra bởi nguồn ồn hoặc ít nhất bằng hai lần kích thước lớn nhất của nguồn ồn. Nên tránh phép đo mức áp suất âm trong vùng này. </a:t>
            </a:r>
          </a:p>
          <a:p>
            <a:pPr>
              <a:lnSpc>
                <a:spcPct val="100000"/>
              </a:lnSpc>
              <a:buFont typeface="Wingdings" panose="05000000000000000000" pitchFamily="2" charset="2"/>
              <a:buChar char="q"/>
              <a:tabLst>
                <a:tab pos="457200" algn="l"/>
              </a:tabLst>
            </a:pPr>
            <a:r>
              <a:rPr lang="en-US" altLang="en-US">
                <a:solidFill>
                  <a:schemeClr val="tx2"/>
                </a:solidFill>
              </a:rPr>
              <a:t>	Trường xa được chia thành trường tự do và trường vang. Trong trường tự do sóng âm diễn ra như trong không gian mở không có vật cản can thiệp vào đường truyền của nó. Điều đó có nghĩa là trong vùng này áp suất âm giảm 6 dB khi khoảng cách tăng gấp đôi.</a:t>
            </a:r>
          </a:p>
          <a:p>
            <a:pPr>
              <a:lnSpc>
                <a:spcPct val="100000"/>
              </a:lnSpc>
              <a:buFont typeface="Wingdings" panose="05000000000000000000" pitchFamily="2" charset="2"/>
              <a:buChar char="q"/>
              <a:tabLst>
                <a:tab pos="457200" algn="l"/>
              </a:tabLst>
            </a:pPr>
            <a:r>
              <a:rPr lang="en-US" altLang="en-US">
                <a:solidFill>
                  <a:schemeClr val="tx2"/>
                </a:solidFill>
              </a:rPr>
              <a:t>	Trong trường vang, sóng phản xạ từ các bức tường và các đồ vật khác có thể cũng lớn như trong trực tiếp phát ra từ nguồn.</a:t>
            </a:r>
          </a:p>
          <a:p>
            <a:pPr>
              <a:buFontTx/>
              <a:buChar char="•"/>
              <a:tabLst>
                <a:tab pos="457200" algn="l"/>
              </a:tabLst>
            </a:pPr>
            <a:endParaRPr lang="en-US" altLang="en-US"/>
          </a:p>
        </p:txBody>
      </p:sp>
      <p:sp>
        <p:nvSpPr>
          <p:cNvPr id="30724" name="Footer Placeholder 4">
            <a:extLst>
              <a:ext uri="{FF2B5EF4-FFF2-40B4-BE49-F238E27FC236}">
                <a16:creationId xmlns:a16="http://schemas.microsoft.com/office/drawing/2014/main" id="{DEB85ACF-8588-A8C3-B1A5-620C9939C738}"/>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US" altLang="en-US">
                <a:latin typeface="Times New Roman" panose="02020603050405020304" pitchFamily="18" charset="0"/>
              </a:rPr>
              <a:t>Viện Đo lường Việt nam</a:t>
            </a:r>
          </a:p>
          <a:p>
            <a:pPr algn="l" eaLnBrk="1" hangingPunct="1"/>
            <a:r>
              <a:rPr lang="en-US" altLang="en-US">
                <a:latin typeface="Times New Roman" panose="02020603050405020304" pitchFamily="18" charset="0"/>
              </a:rPr>
              <a:t>Việt nam Metrology Institute</a:t>
            </a:r>
          </a:p>
          <a:p>
            <a:pPr algn="l" eaLnBrk="1" hangingPunct="1"/>
            <a:endParaRPr lang="en-US" altLang="en-US" sz="1800"/>
          </a:p>
          <a:p>
            <a:pPr eaLnBrk="1" hangingPunct="1"/>
            <a:endParaRPr lang="en-US" altLang="en-US">
              <a:latin typeface=".VnHelvetInsH" pitchFamily="34" charset="0"/>
            </a:endParaRPr>
          </a:p>
        </p:txBody>
      </p:sp>
      <p:sp>
        <p:nvSpPr>
          <p:cNvPr id="30725" name="Slide Number Placeholder 5">
            <a:extLst>
              <a:ext uri="{FF2B5EF4-FFF2-40B4-BE49-F238E27FC236}">
                <a16:creationId xmlns:a16="http://schemas.microsoft.com/office/drawing/2014/main" id="{F1BE7234-9E6E-4F0A-E9A3-B9B282A9AC9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593C605-1E2A-454F-9E81-32E084C45BE3}" type="slidenum">
              <a:rPr lang="en-US" altLang="en-US">
                <a:latin typeface="Times New Roman" panose="02020603050405020304" pitchFamily="18" charset="0"/>
              </a:rPr>
              <a:pPr eaLnBrk="1" hangingPunct="1"/>
              <a:t>27</a:t>
            </a:fld>
            <a:endParaRPr lang="en-US" altLang="en-US">
              <a:latin typeface="Times New Roman" panose="02020603050405020304" pitchFamily="18" charset="0"/>
            </a:endParaRPr>
          </a:p>
        </p:txBody>
      </p:sp>
      <p:pic>
        <p:nvPicPr>
          <p:cNvPr id="30726" name="Picture 2">
            <a:extLst>
              <a:ext uri="{FF2B5EF4-FFF2-40B4-BE49-F238E27FC236}">
                <a16:creationId xmlns:a16="http://schemas.microsoft.com/office/drawing/2014/main" id="{06ABFD81-112E-7C5B-465D-79CD718EEC2E}"/>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2590800" y="304800"/>
            <a:ext cx="4170363" cy="2667000"/>
          </a:xfrm>
          <a:noFill/>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7AFBF942-D359-B8FF-9FE0-F605D8A7E5E3}"/>
              </a:ext>
            </a:extLst>
          </p:cNvPr>
          <p:cNvSpPr>
            <a:spLocks noGrp="1"/>
          </p:cNvSpPr>
          <p:nvPr>
            <p:ph type="title"/>
          </p:nvPr>
        </p:nvSpPr>
        <p:spPr bwMode="auto">
          <a:xfrm>
            <a:off x="533400" y="228600"/>
            <a:ext cx="8229600" cy="4111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Áp suất âm tăng tại bề mặt các bức tường</a:t>
            </a:r>
          </a:p>
        </p:txBody>
      </p:sp>
      <p:sp>
        <p:nvSpPr>
          <p:cNvPr id="31747" name="Content Placeholder 3">
            <a:extLst>
              <a:ext uri="{FF2B5EF4-FFF2-40B4-BE49-F238E27FC236}">
                <a16:creationId xmlns:a16="http://schemas.microsoft.com/office/drawing/2014/main" id="{14F554B8-8CAB-BD68-6A2F-7B7B9A5F027E}"/>
              </a:ext>
            </a:extLst>
          </p:cNvPr>
          <p:cNvSpPr>
            <a:spLocks noGrp="1"/>
          </p:cNvSpPr>
          <p:nvPr>
            <p:ph sz="half" idx="2"/>
          </p:nvPr>
        </p:nvSpPr>
        <p:spPr/>
        <p:txBody>
          <a:bodyPr/>
          <a:lstStyle/>
          <a:p>
            <a:pPr>
              <a:buFontTx/>
              <a:buChar char="•"/>
              <a:tabLst>
                <a:tab pos="457200" algn="l"/>
              </a:tabLst>
            </a:pPr>
            <a:r>
              <a:rPr lang="en-US" altLang="en-US">
                <a:solidFill>
                  <a:schemeClr val="tx2"/>
                </a:solidFill>
              </a:rPr>
              <a:t> Mức áp suất âm L</a:t>
            </a:r>
            <a:r>
              <a:rPr lang="en-US" altLang="en-US" baseline="-25000">
                <a:solidFill>
                  <a:schemeClr val="tx2"/>
                </a:solidFill>
              </a:rPr>
              <a:t>p</a:t>
            </a:r>
            <a:r>
              <a:rPr lang="en-US" altLang="en-US">
                <a:solidFill>
                  <a:schemeClr val="tx2"/>
                </a:solidFill>
              </a:rPr>
              <a:t> gần với bề mặt phản xạ sẽ bị lặp lại và được xem như là có 2 mức áp suất âm cùng pha và biên độ. Do đó áp suất âm gần bề mặt  sẽ được nhân đôi</a:t>
            </a:r>
          </a:p>
          <a:p>
            <a:pPr>
              <a:buFontTx/>
              <a:buChar char="•"/>
              <a:tabLst>
                <a:tab pos="457200" algn="l"/>
              </a:tabLst>
            </a:pPr>
            <a:r>
              <a:rPr lang="en-US" altLang="en-US">
                <a:solidFill>
                  <a:schemeClr val="tx2"/>
                </a:solidFill>
              </a:rPr>
              <a:t> L= L</a:t>
            </a:r>
            <a:r>
              <a:rPr lang="en-US" altLang="en-US" baseline="-25000">
                <a:solidFill>
                  <a:schemeClr val="tx2"/>
                </a:solidFill>
              </a:rPr>
              <a:t>p</a:t>
            </a:r>
            <a:r>
              <a:rPr lang="en-US" altLang="en-US">
                <a:solidFill>
                  <a:schemeClr val="tx2"/>
                </a:solidFill>
              </a:rPr>
              <a:t> + 6 dB</a:t>
            </a:r>
            <a:endParaRPr lang="en-US" altLang="en-US"/>
          </a:p>
        </p:txBody>
      </p:sp>
      <p:sp>
        <p:nvSpPr>
          <p:cNvPr id="31748" name="Footer Placeholder 4">
            <a:extLst>
              <a:ext uri="{FF2B5EF4-FFF2-40B4-BE49-F238E27FC236}">
                <a16:creationId xmlns:a16="http://schemas.microsoft.com/office/drawing/2014/main" id="{A787688B-C738-CFAE-CBBB-95E14F5E3012}"/>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US" altLang="en-US">
                <a:latin typeface="Times New Roman" panose="02020603050405020304" pitchFamily="18" charset="0"/>
              </a:rPr>
              <a:t>Viện Đo lường Việt nam</a:t>
            </a:r>
          </a:p>
          <a:p>
            <a:pPr algn="l" eaLnBrk="1" hangingPunct="1"/>
            <a:r>
              <a:rPr lang="en-US" altLang="en-US">
                <a:latin typeface="Times New Roman" panose="02020603050405020304" pitchFamily="18" charset="0"/>
              </a:rPr>
              <a:t>Việt nam Metrology Institute</a:t>
            </a:r>
          </a:p>
          <a:p>
            <a:pPr algn="l" eaLnBrk="1" hangingPunct="1"/>
            <a:endParaRPr lang="en-US" altLang="en-US">
              <a:latin typeface="Times New Roman" panose="02020603050405020304" pitchFamily="18" charset="0"/>
            </a:endParaRPr>
          </a:p>
          <a:p>
            <a:pPr eaLnBrk="1" hangingPunct="1"/>
            <a:endParaRPr lang="en-US" altLang="en-US">
              <a:latin typeface=".VnHelvetInsH" pitchFamily="34" charset="0"/>
            </a:endParaRPr>
          </a:p>
        </p:txBody>
      </p:sp>
      <p:sp>
        <p:nvSpPr>
          <p:cNvPr id="31749" name="Slide Number Placeholder 5">
            <a:extLst>
              <a:ext uri="{FF2B5EF4-FFF2-40B4-BE49-F238E27FC236}">
                <a16:creationId xmlns:a16="http://schemas.microsoft.com/office/drawing/2014/main" id="{3D81E9CB-8054-82B5-B911-5E0BB99D8370}"/>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DBEF36E-5312-47E3-91E2-41654CC53C2F}" type="slidenum">
              <a:rPr lang="en-US" altLang="en-US">
                <a:latin typeface="Times New Roman" panose="02020603050405020304" pitchFamily="18" charset="0"/>
              </a:rPr>
              <a:pPr eaLnBrk="1" hangingPunct="1"/>
              <a:t>28</a:t>
            </a:fld>
            <a:endParaRPr lang="en-US" altLang="en-US">
              <a:latin typeface="Times New Roman" panose="02020603050405020304" pitchFamily="18" charset="0"/>
            </a:endParaRPr>
          </a:p>
        </p:txBody>
      </p:sp>
      <p:pic>
        <p:nvPicPr>
          <p:cNvPr id="31750" name="Picture 2">
            <a:extLst>
              <a:ext uri="{FF2B5EF4-FFF2-40B4-BE49-F238E27FC236}">
                <a16:creationId xmlns:a16="http://schemas.microsoft.com/office/drawing/2014/main" id="{EA509EFE-F49F-28DC-FC98-091FBC95E020}"/>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2459038" y="762000"/>
            <a:ext cx="4378325" cy="2667000"/>
          </a:xfrm>
          <a:noFill/>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a:extLst>
              <a:ext uri="{FF2B5EF4-FFF2-40B4-BE49-F238E27FC236}">
                <a16:creationId xmlns:a16="http://schemas.microsoft.com/office/drawing/2014/main" id="{EBD24156-C447-E8DB-EF69-ED021AA1F5A7}"/>
              </a:ext>
            </a:extLst>
          </p:cNvPr>
          <p:cNvSpPr>
            <a:spLocks noGrp="1"/>
          </p:cNvSpPr>
          <p:nvPr>
            <p:ph type="title"/>
          </p:nvPr>
        </p:nvSpPr>
        <p:spPr bwMode="auto">
          <a:xfrm>
            <a:off x="533400" y="228600"/>
            <a:ext cx="8229600" cy="4111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Phòng câm và phòng vang</a:t>
            </a:r>
          </a:p>
        </p:txBody>
      </p:sp>
      <p:sp>
        <p:nvSpPr>
          <p:cNvPr id="4" name="Content Placeholder 3">
            <a:extLst>
              <a:ext uri="{FF2B5EF4-FFF2-40B4-BE49-F238E27FC236}">
                <a16:creationId xmlns:a16="http://schemas.microsoft.com/office/drawing/2014/main" id="{60FD244A-BBEB-A75E-6322-4CCF97107652}"/>
              </a:ext>
            </a:extLst>
          </p:cNvPr>
          <p:cNvSpPr>
            <a:spLocks noGrp="1"/>
          </p:cNvSpPr>
          <p:nvPr>
            <p:ph sz="half" idx="2"/>
          </p:nvPr>
        </p:nvSpPr>
        <p:spPr>
          <a:xfrm>
            <a:off x="533400" y="3429000"/>
            <a:ext cx="8229600" cy="2743200"/>
          </a:xfrm>
        </p:spPr>
        <p:txBody>
          <a:bodyPr/>
          <a:lstStyle/>
          <a:p>
            <a:pPr lvl="1">
              <a:buFont typeface="Arial" pitchFamily="34" charset="0"/>
              <a:buChar char="•"/>
              <a:tabLst>
                <a:tab pos="457200" algn="l"/>
              </a:tabLst>
            </a:pPr>
            <a:r>
              <a:rPr lang="en-US" altLang="en-US">
                <a:solidFill>
                  <a:schemeClr val="tx2"/>
                </a:solidFill>
              </a:rPr>
              <a:t>	Năng lượng âm thanh không phải lúc nào cũng được phát xạ một cách tự do từ nguồn âm. Khi sóng âm đập vào các bề mặt như tường, trần và sàn…một phần năng lượng sẽ phản xạ, và một phần bị hấp thụ và truyền qua các bề mặt đó. </a:t>
            </a:r>
          </a:p>
          <a:p>
            <a:pPr>
              <a:buFontTx/>
              <a:buChar char="•"/>
              <a:tabLst>
                <a:tab pos="457200" algn="l"/>
              </a:tabLst>
            </a:pPr>
            <a:r>
              <a:rPr lang="en-US" altLang="en-US">
                <a:solidFill>
                  <a:schemeClr val="tx2"/>
                </a:solidFill>
              </a:rPr>
              <a:t>	Trong một phòng có các bề mặt cứng, tất cả năng lượng sẽ bị phản xạ và hình thành nên một trường hỗn loạn với năng lượng âm thanh được phân bố đồng đều trong cả phòng. Một phòng như vậy được gọi là phòng vang.</a:t>
            </a:r>
          </a:p>
          <a:p>
            <a:pPr>
              <a:buFontTx/>
              <a:buChar char="•"/>
              <a:tabLst>
                <a:tab pos="457200" algn="l"/>
              </a:tabLst>
            </a:pPr>
            <a:r>
              <a:rPr lang="en-US" altLang="en-US">
                <a:solidFill>
                  <a:schemeClr val="tx2"/>
                </a:solidFill>
              </a:rPr>
              <a:t>	Trong một căn phòng mà có các bề mặt có độ hấp thụ cao, toàn bộ năng lượng sẽ bị hấp thụ vào các bề mặt này và năng lượng âm được lan xa từ nguồn như là nguồn âm trong một trường tự do. Một căn phòng như vậy được gọi là phòng câm.</a:t>
            </a:r>
          </a:p>
          <a:p>
            <a:pPr>
              <a:buFontTx/>
              <a:buChar char="•"/>
              <a:tabLst>
                <a:tab pos="457200" algn="l"/>
              </a:tabLst>
            </a:pPr>
            <a:endParaRPr lang="en-US" altLang="en-US"/>
          </a:p>
        </p:txBody>
      </p:sp>
      <p:sp>
        <p:nvSpPr>
          <p:cNvPr id="32772" name="Footer Placeholder 4">
            <a:extLst>
              <a:ext uri="{FF2B5EF4-FFF2-40B4-BE49-F238E27FC236}">
                <a16:creationId xmlns:a16="http://schemas.microsoft.com/office/drawing/2014/main" id="{90C6B746-2E4B-E121-940F-954BFBBD3244}"/>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US" altLang="en-US">
                <a:latin typeface="Times New Roman" panose="02020603050405020304" pitchFamily="18" charset="0"/>
              </a:rPr>
              <a:t>Viện Đo lường Việt nam</a:t>
            </a:r>
          </a:p>
          <a:p>
            <a:pPr algn="l" eaLnBrk="1" hangingPunct="1"/>
            <a:r>
              <a:rPr lang="en-US" altLang="en-US">
                <a:latin typeface="Times New Roman" panose="02020603050405020304" pitchFamily="18" charset="0"/>
              </a:rPr>
              <a:t>Việt nam Metrology Institute</a:t>
            </a:r>
          </a:p>
          <a:p>
            <a:pPr algn="l" eaLnBrk="1" hangingPunct="1"/>
            <a:endParaRPr lang="en-US" altLang="en-US" sz="1800"/>
          </a:p>
          <a:p>
            <a:pPr eaLnBrk="1" hangingPunct="1"/>
            <a:endParaRPr lang="en-US" altLang="en-US">
              <a:latin typeface=".VnHelvetInsH" pitchFamily="34" charset="0"/>
            </a:endParaRPr>
          </a:p>
        </p:txBody>
      </p:sp>
      <p:sp>
        <p:nvSpPr>
          <p:cNvPr id="32773" name="Slide Number Placeholder 5">
            <a:extLst>
              <a:ext uri="{FF2B5EF4-FFF2-40B4-BE49-F238E27FC236}">
                <a16:creationId xmlns:a16="http://schemas.microsoft.com/office/drawing/2014/main" id="{3D0212DB-1B97-89AA-1495-CA28579532A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65FC626-6A8F-470A-99A5-A22FDA239126}" type="slidenum">
              <a:rPr lang="en-US" altLang="en-US">
                <a:latin typeface="Times New Roman" panose="02020603050405020304" pitchFamily="18" charset="0"/>
              </a:rPr>
              <a:pPr eaLnBrk="1" hangingPunct="1"/>
              <a:t>29</a:t>
            </a:fld>
            <a:endParaRPr lang="en-US" altLang="en-US">
              <a:latin typeface="Times New Roman" panose="02020603050405020304" pitchFamily="18" charset="0"/>
            </a:endParaRPr>
          </a:p>
        </p:txBody>
      </p:sp>
      <p:pic>
        <p:nvPicPr>
          <p:cNvPr id="32774" name="Picture 2">
            <a:extLst>
              <a:ext uri="{FF2B5EF4-FFF2-40B4-BE49-F238E27FC236}">
                <a16:creationId xmlns:a16="http://schemas.microsoft.com/office/drawing/2014/main" id="{9CD6F92A-07A5-4EE7-910B-D9C8938621D5}"/>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1965325" y="762000"/>
            <a:ext cx="5365750" cy="2667000"/>
          </a:xfr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a:extLst>
              <a:ext uri="{FF2B5EF4-FFF2-40B4-BE49-F238E27FC236}">
                <a16:creationId xmlns:a16="http://schemas.microsoft.com/office/drawing/2014/main" id="{8640A337-B893-6BF2-6AE0-9AD95E461896}"/>
              </a:ext>
            </a:extLst>
          </p:cNvPr>
          <p:cNvSpPr>
            <a:spLocks noGrp="1"/>
          </p:cNvSpPr>
          <p:nvPr>
            <p:ph type="title"/>
          </p:nvPr>
        </p:nvSpPr>
        <p:spPr bwMode="auto">
          <a:xfrm>
            <a:off x="533400" y="228600"/>
            <a:ext cx="8229600" cy="4111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Trường áp suất</a:t>
            </a:r>
          </a:p>
        </p:txBody>
      </p:sp>
      <p:sp>
        <p:nvSpPr>
          <p:cNvPr id="33795" name="Content Placeholder 3">
            <a:extLst>
              <a:ext uri="{FF2B5EF4-FFF2-40B4-BE49-F238E27FC236}">
                <a16:creationId xmlns:a16="http://schemas.microsoft.com/office/drawing/2014/main" id="{69BA244C-591E-DFBA-1D42-31DABD3EC8B9}"/>
              </a:ext>
            </a:extLst>
          </p:cNvPr>
          <p:cNvSpPr>
            <a:spLocks noGrp="1"/>
          </p:cNvSpPr>
          <p:nvPr>
            <p:ph sz="half" idx="2"/>
          </p:nvPr>
        </p:nvSpPr>
        <p:spPr/>
        <p:txBody>
          <a:bodyPr/>
          <a:lstStyle/>
          <a:p>
            <a:pPr>
              <a:buFontTx/>
              <a:buNone/>
            </a:pPr>
            <a:r>
              <a:rPr lang="en-US" altLang="en-US">
                <a:solidFill>
                  <a:schemeClr val="tx2"/>
                </a:solidFill>
              </a:rPr>
              <a:t>Trong một trường áp suất, bước sóng âm dài hơn so với kích thước của không gian kín, và áp suất âm là đồng đều trong không gian ấy.  Trường này thường được sử dụng trong các thiết bị hiệu chuẩn máy đo độ ồn.</a:t>
            </a:r>
            <a:endParaRPr lang="en-US" altLang="en-US"/>
          </a:p>
        </p:txBody>
      </p:sp>
      <p:sp>
        <p:nvSpPr>
          <p:cNvPr id="33796" name="Footer Placeholder 4">
            <a:extLst>
              <a:ext uri="{FF2B5EF4-FFF2-40B4-BE49-F238E27FC236}">
                <a16:creationId xmlns:a16="http://schemas.microsoft.com/office/drawing/2014/main" id="{7D981762-4C1E-93F8-3755-8B6901381F8E}"/>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US" altLang="en-US">
                <a:latin typeface="Times New Roman" panose="02020603050405020304" pitchFamily="18" charset="0"/>
              </a:rPr>
              <a:t>Viện Đo lường Việt nam</a:t>
            </a:r>
          </a:p>
          <a:p>
            <a:pPr algn="l" eaLnBrk="1" hangingPunct="1"/>
            <a:r>
              <a:rPr lang="en-US" altLang="en-US">
                <a:latin typeface="Times New Roman" panose="02020603050405020304" pitchFamily="18" charset="0"/>
              </a:rPr>
              <a:t>Việt nam Metrology Institute</a:t>
            </a:r>
          </a:p>
          <a:p>
            <a:pPr algn="l" eaLnBrk="1" hangingPunct="1"/>
            <a:endParaRPr lang="en-US" altLang="en-US" sz="1800"/>
          </a:p>
          <a:p>
            <a:pPr eaLnBrk="1" hangingPunct="1"/>
            <a:endParaRPr lang="en-US" altLang="en-US">
              <a:latin typeface=".VnHelvetInsH" pitchFamily="34" charset="0"/>
            </a:endParaRPr>
          </a:p>
        </p:txBody>
      </p:sp>
      <p:sp>
        <p:nvSpPr>
          <p:cNvPr id="33797" name="Slide Number Placeholder 5">
            <a:extLst>
              <a:ext uri="{FF2B5EF4-FFF2-40B4-BE49-F238E27FC236}">
                <a16:creationId xmlns:a16="http://schemas.microsoft.com/office/drawing/2014/main" id="{BCC3EB0C-4E38-09AD-0648-69BF6DCB6A4D}"/>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A3C8A06-FBB4-4875-A73A-88A9FCF06A87}" type="slidenum">
              <a:rPr lang="en-US" altLang="en-US">
                <a:latin typeface="Times New Roman" panose="02020603050405020304" pitchFamily="18" charset="0"/>
              </a:rPr>
              <a:pPr eaLnBrk="1" hangingPunct="1"/>
              <a:t>30</a:t>
            </a:fld>
            <a:endParaRPr lang="en-US" altLang="en-US">
              <a:latin typeface="Times New Roman" panose="02020603050405020304" pitchFamily="18" charset="0"/>
            </a:endParaRPr>
          </a:p>
        </p:txBody>
      </p:sp>
      <p:pic>
        <p:nvPicPr>
          <p:cNvPr id="33798" name="Picture 3">
            <a:extLst>
              <a:ext uri="{FF2B5EF4-FFF2-40B4-BE49-F238E27FC236}">
                <a16:creationId xmlns:a16="http://schemas.microsoft.com/office/drawing/2014/main" id="{2932984C-D517-08E4-9F0E-3C0A8808BFEC}"/>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3314700" y="762000"/>
            <a:ext cx="2667000" cy="2667000"/>
          </a:xfrm>
          <a:noFill/>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a:extLst>
              <a:ext uri="{FF2B5EF4-FFF2-40B4-BE49-F238E27FC236}">
                <a16:creationId xmlns:a16="http://schemas.microsoft.com/office/drawing/2014/main" id="{0EEDD297-06A8-5A08-4467-3F6C12375FC3}"/>
              </a:ext>
            </a:extLst>
          </p:cNvPr>
          <p:cNvSpPr>
            <a:spLocks noGrp="1"/>
          </p:cNvSpPr>
          <p:nvPr>
            <p:ph type="title"/>
          </p:nvPr>
        </p:nvSpPr>
        <p:spPr bwMode="auto">
          <a:xfrm>
            <a:off x="533400" y="228600"/>
            <a:ext cx="8229600" cy="4111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Áp suất âm từ hai nguồn âm</a:t>
            </a:r>
          </a:p>
        </p:txBody>
      </p:sp>
      <p:sp>
        <p:nvSpPr>
          <p:cNvPr id="34819" name="Content Placeholder 3">
            <a:extLst>
              <a:ext uri="{FF2B5EF4-FFF2-40B4-BE49-F238E27FC236}">
                <a16:creationId xmlns:a16="http://schemas.microsoft.com/office/drawing/2014/main" id="{45772750-4D4F-145C-FB34-9DD753430ED2}"/>
              </a:ext>
            </a:extLst>
          </p:cNvPr>
          <p:cNvSpPr>
            <a:spLocks noGrp="1"/>
          </p:cNvSpPr>
          <p:nvPr>
            <p:ph sz="half" idx="2"/>
          </p:nvPr>
        </p:nvSpPr>
        <p:spPr>
          <a:xfrm>
            <a:off x="533400" y="4267200"/>
            <a:ext cx="8229600" cy="1905000"/>
          </a:xfrm>
        </p:spPr>
        <p:txBody>
          <a:bodyPr/>
          <a:lstStyle/>
          <a:p>
            <a:pPr lvl="1">
              <a:buFont typeface="Wingdings" panose="05000000000000000000" pitchFamily="2" charset="2"/>
              <a:buChar char="q"/>
              <a:tabLst>
                <a:tab pos="457200" algn="l"/>
              </a:tabLst>
            </a:pPr>
            <a:r>
              <a:rPr lang="en-US" altLang="en-US">
                <a:solidFill>
                  <a:schemeClr val="tx2"/>
                </a:solidFill>
              </a:rPr>
              <a:t>	Nếu hai nguồn âm cùng phát xạ năng lượng thì chúng đều góp phần vào mức áp suất âm  tại một điểm. Nếu hai nguồn này phát xạ năng lượng bằng nhau thì tại một điểm cách đều hai nguồn này cường độ âm tăng gấp hai lần so với chỉ một nguồn phát xạ, trong khí đó áp suất âm sẽ tăng lên X  lần và 3 dB.</a:t>
            </a:r>
          </a:p>
          <a:p>
            <a:pPr>
              <a:buFont typeface="Wingdings" panose="05000000000000000000" pitchFamily="2" charset="2"/>
              <a:buChar char="q"/>
              <a:tabLst>
                <a:tab pos="457200" algn="l"/>
              </a:tabLst>
            </a:pPr>
            <a:r>
              <a:rPr lang="en-US" altLang="en-US">
                <a:solidFill>
                  <a:schemeClr val="tx2"/>
                </a:solidFill>
              </a:rPr>
              <a:t>	Lưu ý rằng khi công mức áp suất âm tại 1 điểm từ hai nguồn âm thì không phải là phép cộng tổng của hai giá trị dB</a:t>
            </a:r>
            <a:endParaRPr lang="en-US" altLang="en-US"/>
          </a:p>
          <a:p>
            <a:pPr>
              <a:buFontTx/>
              <a:buChar char="•"/>
              <a:tabLst>
                <a:tab pos="457200" algn="l"/>
              </a:tabLst>
            </a:pPr>
            <a:endParaRPr lang="en-US" altLang="en-US"/>
          </a:p>
        </p:txBody>
      </p:sp>
      <p:sp>
        <p:nvSpPr>
          <p:cNvPr id="34820" name="Footer Placeholder 4">
            <a:extLst>
              <a:ext uri="{FF2B5EF4-FFF2-40B4-BE49-F238E27FC236}">
                <a16:creationId xmlns:a16="http://schemas.microsoft.com/office/drawing/2014/main" id="{B32AEBD7-76D1-01BE-0277-FE5F4320910B}"/>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US" altLang="en-US">
                <a:latin typeface="Times New Roman" panose="02020603050405020304" pitchFamily="18" charset="0"/>
              </a:rPr>
              <a:t>Viện Đo lường Việt nam</a:t>
            </a:r>
          </a:p>
          <a:p>
            <a:pPr algn="l" eaLnBrk="1" hangingPunct="1"/>
            <a:r>
              <a:rPr lang="en-US" altLang="en-US">
                <a:latin typeface="Times New Roman" panose="02020603050405020304" pitchFamily="18" charset="0"/>
              </a:rPr>
              <a:t>Việt nam Metrology Institute</a:t>
            </a:r>
          </a:p>
          <a:p>
            <a:pPr algn="l" eaLnBrk="1" hangingPunct="1"/>
            <a:endParaRPr lang="en-US" altLang="en-US" sz="1800"/>
          </a:p>
          <a:p>
            <a:pPr eaLnBrk="1" hangingPunct="1"/>
            <a:endParaRPr lang="en-US" altLang="en-US">
              <a:latin typeface=".VnHelvetInsH" pitchFamily="34" charset="0"/>
            </a:endParaRPr>
          </a:p>
        </p:txBody>
      </p:sp>
      <p:sp>
        <p:nvSpPr>
          <p:cNvPr id="34821" name="Slide Number Placeholder 5">
            <a:extLst>
              <a:ext uri="{FF2B5EF4-FFF2-40B4-BE49-F238E27FC236}">
                <a16:creationId xmlns:a16="http://schemas.microsoft.com/office/drawing/2014/main" id="{0087FAE2-FAA1-8B79-FF01-8ADF2C6F9B6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0872BE7-979F-4022-B025-550B9AC45B2B}" type="slidenum">
              <a:rPr lang="en-US" altLang="en-US">
                <a:latin typeface="Times New Roman" panose="02020603050405020304" pitchFamily="18" charset="0"/>
              </a:rPr>
              <a:pPr eaLnBrk="1" hangingPunct="1"/>
              <a:t>31</a:t>
            </a:fld>
            <a:endParaRPr lang="en-US" altLang="en-US">
              <a:latin typeface="Times New Roman" panose="02020603050405020304" pitchFamily="18" charset="0"/>
            </a:endParaRPr>
          </a:p>
        </p:txBody>
      </p:sp>
      <p:pic>
        <p:nvPicPr>
          <p:cNvPr id="34822" name="Picture 2">
            <a:extLst>
              <a:ext uri="{FF2B5EF4-FFF2-40B4-BE49-F238E27FC236}">
                <a16:creationId xmlns:a16="http://schemas.microsoft.com/office/drawing/2014/main" id="{03FECBC2-052B-7051-A810-6AB91BDED47C}"/>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2538413" y="762000"/>
            <a:ext cx="4219575" cy="2667000"/>
          </a:xfrm>
          <a:noFill/>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a:extLst>
              <a:ext uri="{FF2B5EF4-FFF2-40B4-BE49-F238E27FC236}">
                <a16:creationId xmlns:a16="http://schemas.microsoft.com/office/drawing/2014/main" id="{63DE7F26-24EE-237A-48FB-06C478797FD8}"/>
              </a:ext>
            </a:extLst>
          </p:cNvPr>
          <p:cNvSpPr>
            <a:spLocks noGrp="1"/>
          </p:cNvSpPr>
          <p:nvPr>
            <p:ph type="title"/>
          </p:nvPr>
        </p:nvSpPr>
        <p:spPr bwMode="auto">
          <a:xfrm>
            <a:off x="533400" y="228600"/>
            <a:ext cx="8229600" cy="4111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Phép cộng hai giá trị dB</a:t>
            </a:r>
          </a:p>
        </p:txBody>
      </p:sp>
      <p:sp>
        <p:nvSpPr>
          <p:cNvPr id="4" name="Content Placeholder 3">
            <a:extLst>
              <a:ext uri="{FF2B5EF4-FFF2-40B4-BE49-F238E27FC236}">
                <a16:creationId xmlns:a16="http://schemas.microsoft.com/office/drawing/2014/main" id="{D9D4497B-1728-6359-D42A-267F2880DA51}"/>
              </a:ext>
            </a:extLst>
          </p:cNvPr>
          <p:cNvSpPr>
            <a:spLocks noGrp="1"/>
          </p:cNvSpPr>
          <p:nvPr>
            <p:ph sz="half" idx="2"/>
          </p:nvPr>
        </p:nvSpPr>
        <p:spPr>
          <a:xfrm>
            <a:off x="533400" y="3124200"/>
            <a:ext cx="8229600" cy="3048000"/>
          </a:xfrm>
        </p:spPr>
        <p:txBody>
          <a:bodyPr/>
          <a:lstStyle/>
          <a:p>
            <a:pPr>
              <a:buFontTx/>
              <a:buChar char="•"/>
            </a:pPr>
            <a:r>
              <a:rPr lang="en-US" altLang="en-US"/>
              <a:t>Nếu hai nguồn âm có năng lượng phát khác nhau, thì tổng mức áp suất âm sẽ được tính bằng cách đổi các giá trị dB về giá trị tuyến tính, công lại và đổi trở lại thành dB. Trên hình là một cách đơn giản hơn để công hai mức dB.</a:t>
            </a:r>
          </a:p>
          <a:p>
            <a:pPr>
              <a:buFontTx/>
              <a:buAutoNum type="arabicPeriod"/>
            </a:pPr>
            <a:r>
              <a:rPr lang="en-US" altLang="en-US"/>
              <a:t>Tính hiệu ∆L của hai mức áp suất âm</a:t>
            </a:r>
          </a:p>
          <a:p>
            <a:pPr>
              <a:buFontTx/>
              <a:buAutoNum type="arabicPeriod"/>
            </a:pPr>
            <a:r>
              <a:rPr lang="en-US" altLang="en-US"/>
              <a:t>Sử dụng đường cong trong hình để tìm giá trị L</a:t>
            </a:r>
            <a:r>
              <a:rPr lang="en-US" altLang="en-US" baseline="-25000"/>
              <a:t>+</a:t>
            </a:r>
          </a:p>
          <a:p>
            <a:pPr>
              <a:buFontTx/>
              <a:buAutoNum type="arabicPlain" startAt="3"/>
            </a:pPr>
            <a:r>
              <a:rPr lang="en-US" altLang="en-US"/>
              <a:t>.Cộng thêm giá trị L</a:t>
            </a:r>
            <a:r>
              <a:rPr lang="en-US" altLang="en-US" baseline="-25000"/>
              <a:t>+</a:t>
            </a:r>
            <a:r>
              <a:rPr lang="en-US" altLang="en-US"/>
              <a:t> vào mức áp suất âm lớn hơn</a:t>
            </a:r>
          </a:p>
          <a:p>
            <a:pPr>
              <a:buFontTx/>
              <a:buChar char="•"/>
            </a:pPr>
            <a:r>
              <a:rPr lang="en-US" altLang="en-US"/>
              <a:t>Chú ý nếu ∆L =0, như trong slice trước thì giá trị công thêm vào là 3 dB</a:t>
            </a:r>
          </a:p>
          <a:p>
            <a:pPr>
              <a:buFontTx/>
              <a:buChar char="•"/>
            </a:pPr>
            <a:r>
              <a:rPr lang="en-US" altLang="en-US"/>
              <a:t>Nếu độ lệch giữa hai gái trị lớn hơn 10 dB, thì có thể bỏ qua phần đóng góp của nguồn tĩnh lặng hơn.</a:t>
            </a:r>
          </a:p>
          <a:p>
            <a:pPr>
              <a:buFontTx/>
              <a:buChar char="•"/>
            </a:pPr>
            <a:endParaRPr lang="en-US" altLang="en-US"/>
          </a:p>
        </p:txBody>
      </p:sp>
      <p:sp>
        <p:nvSpPr>
          <p:cNvPr id="35844" name="Footer Placeholder 4">
            <a:extLst>
              <a:ext uri="{FF2B5EF4-FFF2-40B4-BE49-F238E27FC236}">
                <a16:creationId xmlns:a16="http://schemas.microsoft.com/office/drawing/2014/main" id="{E96A53FE-74C9-FBF7-7724-CE830304D786}"/>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US" altLang="en-US">
                <a:latin typeface="Times New Roman" panose="02020603050405020304" pitchFamily="18" charset="0"/>
              </a:rPr>
              <a:t>Viện Đo lường Việt nam</a:t>
            </a:r>
          </a:p>
          <a:p>
            <a:pPr algn="l" eaLnBrk="1" hangingPunct="1"/>
            <a:r>
              <a:rPr lang="en-US" altLang="en-US">
                <a:latin typeface="Times New Roman" panose="02020603050405020304" pitchFamily="18" charset="0"/>
              </a:rPr>
              <a:t>Việt nam Metrology Institute</a:t>
            </a:r>
          </a:p>
          <a:p>
            <a:pPr algn="l" eaLnBrk="1" hangingPunct="1"/>
            <a:endParaRPr lang="en-US" altLang="en-US" sz="1800"/>
          </a:p>
          <a:p>
            <a:pPr eaLnBrk="1" hangingPunct="1"/>
            <a:endParaRPr lang="en-US" altLang="en-US">
              <a:latin typeface=".VnHelvetInsH" pitchFamily="34" charset="0"/>
            </a:endParaRPr>
          </a:p>
        </p:txBody>
      </p:sp>
      <p:sp>
        <p:nvSpPr>
          <p:cNvPr id="35845" name="Slide Number Placeholder 5">
            <a:extLst>
              <a:ext uri="{FF2B5EF4-FFF2-40B4-BE49-F238E27FC236}">
                <a16:creationId xmlns:a16="http://schemas.microsoft.com/office/drawing/2014/main" id="{61E3AC03-E658-8E03-932D-07D147E35D6C}"/>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48BCDB0-7C1B-4F47-99EC-15D53A1BDB69}" type="slidenum">
              <a:rPr lang="en-US" altLang="en-US">
                <a:latin typeface="Times New Roman" panose="02020603050405020304" pitchFamily="18" charset="0"/>
              </a:rPr>
              <a:pPr eaLnBrk="1" hangingPunct="1"/>
              <a:t>32</a:t>
            </a:fld>
            <a:endParaRPr lang="en-US" altLang="en-US">
              <a:latin typeface="Times New Roman" panose="02020603050405020304" pitchFamily="18" charset="0"/>
            </a:endParaRPr>
          </a:p>
        </p:txBody>
      </p:sp>
      <p:pic>
        <p:nvPicPr>
          <p:cNvPr id="35846" name="Picture 2">
            <a:extLst>
              <a:ext uri="{FF2B5EF4-FFF2-40B4-BE49-F238E27FC236}">
                <a16:creationId xmlns:a16="http://schemas.microsoft.com/office/drawing/2014/main" id="{00C09C46-87C3-6F08-0A6A-803E6C30D12B}"/>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3048000" y="381000"/>
            <a:ext cx="4321175" cy="2667000"/>
          </a:xfrm>
          <a:noFill/>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a:extLst>
              <a:ext uri="{FF2B5EF4-FFF2-40B4-BE49-F238E27FC236}">
                <a16:creationId xmlns:a16="http://schemas.microsoft.com/office/drawing/2014/main" id="{B290C499-E4B2-05A0-D179-3DF224AD1781}"/>
              </a:ext>
            </a:extLst>
          </p:cNvPr>
          <p:cNvSpPr>
            <a:spLocks noGrp="1"/>
          </p:cNvSpPr>
          <p:nvPr>
            <p:ph type="title"/>
          </p:nvPr>
        </p:nvSpPr>
        <p:spPr bwMode="auto">
          <a:xfrm>
            <a:off x="533400" y="228600"/>
            <a:ext cx="8229600" cy="4111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Phép trừ giá trị dB</a:t>
            </a:r>
          </a:p>
        </p:txBody>
      </p:sp>
      <p:sp>
        <p:nvSpPr>
          <p:cNvPr id="36867" name="Content Placeholder 3">
            <a:extLst>
              <a:ext uri="{FF2B5EF4-FFF2-40B4-BE49-F238E27FC236}">
                <a16:creationId xmlns:a16="http://schemas.microsoft.com/office/drawing/2014/main" id="{52AA9171-72D6-4724-5D77-02348D740D1F}"/>
              </a:ext>
            </a:extLst>
          </p:cNvPr>
          <p:cNvSpPr>
            <a:spLocks noGrp="1"/>
          </p:cNvSpPr>
          <p:nvPr>
            <p:ph sz="half" idx="2"/>
          </p:nvPr>
        </p:nvSpPr>
        <p:spPr/>
        <p:txBody>
          <a:bodyPr/>
          <a:lstStyle/>
          <a:p>
            <a:pPr>
              <a:buFontTx/>
              <a:buNone/>
            </a:pPr>
            <a:r>
              <a:rPr lang="en-US" altLang="en-US"/>
              <a:t>Trong một vài trường hợp, ví dụ ta tiến hành đo độ ồn của một máy móc cụ thể trong môi trường có một độ ồn nền nhất định, khi đó ta sẽ cần biết tiếng ồn đo được là từ máy móc, tạp âm nền, hay là cả hai. Để biết được điều đó ta sẽ làm như sau:</a:t>
            </a:r>
          </a:p>
          <a:p>
            <a:pPr>
              <a:buFontTx/>
              <a:buNone/>
            </a:pPr>
            <a:r>
              <a:rPr lang="en-US" altLang="en-US"/>
              <a:t>1 Đo độ ồn kết hợp từ máy móc và tạp âm nền: L</a:t>
            </a:r>
            <a:r>
              <a:rPr lang="en-US" altLang="en-US" baseline="-25000"/>
              <a:t>S+N</a:t>
            </a:r>
          </a:p>
          <a:p>
            <a:pPr>
              <a:buFontTx/>
              <a:buNone/>
            </a:pPr>
            <a:r>
              <a:rPr lang="en-US" altLang="en-US"/>
              <a:t>2 Tắt máy đi và đo tạp âm nền  L</a:t>
            </a:r>
            <a:r>
              <a:rPr lang="en-US" altLang="en-US" baseline="-25000"/>
              <a:t>N      </a:t>
            </a:r>
          </a:p>
          <a:p>
            <a:pPr>
              <a:buFontTx/>
              <a:buNone/>
            </a:pPr>
            <a:r>
              <a:rPr lang="en-US" altLang="en-US"/>
              <a:t>3 Tính độ lệch ∆L = L</a:t>
            </a:r>
            <a:r>
              <a:rPr lang="en-US" altLang="en-US" baseline="-25000"/>
              <a:t>S+N</a:t>
            </a:r>
            <a:r>
              <a:rPr lang="en-US" altLang="en-US"/>
              <a:t> – L</a:t>
            </a:r>
            <a:r>
              <a:rPr lang="en-US" altLang="en-US" baseline="-25000"/>
              <a:t>N</a:t>
            </a:r>
            <a:r>
              <a:rPr lang="en-US" altLang="en-US"/>
              <a:t> và sử dụng biểu đồ sau để tìm độ ồn gây ra bởi máy móc</a:t>
            </a:r>
            <a:endParaRPr lang="en-US" altLang="en-US" baseline="-25000"/>
          </a:p>
          <a:p>
            <a:pPr>
              <a:buFontTx/>
              <a:buChar char="•"/>
            </a:pPr>
            <a:endParaRPr lang="en-US" altLang="en-US"/>
          </a:p>
        </p:txBody>
      </p:sp>
      <p:sp>
        <p:nvSpPr>
          <p:cNvPr id="36868" name="Footer Placeholder 4">
            <a:extLst>
              <a:ext uri="{FF2B5EF4-FFF2-40B4-BE49-F238E27FC236}">
                <a16:creationId xmlns:a16="http://schemas.microsoft.com/office/drawing/2014/main" id="{957D0E71-2177-5F9D-875A-8964F3067C40}"/>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US" altLang="en-US">
                <a:latin typeface="Times New Roman" panose="02020603050405020304" pitchFamily="18" charset="0"/>
              </a:rPr>
              <a:t>Viện Đo lường Việt nam</a:t>
            </a:r>
          </a:p>
          <a:p>
            <a:pPr algn="l" eaLnBrk="1" hangingPunct="1"/>
            <a:r>
              <a:rPr lang="en-US" altLang="en-US">
                <a:latin typeface="Times New Roman" panose="02020603050405020304" pitchFamily="18" charset="0"/>
              </a:rPr>
              <a:t>Việt nam Metrology Institute</a:t>
            </a:r>
          </a:p>
          <a:p>
            <a:pPr algn="l" eaLnBrk="1" hangingPunct="1"/>
            <a:endParaRPr lang="en-US" altLang="en-US" sz="1800"/>
          </a:p>
          <a:p>
            <a:pPr eaLnBrk="1" hangingPunct="1"/>
            <a:endParaRPr lang="en-US" altLang="en-US">
              <a:latin typeface=".VnHelvetInsH" pitchFamily="34" charset="0"/>
            </a:endParaRPr>
          </a:p>
        </p:txBody>
      </p:sp>
      <p:sp>
        <p:nvSpPr>
          <p:cNvPr id="36869" name="Slide Number Placeholder 5">
            <a:extLst>
              <a:ext uri="{FF2B5EF4-FFF2-40B4-BE49-F238E27FC236}">
                <a16:creationId xmlns:a16="http://schemas.microsoft.com/office/drawing/2014/main" id="{43CB0C2F-791E-1460-1911-0154468999D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C83D5CD-5E34-486D-97AC-7B4DC4CDBAE6}" type="slidenum">
              <a:rPr lang="en-US" altLang="en-US">
                <a:latin typeface="Times New Roman" panose="02020603050405020304" pitchFamily="18" charset="0"/>
              </a:rPr>
              <a:pPr eaLnBrk="1" hangingPunct="1"/>
              <a:t>33</a:t>
            </a:fld>
            <a:endParaRPr lang="en-US" altLang="en-US">
              <a:latin typeface="Times New Roman" panose="02020603050405020304" pitchFamily="18" charset="0"/>
            </a:endParaRPr>
          </a:p>
        </p:txBody>
      </p:sp>
      <p:pic>
        <p:nvPicPr>
          <p:cNvPr id="36870" name="Picture 2">
            <a:extLst>
              <a:ext uri="{FF2B5EF4-FFF2-40B4-BE49-F238E27FC236}">
                <a16:creationId xmlns:a16="http://schemas.microsoft.com/office/drawing/2014/main" id="{0C81191D-6FF6-D34C-100B-638334DFC8AB}"/>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2300288" y="762000"/>
            <a:ext cx="4695825" cy="2667000"/>
          </a:xfrm>
          <a:noFill/>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a:extLst>
              <a:ext uri="{FF2B5EF4-FFF2-40B4-BE49-F238E27FC236}">
                <a16:creationId xmlns:a16="http://schemas.microsoft.com/office/drawing/2014/main" id="{8D9CE531-B685-A684-D200-03324DD2A632}"/>
              </a:ext>
            </a:extLst>
          </p:cNvPr>
          <p:cNvSpPr>
            <a:spLocks noGrp="1"/>
          </p:cNvSpPr>
          <p:nvPr>
            <p:ph type="title"/>
          </p:nvPr>
        </p:nvSpPr>
        <p:spPr bwMode="auto">
          <a:xfrm>
            <a:off x="533400" y="228600"/>
            <a:ext cx="8229600" cy="4111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Phép trừ giá trị dB</a:t>
            </a:r>
          </a:p>
        </p:txBody>
      </p:sp>
      <p:sp>
        <p:nvSpPr>
          <p:cNvPr id="37891" name="Content Placeholder 3">
            <a:extLst>
              <a:ext uri="{FF2B5EF4-FFF2-40B4-BE49-F238E27FC236}">
                <a16:creationId xmlns:a16="http://schemas.microsoft.com/office/drawing/2014/main" id="{AC909519-D873-B63E-22CC-9E0CAB888AF2}"/>
              </a:ext>
            </a:extLst>
          </p:cNvPr>
          <p:cNvSpPr>
            <a:spLocks noGrp="1"/>
          </p:cNvSpPr>
          <p:nvPr>
            <p:ph sz="half" idx="2"/>
          </p:nvPr>
        </p:nvSpPr>
        <p:spPr>
          <a:xfrm>
            <a:off x="533400" y="4419600"/>
            <a:ext cx="8229600" cy="1752600"/>
          </a:xfrm>
        </p:spPr>
        <p:txBody>
          <a:bodyPr/>
          <a:lstStyle/>
          <a:p>
            <a:pPr>
              <a:buFontTx/>
              <a:buChar char="•"/>
            </a:pPr>
            <a:r>
              <a:rPr lang="en-US" altLang="en-US"/>
              <a:t>Nếu ∆L nhỏ hơn 3 dB, khi đó tạp âm nền quá cao để có thể đo được chính xác độ ồn do máy phát ra</a:t>
            </a:r>
          </a:p>
          <a:p>
            <a:pPr>
              <a:buFontTx/>
              <a:buChar char="•"/>
            </a:pPr>
            <a:r>
              <a:rPr lang="en-US" altLang="en-US"/>
              <a:t>Nếu ∆L lớn hơn 10 dB thì có thể bỏ qua gía trị tạp âm nền.</a:t>
            </a:r>
          </a:p>
          <a:p>
            <a:pPr>
              <a:buFontTx/>
              <a:buChar char="•"/>
            </a:pPr>
            <a:r>
              <a:rPr lang="en-US" altLang="en-US"/>
              <a:t>Nếu ∆L nằm giữa 3 và 10 dB, thì ta có thể dùng biểu đồ trên để tìm L</a:t>
            </a:r>
            <a:r>
              <a:rPr lang="en-US" altLang="en-US" baseline="-25000"/>
              <a:t>-</a:t>
            </a:r>
            <a:r>
              <a:rPr lang="en-US" altLang="en-US"/>
              <a:t> . Khi đó độ ồn do máy phát ra sẽ là  L</a:t>
            </a:r>
            <a:r>
              <a:rPr lang="en-US" altLang="en-US" baseline="-25000"/>
              <a:t>S+N</a:t>
            </a:r>
            <a:r>
              <a:rPr lang="en-US" altLang="en-US"/>
              <a:t> – L</a:t>
            </a:r>
            <a:r>
              <a:rPr lang="en-US" altLang="en-US" baseline="-25000"/>
              <a:t>-</a:t>
            </a:r>
            <a:r>
              <a:rPr lang="en-US" altLang="en-US"/>
              <a:t> </a:t>
            </a:r>
          </a:p>
          <a:p>
            <a:pPr>
              <a:buFontTx/>
              <a:buChar char="•"/>
            </a:pPr>
            <a:endParaRPr lang="en-US" altLang="en-US"/>
          </a:p>
        </p:txBody>
      </p:sp>
      <p:sp>
        <p:nvSpPr>
          <p:cNvPr id="37892" name="Footer Placeholder 4">
            <a:extLst>
              <a:ext uri="{FF2B5EF4-FFF2-40B4-BE49-F238E27FC236}">
                <a16:creationId xmlns:a16="http://schemas.microsoft.com/office/drawing/2014/main" id="{A34611B9-6A6C-7C19-E5F3-AEB8B29CCBF3}"/>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US" altLang="en-US">
                <a:latin typeface="Times New Roman" panose="02020603050405020304" pitchFamily="18" charset="0"/>
              </a:rPr>
              <a:t>Viện Đo lường Việt nam</a:t>
            </a:r>
          </a:p>
          <a:p>
            <a:pPr algn="l" eaLnBrk="1" hangingPunct="1"/>
            <a:r>
              <a:rPr lang="en-US" altLang="en-US">
                <a:latin typeface="Times New Roman" panose="02020603050405020304" pitchFamily="18" charset="0"/>
              </a:rPr>
              <a:t>Việt nam Metrology Institute</a:t>
            </a:r>
          </a:p>
          <a:p>
            <a:pPr algn="l" eaLnBrk="1" hangingPunct="1"/>
            <a:endParaRPr lang="en-US" altLang="en-US" sz="1800"/>
          </a:p>
          <a:p>
            <a:pPr eaLnBrk="1" hangingPunct="1"/>
            <a:endParaRPr lang="en-US" altLang="en-US">
              <a:latin typeface=".VnHelvetInsH" pitchFamily="34" charset="0"/>
            </a:endParaRPr>
          </a:p>
        </p:txBody>
      </p:sp>
      <p:sp>
        <p:nvSpPr>
          <p:cNvPr id="37893" name="Slide Number Placeholder 5">
            <a:extLst>
              <a:ext uri="{FF2B5EF4-FFF2-40B4-BE49-F238E27FC236}">
                <a16:creationId xmlns:a16="http://schemas.microsoft.com/office/drawing/2014/main" id="{A3C01A0B-7F1F-2C31-5896-8FE3AD9E527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D7823AA-EDF1-4D7A-8AD1-1CC11ADA3142}" type="slidenum">
              <a:rPr lang="en-US" altLang="en-US">
                <a:latin typeface="Times New Roman" panose="02020603050405020304" pitchFamily="18" charset="0"/>
              </a:rPr>
              <a:pPr eaLnBrk="1" hangingPunct="1"/>
              <a:t>34</a:t>
            </a:fld>
            <a:endParaRPr lang="en-US" altLang="en-US">
              <a:latin typeface="Times New Roman" panose="02020603050405020304" pitchFamily="18" charset="0"/>
            </a:endParaRPr>
          </a:p>
        </p:txBody>
      </p:sp>
      <p:pic>
        <p:nvPicPr>
          <p:cNvPr id="37894" name="Picture 2">
            <a:extLst>
              <a:ext uri="{FF2B5EF4-FFF2-40B4-BE49-F238E27FC236}">
                <a16:creationId xmlns:a16="http://schemas.microsoft.com/office/drawing/2014/main" id="{D75242EC-8F37-014C-2CA6-19396A87049B}"/>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2044700" y="685800"/>
            <a:ext cx="4902200" cy="3387725"/>
          </a:xfrm>
          <a:noFill/>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Title 1">
            <a:extLst>
              <a:ext uri="{FF2B5EF4-FFF2-40B4-BE49-F238E27FC236}">
                <a16:creationId xmlns:a16="http://schemas.microsoft.com/office/drawing/2014/main" id="{39FDC988-9A3C-1110-6803-31DBA689A9B3}"/>
              </a:ext>
            </a:extLst>
          </p:cNvPr>
          <p:cNvSpPr>
            <a:spLocks noGrp="1"/>
          </p:cNvSpPr>
          <p:nvPr>
            <p:ph type="title"/>
          </p:nvPr>
        </p:nvSpPr>
        <p:spPr bwMode="auto">
          <a:xfrm>
            <a:off x="533400" y="228600"/>
            <a:ext cx="8229600" cy="4111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a:t>Cộng nhiều giá trị dB</a:t>
            </a:r>
          </a:p>
        </p:txBody>
      </p:sp>
      <p:sp>
        <p:nvSpPr>
          <p:cNvPr id="1028" name="Footer Placeholder 4">
            <a:extLst>
              <a:ext uri="{FF2B5EF4-FFF2-40B4-BE49-F238E27FC236}">
                <a16:creationId xmlns:a16="http://schemas.microsoft.com/office/drawing/2014/main" id="{D3F135C9-E82E-47DA-DDA5-24BDF41B07AF}"/>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l" eaLnBrk="1" hangingPunct="1"/>
            <a:r>
              <a:rPr lang="en-US" altLang="en-US">
                <a:latin typeface="Times New Roman" panose="02020603050405020304" pitchFamily="18" charset="0"/>
              </a:rPr>
              <a:t>Viện Đo lường Việt nam</a:t>
            </a:r>
          </a:p>
          <a:p>
            <a:pPr algn="l" eaLnBrk="1" hangingPunct="1"/>
            <a:r>
              <a:rPr lang="en-US" altLang="en-US">
                <a:latin typeface="Times New Roman" panose="02020603050405020304" pitchFamily="18" charset="0"/>
              </a:rPr>
              <a:t>Việt nam Metrology Institute</a:t>
            </a:r>
          </a:p>
          <a:p>
            <a:pPr algn="l" eaLnBrk="1" hangingPunct="1"/>
            <a:endParaRPr lang="en-US" altLang="en-US" sz="1800"/>
          </a:p>
          <a:p>
            <a:pPr eaLnBrk="1" hangingPunct="1"/>
            <a:endParaRPr lang="en-US" altLang="en-US">
              <a:latin typeface=".VnHelvetInsH" pitchFamily="34" charset="0"/>
            </a:endParaRPr>
          </a:p>
        </p:txBody>
      </p:sp>
      <p:sp>
        <p:nvSpPr>
          <p:cNvPr id="1029" name="Slide Number Placeholder 5">
            <a:extLst>
              <a:ext uri="{FF2B5EF4-FFF2-40B4-BE49-F238E27FC236}">
                <a16:creationId xmlns:a16="http://schemas.microsoft.com/office/drawing/2014/main" id="{40EA012A-BA95-3412-3C98-03B11C9BC28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2C60258-994F-4E9D-93D6-64F1A15C4DCA}" type="slidenum">
              <a:rPr lang="en-US" altLang="en-US">
                <a:latin typeface="Times New Roman" panose="02020603050405020304" pitchFamily="18" charset="0"/>
              </a:rPr>
              <a:pPr eaLnBrk="1" hangingPunct="1"/>
              <a:t>35</a:t>
            </a:fld>
            <a:endParaRPr lang="en-US" altLang="en-US">
              <a:latin typeface="Times New Roman" panose="02020603050405020304" pitchFamily="18" charset="0"/>
            </a:endParaRPr>
          </a:p>
        </p:txBody>
      </p:sp>
      <p:pic>
        <p:nvPicPr>
          <p:cNvPr id="1030" name="Picture 2">
            <a:extLst>
              <a:ext uri="{FF2B5EF4-FFF2-40B4-BE49-F238E27FC236}">
                <a16:creationId xmlns:a16="http://schemas.microsoft.com/office/drawing/2014/main" id="{2617E338-9621-1819-5B33-CDFBD736D88F}"/>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928688" y="762000"/>
            <a:ext cx="3567112" cy="2667000"/>
          </a:xfrm>
          <a:noFill/>
        </p:spPr>
      </p:pic>
      <p:pic>
        <p:nvPicPr>
          <p:cNvPr id="1031" name="Picture 3">
            <a:extLst>
              <a:ext uri="{FF2B5EF4-FFF2-40B4-BE49-F238E27FC236}">
                <a16:creationId xmlns:a16="http://schemas.microsoft.com/office/drawing/2014/main" id="{CAABC7B1-A816-E61A-AF2B-FDD733FD29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0" y="609600"/>
            <a:ext cx="2438400" cy="136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2" name="Picture 4">
            <a:extLst>
              <a:ext uri="{FF2B5EF4-FFF2-40B4-BE49-F238E27FC236}">
                <a16:creationId xmlns:a16="http://schemas.microsoft.com/office/drawing/2014/main" id="{AD70BA77-F9F5-6DE3-D612-F15CB89F985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0" y="2362200"/>
            <a:ext cx="246697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3" name="Rectangle 11">
            <a:extLst>
              <a:ext uri="{FF2B5EF4-FFF2-40B4-BE49-F238E27FC236}">
                <a16:creationId xmlns:a16="http://schemas.microsoft.com/office/drawing/2014/main" id="{1992AF85-E719-F96D-B3CB-C3850834ED50}"/>
              </a:ext>
            </a:extLst>
          </p:cNvPr>
          <p:cNvSpPr>
            <a:spLocks noChangeArrowheads="1"/>
          </p:cNvSpPr>
          <p:nvPr/>
        </p:nvSpPr>
        <p:spPr bwMode="auto">
          <a:xfrm>
            <a:off x="533400" y="3886200"/>
            <a:ext cx="4572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a:latin typeface="Times New Roman" panose="02020603050405020304" pitchFamily="18" charset="0"/>
                <a:cs typeface="Times New Roman" panose="02020603050405020304" pitchFamily="18" charset="0"/>
              </a:rPr>
              <a:t>Để cộng nhiều giá trị dB ta có thể sử dụng công thức</a:t>
            </a:r>
          </a:p>
        </p:txBody>
      </p:sp>
      <p:grpSp>
        <p:nvGrpSpPr>
          <p:cNvPr id="1034" name="Group 13">
            <a:extLst>
              <a:ext uri="{FF2B5EF4-FFF2-40B4-BE49-F238E27FC236}">
                <a16:creationId xmlns:a16="http://schemas.microsoft.com/office/drawing/2014/main" id="{C87279E2-2E4E-61B9-B045-A3BE79E5B45A}"/>
              </a:ext>
            </a:extLst>
          </p:cNvPr>
          <p:cNvGrpSpPr>
            <a:grpSpLocks/>
          </p:cNvGrpSpPr>
          <p:nvPr/>
        </p:nvGrpSpPr>
        <p:grpSpPr bwMode="auto">
          <a:xfrm>
            <a:off x="1981200" y="4572000"/>
            <a:ext cx="4724400" cy="838200"/>
            <a:chOff x="1981200" y="4572000"/>
            <a:chExt cx="4724400" cy="838200"/>
          </a:xfrm>
        </p:grpSpPr>
        <p:sp>
          <p:nvSpPr>
            <p:cNvPr id="13" name="Rectangle 12">
              <a:extLst>
                <a:ext uri="{FF2B5EF4-FFF2-40B4-BE49-F238E27FC236}">
                  <a16:creationId xmlns:a16="http://schemas.microsoft.com/office/drawing/2014/main" id="{686A889B-F465-EAC9-52F9-C8426403A8A9}"/>
                </a:ext>
              </a:extLst>
            </p:cNvPr>
            <p:cNvSpPr/>
            <p:nvPr/>
          </p:nvSpPr>
          <p:spPr>
            <a:xfrm>
              <a:off x="1981200" y="4572000"/>
              <a:ext cx="47244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aphicFrame>
          <p:nvGraphicFramePr>
            <p:cNvPr id="1026" name="Object 5">
              <a:extLst>
                <a:ext uri="{FF2B5EF4-FFF2-40B4-BE49-F238E27FC236}">
                  <a16:creationId xmlns:a16="http://schemas.microsoft.com/office/drawing/2014/main" id="{DD4601D5-F91B-8CC3-685F-CCCD1A6D890F}"/>
                </a:ext>
              </a:extLst>
            </p:cNvPr>
            <p:cNvGraphicFramePr>
              <a:graphicFrameLocks noChangeAspect="1"/>
            </p:cNvGraphicFramePr>
            <p:nvPr/>
          </p:nvGraphicFramePr>
          <p:xfrm>
            <a:off x="2209800" y="4724400"/>
            <a:ext cx="4286250" cy="514350"/>
          </p:xfrm>
          <a:graphic>
            <a:graphicData uri="http://schemas.openxmlformats.org/presentationml/2006/ole">
              <mc:AlternateContent xmlns:mc="http://schemas.openxmlformats.org/markup-compatibility/2006">
                <mc:Choice xmlns:v="urn:schemas-microsoft-com:vml" Requires="v">
                  <p:oleObj name="Equation" r:id="rId5" imgW="2222280" imgH="266400" progId="Equation.3">
                    <p:embed/>
                  </p:oleObj>
                </mc:Choice>
                <mc:Fallback>
                  <p:oleObj name="Equation" r:id="rId5" imgW="2222280" imgH="266400" progId="Equation.3">
                    <p:embed/>
                    <p:pic>
                      <p:nvPicPr>
                        <p:cNvPr id="1026" name="Object 5">
                          <a:extLst>
                            <a:ext uri="{FF2B5EF4-FFF2-40B4-BE49-F238E27FC236}">
                              <a16:creationId xmlns:a16="http://schemas.microsoft.com/office/drawing/2014/main" id="{DD4601D5-F91B-8CC3-685F-CCCD1A6D890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09800" y="4724400"/>
                          <a:ext cx="4286250" cy="514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3431</TotalTime>
  <Words>4345</Words>
  <Application>Microsoft Office PowerPoint</Application>
  <PresentationFormat>Trình chiếu Trên màn hình (4:3)</PresentationFormat>
  <Paragraphs>267</Paragraphs>
  <Slides>35</Slides>
  <Notes>1</Notes>
  <HiddenSlides>0</HiddenSlides>
  <MMClips>0</MMClips>
  <ScaleCrop>false</ScaleCrop>
  <HeadingPairs>
    <vt:vector size="4" baseType="variant">
      <vt:variant>
        <vt:lpstr>Chủ đề</vt:lpstr>
      </vt:variant>
      <vt:variant>
        <vt:i4>1</vt:i4>
      </vt:variant>
      <vt:variant>
        <vt:lpstr>Tiêu đề Bản chiếu</vt:lpstr>
      </vt:variant>
      <vt:variant>
        <vt:i4>35</vt:i4>
      </vt:variant>
    </vt:vector>
  </HeadingPairs>
  <TitlesOfParts>
    <vt:vector size="36" baseType="lpstr">
      <vt:lpstr>Default Design</vt:lpstr>
      <vt:lpstr>Bản trình bày PowerPoint</vt:lpstr>
      <vt:lpstr>Tóm tắt </vt:lpstr>
      <vt:lpstr>Bản trình bày PowerPoint</vt:lpstr>
      <vt:lpstr>Âm thanh và tiếng ồn</vt:lpstr>
      <vt:lpstr>Các thuật ngữ về âm thanh</vt:lpstr>
      <vt:lpstr>Áp suất và công suất âm</vt:lpstr>
      <vt:lpstr>Các đại lượng âm thanh cơ bản</vt:lpstr>
      <vt:lpstr>Phương truyền sóng</vt:lpstr>
      <vt:lpstr>Áp suất âm</vt:lpstr>
      <vt:lpstr>Áp suất âm</vt:lpstr>
      <vt:lpstr>Phạm vi của áp suất âm thanh</vt:lpstr>
      <vt:lpstr>Phạm vi của áp suất âm thanh</vt:lpstr>
      <vt:lpstr>dB – đề xi ben</vt:lpstr>
      <vt:lpstr>dB – đề xi ben</vt:lpstr>
      <vt:lpstr>Sử dụng bảng để đổi sang dB</vt:lpstr>
      <vt:lpstr>Sử dụng biểu đồ để đổi sang dB</vt:lpstr>
      <vt:lpstr>Quy tăc chuyển đổi đơn giản</vt:lpstr>
      <vt:lpstr>Sự truyền âm trong không khí</vt:lpstr>
      <vt:lpstr>Một số dạng nguồn âm</vt:lpstr>
      <vt:lpstr>Một số dạng nguồn âm</vt:lpstr>
      <vt:lpstr>Một số dạng nguồn âm</vt:lpstr>
      <vt:lpstr>Rào chắn</vt:lpstr>
      <vt:lpstr>Sự hấp thụ âm của khí quyển</vt:lpstr>
      <vt:lpstr>Gió</vt:lpstr>
      <vt:lpstr>Nhiệt độ</vt:lpstr>
      <vt:lpstr>Mặt đất</vt:lpstr>
      <vt:lpstr>Trường âm thanh</vt:lpstr>
      <vt:lpstr>Áp suất âm tăng tại bề mặt các bức tường</vt:lpstr>
      <vt:lpstr>Phòng câm và phòng vang</vt:lpstr>
      <vt:lpstr>Trường áp suất</vt:lpstr>
      <vt:lpstr>Áp suất âm từ hai nguồn âm</vt:lpstr>
      <vt:lpstr>Phép cộng hai giá trị dB</vt:lpstr>
      <vt:lpstr>Phép trừ giá trị dB</vt:lpstr>
      <vt:lpstr>Phép trừ giá trị dB</vt:lpstr>
      <vt:lpstr>Cộng nhiều giá trị dB</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Nguyen Thi Hang</dc:creator>
  <cp:lastModifiedBy>Nguyen Bang</cp:lastModifiedBy>
  <cp:revision>341</cp:revision>
  <dcterms:created xsi:type="dcterms:W3CDTF">2012-09-25T08:18:13Z</dcterms:created>
  <dcterms:modified xsi:type="dcterms:W3CDTF">2023-08-06T13:42:24Z</dcterms:modified>
</cp:coreProperties>
</file>