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2" r:id="rId1"/>
  </p:sldMasterIdLst>
  <p:sldIdLst>
    <p:sldId id="256" r:id="rId2"/>
  </p:sldIdLst>
  <p:sldSz cx="43891200" cy="43891200"/>
  <p:notesSz cx="7004050" cy="92900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24"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676" autoAdjust="0"/>
  </p:normalViewPr>
  <p:slideViewPr>
    <p:cSldViewPr>
      <p:cViewPr varScale="1">
        <p:scale>
          <a:sx n="15" d="100"/>
          <a:sy n="15" d="100"/>
        </p:scale>
        <p:origin x="1674" y="78"/>
      </p:cViewPr>
      <p:guideLst>
        <p:guide orient="horz" pos="13824"/>
        <p:guide pos="13824"/>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5.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wmf"/><Relationship Id="rId5" Type="http://schemas.openxmlformats.org/officeDocument/2006/relationships/image" Target="../media/image13.wmf"/><Relationship Id="rId10" Type="http://schemas.openxmlformats.org/officeDocument/2006/relationships/image" Target="../media/image18.wmf"/><Relationship Id="rId4" Type="http://schemas.openxmlformats.org/officeDocument/2006/relationships/image" Target="../media/image12.wmf"/><Relationship Id="rId9" Type="http://schemas.openxmlformats.org/officeDocument/2006/relationships/image" Target="../media/image17.w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2" y="0"/>
            <a:ext cx="43894450" cy="438912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9225283" y="11595927"/>
            <a:ext cx="25482557" cy="9699411"/>
          </a:xfrm>
        </p:spPr>
        <p:txBody>
          <a:bodyPr anchor="b">
            <a:noAutofit/>
          </a:bodyPr>
          <a:lstStyle>
            <a:lvl1pPr algn="ctr">
              <a:defRPr sz="23040">
                <a:effectLst/>
              </a:defRPr>
            </a:lvl1pPr>
          </a:lstStyle>
          <a:p>
            <a:r>
              <a:rPr lang="en-US"/>
              <a:t>Click to edit Master title style</a:t>
            </a:r>
            <a:endParaRPr lang="en-US" dirty="0"/>
          </a:p>
        </p:txBody>
      </p:sp>
      <p:sp>
        <p:nvSpPr>
          <p:cNvPr id="3" name="Subtitle 2"/>
          <p:cNvSpPr>
            <a:spLocks noGrp="1"/>
          </p:cNvSpPr>
          <p:nvPr>
            <p:ph type="subTitle" idx="1"/>
          </p:nvPr>
        </p:nvSpPr>
        <p:spPr>
          <a:xfrm>
            <a:off x="9225283" y="23029296"/>
            <a:ext cx="25482557" cy="8816966"/>
          </a:xfrm>
        </p:spPr>
        <p:txBody>
          <a:bodyPr anchor="t">
            <a:normAutofit/>
          </a:bodyPr>
          <a:lstStyle>
            <a:lvl1pPr marL="0" indent="0" algn="ctr">
              <a:buNone/>
              <a:defRPr sz="9600">
                <a:solidFill>
                  <a:schemeClr val="tx1"/>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29114002" y="32349453"/>
            <a:ext cx="3231725" cy="1788160"/>
          </a:xfrm>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a:xfrm>
            <a:off x="9225283" y="32349453"/>
            <a:ext cx="19511328" cy="1788160"/>
          </a:xfrm>
        </p:spPr>
        <p:txBody>
          <a:bodyPr/>
          <a:lstStyle/>
          <a:p>
            <a:endParaRPr lang="en-US" dirty="0"/>
          </a:p>
        </p:txBody>
      </p:sp>
      <p:sp>
        <p:nvSpPr>
          <p:cNvPr id="6" name="Slide Number Placeholder 5"/>
          <p:cNvSpPr>
            <a:spLocks noGrp="1"/>
          </p:cNvSpPr>
          <p:nvPr>
            <p:ph type="sldNum" sz="quarter" idx="12"/>
          </p:nvPr>
        </p:nvSpPr>
        <p:spPr>
          <a:xfrm>
            <a:off x="32723124" y="32349453"/>
            <a:ext cx="1984718" cy="1788160"/>
          </a:xfrm>
        </p:spPr>
        <p:txBody>
          <a:bodyPr/>
          <a:lstStyle/>
          <a:p>
            <a:fld id="{FBB075EA-769C-4ECD-B48E-D6FCDC24F876}" type="slidenum">
              <a:rPr lang="en-US" smtClean="0"/>
              <a:t>‹#›</a:t>
            </a:fld>
            <a:endParaRPr lang="en-US" dirty="0"/>
          </a:p>
        </p:txBody>
      </p:sp>
      <p:cxnSp>
        <p:nvCxnSpPr>
          <p:cNvPr id="15" name="Straight Connector 14"/>
          <p:cNvCxnSpPr/>
          <p:nvPr/>
        </p:nvCxnSpPr>
        <p:spPr>
          <a:xfrm>
            <a:off x="9695163" y="22216506"/>
            <a:ext cx="245427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7683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6136632" y="15080064"/>
            <a:ext cx="31658563"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847578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36632" y="10505043"/>
            <a:ext cx="31658563" cy="11664090"/>
          </a:xfrm>
        </p:spPr>
        <p:txBody>
          <a:bodyPr anchor="b">
            <a:normAutofit/>
          </a:bodyPr>
          <a:lstStyle>
            <a:lvl1pPr algn="ctr">
              <a:defRPr sz="19200" b="0" cap="none"/>
            </a:lvl1pPr>
          </a:lstStyle>
          <a:p>
            <a:r>
              <a:rPr lang="en-US"/>
              <a:t>Click to edit Master title style</a:t>
            </a:r>
            <a:endParaRPr lang="en-US" dirty="0"/>
          </a:p>
        </p:txBody>
      </p:sp>
      <p:sp>
        <p:nvSpPr>
          <p:cNvPr id="3" name="Text Placeholder 2"/>
          <p:cNvSpPr>
            <a:spLocks noGrp="1"/>
          </p:cNvSpPr>
          <p:nvPr>
            <p:ph type="body" idx="1"/>
          </p:nvPr>
        </p:nvSpPr>
        <p:spPr>
          <a:xfrm>
            <a:off x="6136632" y="23903101"/>
            <a:ext cx="31658563" cy="6976096"/>
          </a:xfrm>
        </p:spPr>
        <p:txBody>
          <a:bodyPr anchor="t">
            <a:normAutofit/>
          </a:bodyPr>
          <a:lstStyle>
            <a:lvl1pPr marL="0" indent="0" algn="ctr">
              <a:buNone/>
              <a:defRPr sz="1152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cxnSp>
        <p:nvCxnSpPr>
          <p:cNvPr id="31" name="Straight Connector 30"/>
          <p:cNvCxnSpPr/>
          <p:nvPr/>
        </p:nvCxnSpPr>
        <p:spPr>
          <a:xfrm>
            <a:off x="6136639" y="23036109"/>
            <a:ext cx="316585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0961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6136632" y="15080064"/>
            <a:ext cx="31658563"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5648957" y="5858160"/>
            <a:ext cx="32633923" cy="83447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648957" y="15917875"/>
            <a:ext cx="16020288" cy="2206264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96730" y="15917875"/>
            <a:ext cx="16020288" cy="2206264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001321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648966" y="17014611"/>
            <a:ext cx="16020288" cy="3688077"/>
          </a:xfrm>
        </p:spPr>
        <p:txBody>
          <a:bodyPr anchor="b">
            <a:noAutofit/>
          </a:bodyPr>
          <a:lstStyle>
            <a:lvl1pPr marL="0" indent="0">
              <a:buNone/>
              <a:defRPr sz="11520" b="0">
                <a:solidFill>
                  <a:schemeClr val="accent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4" name="Content Placeholder 3"/>
          <p:cNvSpPr>
            <a:spLocks noGrp="1"/>
          </p:cNvSpPr>
          <p:nvPr>
            <p:ph sz="half" idx="2"/>
          </p:nvPr>
        </p:nvSpPr>
        <p:spPr>
          <a:xfrm>
            <a:off x="5648966" y="20756883"/>
            <a:ext cx="16020288" cy="1732239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80794" y="17014611"/>
            <a:ext cx="16020288" cy="3688077"/>
          </a:xfrm>
        </p:spPr>
        <p:txBody>
          <a:bodyPr anchor="b">
            <a:noAutofit/>
          </a:bodyPr>
          <a:lstStyle>
            <a:lvl1pPr marL="0" indent="0">
              <a:buNone/>
              <a:defRPr sz="11520" b="0">
                <a:solidFill>
                  <a:schemeClr val="accent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6" name="Content Placeholder 5"/>
          <p:cNvSpPr>
            <a:spLocks noGrp="1"/>
          </p:cNvSpPr>
          <p:nvPr>
            <p:ph sz="quarter" idx="4"/>
          </p:nvPr>
        </p:nvSpPr>
        <p:spPr>
          <a:xfrm>
            <a:off x="22280794" y="20756883"/>
            <a:ext cx="16020288" cy="1732239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BB075EA-769C-4ECD-B48E-D6FCDC24F876}" type="slidenum">
              <a:rPr lang="en-US" smtClean="0"/>
              <a:t>‹#›</a:t>
            </a:fld>
            <a:endParaRPr lang="en-US" dirty="0"/>
          </a:p>
        </p:txBody>
      </p:sp>
      <p:cxnSp>
        <p:nvCxnSpPr>
          <p:cNvPr id="41" name="Straight Connector 40"/>
          <p:cNvCxnSpPr/>
          <p:nvPr/>
        </p:nvCxnSpPr>
        <p:spPr>
          <a:xfrm>
            <a:off x="6136637" y="15069888"/>
            <a:ext cx="3165856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4433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48954" y="5858160"/>
            <a:ext cx="32633928" cy="83447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BB075EA-769C-4ECD-B48E-D6FCDC24F876}" type="slidenum">
              <a:rPr lang="en-US" smtClean="0"/>
              <a:t>‹#›</a:t>
            </a:fld>
            <a:endParaRPr lang="en-US" dirty="0"/>
          </a:p>
        </p:txBody>
      </p:sp>
      <p:cxnSp>
        <p:nvCxnSpPr>
          <p:cNvPr id="14" name="Straight Connector 13"/>
          <p:cNvCxnSpPr/>
          <p:nvPr/>
        </p:nvCxnSpPr>
        <p:spPr>
          <a:xfrm>
            <a:off x="6136637" y="15069888"/>
            <a:ext cx="3165856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672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320289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48952" y="8886618"/>
            <a:ext cx="12176630" cy="8778240"/>
          </a:xfrm>
        </p:spPr>
        <p:txBody>
          <a:bodyPr anchor="b">
            <a:normAutofit/>
          </a:bodyPr>
          <a:lstStyle>
            <a:lvl1pPr algn="ctr">
              <a:defRPr sz="11520" b="0"/>
            </a:lvl1pPr>
          </a:lstStyle>
          <a:p>
            <a:r>
              <a:rPr lang="en-US"/>
              <a:t>Click to edit Master title style</a:t>
            </a:r>
            <a:endParaRPr lang="en-US" dirty="0"/>
          </a:p>
        </p:txBody>
      </p:sp>
      <p:sp>
        <p:nvSpPr>
          <p:cNvPr id="3" name="Content Placeholder 2"/>
          <p:cNvSpPr>
            <a:spLocks noGrp="1"/>
          </p:cNvSpPr>
          <p:nvPr>
            <p:ph idx="1"/>
          </p:nvPr>
        </p:nvSpPr>
        <p:spPr>
          <a:xfrm>
            <a:off x="19776300" y="6285648"/>
            <a:ext cx="18506587" cy="31319904"/>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648952" y="19398816"/>
            <a:ext cx="12176630" cy="15605786"/>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cxnSp>
        <p:nvCxnSpPr>
          <p:cNvPr id="16" name="Straight Connector 15"/>
          <p:cNvCxnSpPr/>
          <p:nvPr/>
        </p:nvCxnSpPr>
        <p:spPr>
          <a:xfrm>
            <a:off x="6136637" y="18640211"/>
            <a:ext cx="1120125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120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48952" y="12056525"/>
            <a:ext cx="17434570" cy="8778240"/>
          </a:xfrm>
        </p:spPr>
        <p:txBody>
          <a:bodyPr anchor="b">
            <a:normAutofit/>
          </a:bodyPr>
          <a:lstStyle>
            <a:lvl1pPr algn="ctr">
              <a:defRPr sz="1152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24878734" y="6610771"/>
            <a:ext cx="14061422" cy="30669670"/>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5648954" y="20834765"/>
            <a:ext cx="17434565" cy="11704320"/>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141572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48957" y="30818656"/>
            <a:ext cx="32633923" cy="3627123"/>
          </a:xfrm>
        </p:spPr>
        <p:txBody>
          <a:bodyPr anchor="b">
            <a:normAutofit/>
          </a:bodyPr>
          <a:lstStyle>
            <a:lvl1pPr algn="ctr">
              <a:defRPr sz="115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26048" y="6610774"/>
            <a:ext cx="34039114" cy="21512122"/>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5648957" y="34445779"/>
            <a:ext cx="32633923" cy="3159757"/>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4122725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648957" y="5803987"/>
            <a:ext cx="32633923" cy="19826304"/>
          </a:xfrm>
        </p:spPr>
        <p:txBody>
          <a:bodyPr anchor="ctr">
            <a:normAutofit/>
          </a:bodyPr>
          <a:lstStyle>
            <a:lvl1pPr algn="ctr">
              <a:defRPr sz="15360" b="0" cap="none"/>
            </a:lvl1pPr>
          </a:lstStyle>
          <a:p>
            <a:r>
              <a:rPr lang="en-US"/>
              <a:t>Click to edit Master title style</a:t>
            </a:r>
            <a:endParaRPr lang="en-US" dirty="0"/>
          </a:p>
        </p:txBody>
      </p:sp>
      <p:sp>
        <p:nvSpPr>
          <p:cNvPr id="3" name="Text Placeholder 2"/>
          <p:cNvSpPr>
            <a:spLocks noGrp="1"/>
          </p:cNvSpPr>
          <p:nvPr>
            <p:ph type="body" idx="1"/>
          </p:nvPr>
        </p:nvSpPr>
        <p:spPr>
          <a:xfrm>
            <a:off x="5648952" y="27364262"/>
            <a:ext cx="32633933" cy="10241293"/>
          </a:xfrm>
        </p:spPr>
        <p:txBody>
          <a:bodyPr anchor="ctr">
            <a:normAutofit/>
          </a:bodyPr>
          <a:lstStyle>
            <a:lvl1pPr marL="0" indent="0" algn="ctr">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cxnSp>
        <p:nvCxnSpPr>
          <p:cNvPr id="15" name="Straight Connector 14"/>
          <p:cNvCxnSpPr/>
          <p:nvPr/>
        </p:nvCxnSpPr>
        <p:spPr>
          <a:xfrm>
            <a:off x="6136634" y="26497274"/>
            <a:ext cx="3171084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9462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4798" y="6285645"/>
            <a:ext cx="30721200" cy="15172275"/>
          </a:xfrm>
        </p:spPr>
        <p:txBody>
          <a:bodyPr anchor="ctr">
            <a:normAutofit/>
          </a:bodyPr>
          <a:lstStyle>
            <a:lvl1pPr algn="ctr">
              <a:defRPr sz="1536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7680960" y="21457917"/>
            <a:ext cx="28285430" cy="4172371"/>
          </a:xfrm>
        </p:spPr>
        <p:txBody>
          <a:bodyPr anchor="ctr">
            <a:normAutofit/>
          </a:bodyPr>
          <a:lstStyle>
            <a:lvl1pPr marL="0" indent="0" algn="r">
              <a:buFontTx/>
              <a:buNone/>
              <a:defRPr sz="8640"/>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Edit Master text styles</a:t>
            </a:r>
          </a:p>
        </p:txBody>
      </p:sp>
      <p:sp>
        <p:nvSpPr>
          <p:cNvPr id="3" name="Text Placeholder 2"/>
          <p:cNvSpPr>
            <a:spLocks noGrp="1"/>
          </p:cNvSpPr>
          <p:nvPr>
            <p:ph type="body" idx="1"/>
          </p:nvPr>
        </p:nvSpPr>
        <p:spPr>
          <a:xfrm>
            <a:off x="5648943" y="27797763"/>
            <a:ext cx="32633942" cy="9807789"/>
          </a:xfrm>
        </p:spPr>
        <p:txBody>
          <a:bodyPr anchor="ctr">
            <a:normAutofit/>
          </a:bodyPr>
          <a:lstStyle>
            <a:lvl1pPr marL="0" indent="0" algn="ctr">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
        <p:nvSpPr>
          <p:cNvPr id="14" name="TextBox 13"/>
          <p:cNvSpPr txBox="1"/>
          <p:nvPr/>
        </p:nvSpPr>
        <p:spPr>
          <a:xfrm>
            <a:off x="4079854" y="5794317"/>
            <a:ext cx="2195131" cy="3742566"/>
          </a:xfrm>
          <a:prstGeom prst="rect">
            <a:avLst/>
          </a:prstGeom>
        </p:spPr>
        <p:txBody>
          <a:bodyPr vert="horz" lIns="438912" tIns="219456" rIns="438912" bIns="219456" rtlCol="0" anchor="ctr">
            <a:noAutofit/>
          </a:bodyPr>
          <a:lstStyle/>
          <a:p>
            <a:pPr lvl="0"/>
            <a:r>
              <a:rPr lang="en-US" sz="34560" dirty="0">
                <a:solidFill>
                  <a:schemeClr val="tx1"/>
                </a:solidFill>
                <a:effectLst/>
              </a:rPr>
              <a:t>“</a:t>
            </a:r>
          </a:p>
        </p:txBody>
      </p:sp>
      <p:sp>
        <p:nvSpPr>
          <p:cNvPr id="15" name="TextBox 14"/>
          <p:cNvSpPr txBox="1"/>
          <p:nvPr/>
        </p:nvSpPr>
        <p:spPr>
          <a:xfrm>
            <a:off x="36640817" y="18098368"/>
            <a:ext cx="2195131" cy="3742566"/>
          </a:xfrm>
          <a:prstGeom prst="rect">
            <a:avLst/>
          </a:prstGeom>
        </p:spPr>
        <p:txBody>
          <a:bodyPr vert="horz" lIns="438912" tIns="219456" rIns="438912" bIns="219456" rtlCol="0" anchor="ctr">
            <a:noAutofit/>
          </a:bodyPr>
          <a:lstStyle/>
          <a:p>
            <a:pPr lvl="0" algn="r"/>
            <a:r>
              <a:rPr lang="en-US" sz="34560" dirty="0">
                <a:solidFill>
                  <a:schemeClr val="tx1"/>
                </a:solidFill>
                <a:effectLst/>
              </a:rPr>
              <a:t>”</a:t>
            </a:r>
          </a:p>
        </p:txBody>
      </p:sp>
      <p:cxnSp>
        <p:nvCxnSpPr>
          <p:cNvPr id="19" name="Straight Connector 18"/>
          <p:cNvCxnSpPr/>
          <p:nvPr/>
        </p:nvCxnSpPr>
        <p:spPr>
          <a:xfrm>
            <a:off x="6136637" y="26497274"/>
            <a:ext cx="3165856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6223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648971" y="21174918"/>
            <a:ext cx="32633894" cy="9400320"/>
          </a:xfrm>
        </p:spPr>
        <p:txBody>
          <a:bodyPr anchor="b">
            <a:normAutofit/>
          </a:bodyPr>
          <a:lstStyle>
            <a:lvl1pPr algn="l">
              <a:defRPr sz="15360" b="0" cap="none"/>
            </a:lvl1pPr>
          </a:lstStyle>
          <a:p>
            <a:r>
              <a:rPr lang="en-US"/>
              <a:t>Click to edit Master title style</a:t>
            </a:r>
            <a:endParaRPr lang="en-US" dirty="0"/>
          </a:p>
        </p:txBody>
      </p:sp>
      <p:sp>
        <p:nvSpPr>
          <p:cNvPr id="3" name="Text Placeholder 2"/>
          <p:cNvSpPr>
            <a:spLocks noGrp="1"/>
          </p:cNvSpPr>
          <p:nvPr>
            <p:ph type="body" idx="1"/>
          </p:nvPr>
        </p:nvSpPr>
        <p:spPr>
          <a:xfrm>
            <a:off x="5648966" y="30575238"/>
            <a:ext cx="32633904" cy="5506560"/>
          </a:xfrm>
        </p:spPr>
        <p:txBody>
          <a:bodyPr anchor="t">
            <a:normAutofit/>
          </a:bodyPr>
          <a:lstStyle>
            <a:lvl1pPr marL="0" indent="0" algn="l">
              <a:buNone/>
              <a:defRPr sz="864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4103034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765197" y="6285645"/>
            <a:ext cx="30360806" cy="14359475"/>
          </a:xfrm>
        </p:spPr>
        <p:txBody>
          <a:bodyPr anchor="ctr">
            <a:normAutofit/>
          </a:bodyPr>
          <a:lstStyle>
            <a:lvl1pPr algn="ctr">
              <a:defRPr sz="1536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5648966" y="23291597"/>
            <a:ext cx="32633904" cy="5676595"/>
          </a:xfrm>
        </p:spPr>
        <p:txBody>
          <a:bodyPr anchor="b">
            <a:normAutofit/>
          </a:bodyPr>
          <a:lstStyle>
            <a:lvl1pPr marL="0" indent="0" algn="l">
              <a:spcBef>
                <a:spcPts val="0"/>
              </a:spcBef>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5648952" y="28989869"/>
            <a:ext cx="32633933" cy="8615680"/>
          </a:xfrm>
        </p:spPr>
        <p:txBody>
          <a:bodyPr anchor="t">
            <a:normAutofit/>
          </a:bodyPr>
          <a:lstStyle>
            <a:lvl1pPr marL="0" indent="0" algn="l">
              <a:buNone/>
              <a:defRPr sz="7680">
                <a:solidFill>
                  <a:schemeClr val="tx1"/>
                </a:solidFill>
              </a:defRPr>
            </a:lvl1pPr>
            <a:lvl2pPr marL="2194560" indent="0">
              <a:buNone/>
              <a:defRPr sz="768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
        <p:nvSpPr>
          <p:cNvPr id="12" name="TextBox 11"/>
          <p:cNvSpPr txBox="1"/>
          <p:nvPr/>
        </p:nvSpPr>
        <p:spPr>
          <a:xfrm>
            <a:off x="4214691" y="5740128"/>
            <a:ext cx="2195131" cy="3742566"/>
          </a:xfrm>
          <a:prstGeom prst="rect">
            <a:avLst/>
          </a:prstGeom>
        </p:spPr>
        <p:txBody>
          <a:bodyPr vert="horz" lIns="438912" tIns="219456" rIns="438912" bIns="219456" rtlCol="0" anchor="ctr">
            <a:noAutofit/>
          </a:bodyPr>
          <a:lstStyle/>
          <a:p>
            <a:pPr lvl="0"/>
            <a:r>
              <a:rPr lang="en-US" sz="38400" dirty="0">
                <a:solidFill>
                  <a:schemeClr val="tx1"/>
                </a:solidFill>
                <a:effectLst/>
              </a:rPr>
              <a:t>“</a:t>
            </a:r>
          </a:p>
        </p:txBody>
      </p:sp>
      <p:sp>
        <p:nvSpPr>
          <p:cNvPr id="13" name="TextBox 12"/>
          <p:cNvSpPr txBox="1"/>
          <p:nvPr/>
        </p:nvSpPr>
        <p:spPr>
          <a:xfrm>
            <a:off x="36719023" y="16689459"/>
            <a:ext cx="2195131" cy="3742566"/>
          </a:xfrm>
          <a:prstGeom prst="rect">
            <a:avLst/>
          </a:prstGeom>
        </p:spPr>
        <p:txBody>
          <a:bodyPr vert="horz" lIns="438912" tIns="219456" rIns="438912" bIns="219456" rtlCol="0" anchor="ctr">
            <a:noAutofit/>
          </a:bodyPr>
          <a:lstStyle/>
          <a:p>
            <a:pPr lvl="0" algn="r"/>
            <a:r>
              <a:rPr lang="en-US" sz="38400" dirty="0">
                <a:solidFill>
                  <a:schemeClr val="tx1"/>
                </a:solidFill>
                <a:effectLst/>
              </a:rPr>
              <a:t>”</a:t>
            </a:r>
          </a:p>
        </p:txBody>
      </p:sp>
      <p:cxnSp>
        <p:nvCxnSpPr>
          <p:cNvPr id="26" name="Straight Connector 25"/>
          <p:cNvCxnSpPr/>
          <p:nvPr/>
        </p:nvCxnSpPr>
        <p:spPr>
          <a:xfrm>
            <a:off x="6136637" y="21945600"/>
            <a:ext cx="3165856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7393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648952" y="6285642"/>
            <a:ext cx="32633923" cy="14684589"/>
          </a:xfrm>
        </p:spPr>
        <p:txBody>
          <a:bodyPr vert="horz" lIns="91440" tIns="45720" rIns="91440" bIns="45720" rtlCol="0" anchor="ctr">
            <a:normAutofit/>
          </a:bodyPr>
          <a:lstStyle>
            <a:lvl1pPr>
              <a:defRPr lang="en-US" sz="1536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5648966" y="22823424"/>
            <a:ext cx="32633904" cy="5793638"/>
          </a:xfrm>
        </p:spPr>
        <p:txBody>
          <a:bodyPr anchor="b">
            <a:normAutofit/>
          </a:bodyPr>
          <a:lstStyle>
            <a:lvl1pPr marL="0" indent="0" algn="l">
              <a:spcBef>
                <a:spcPts val="0"/>
              </a:spcBef>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5648957" y="28610563"/>
            <a:ext cx="32633923" cy="8994989"/>
          </a:xfrm>
        </p:spPr>
        <p:txBody>
          <a:bodyPr anchor="t">
            <a:normAutofit/>
          </a:bodyPr>
          <a:lstStyle>
            <a:lvl1pPr marL="0" indent="0" algn="l">
              <a:buNone/>
              <a:defRPr sz="7680">
                <a:solidFill>
                  <a:schemeClr val="tx1"/>
                </a:solidFill>
              </a:defRPr>
            </a:lvl1pPr>
            <a:lvl2pPr marL="2194560" indent="0">
              <a:buNone/>
              <a:defRPr sz="768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cxnSp>
        <p:nvCxnSpPr>
          <p:cNvPr id="15" name="Straight Connector 14"/>
          <p:cNvCxnSpPr/>
          <p:nvPr/>
        </p:nvCxnSpPr>
        <p:spPr>
          <a:xfrm>
            <a:off x="6136654" y="21945600"/>
            <a:ext cx="317108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24744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648952" y="15936867"/>
            <a:ext cx="32633933" cy="21668691"/>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cxnSp>
        <p:nvCxnSpPr>
          <p:cNvPr id="14" name="Straight Connector 13"/>
          <p:cNvCxnSpPr/>
          <p:nvPr/>
        </p:nvCxnSpPr>
        <p:spPr>
          <a:xfrm>
            <a:off x="6136637" y="15069888"/>
            <a:ext cx="317108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91533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512002" y="5803990"/>
            <a:ext cx="7770864" cy="3180156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48964" y="5803991"/>
            <a:ext cx="23594443" cy="31801555"/>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6/22/2017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cxnSp>
        <p:nvCxnSpPr>
          <p:cNvPr id="14" name="Straight Connector 13"/>
          <p:cNvCxnSpPr/>
          <p:nvPr/>
        </p:nvCxnSpPr>
        <p:spPr>
          <a:xfrm>
            <a:off x="29978458" y="5803991"/>
            <a:ext cx="0" cy="31801555"/>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53485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5" name="Rectangle 14"/>
          <p:cNvSpPr/>
          <p:nvPr userDrawn="1"/>
        </p:nvSpPr>
        <p:spPr>
          <a:xfrm>
            <a:off x="43434000" y="0"/>
            <a:ext cx="457200" cy="438912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endParaRPr lang="en-US" sz="2925" dirty="0"/>
          </a:p>
        </p:txBody>
      </p:sp>
      <p:sp>
        <p:nvSpPr>
          <p:cNvPr id="16" name="Rectangle 15"/>
          <p:cNvSpPr/>
          <p:nvPr userDrawn="1"/>
        </p:nvSpPr>
        <p:spPr>
          <a:xfrm>
            <a:off x="0" y="0"/>
            <a:ext cx="457200" cy="438912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endParaRPr lang="en-US" sz="2925" dirty="0"/>
          </a:p>
        </p:txBody>
      </p:sp>
      <p:sp>
        <p:nvSpPr>
          <p:cNvPr id="17" name="Rectangle 16"/>
          <p:cNvSpPr/>
          <p:nvPr userDrawn="1"/>
        </p:nvSpPr>
        <p:spPr>
          <a:xfrm>
            <a:off x="0" y="0"/>
            <a:ext cx="43891200" cy="5486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endParaRPr lang="en-US" sz="2925" dirty="0"/>
          </a:p>
        </p:txBody>
      </p:sp>
      <p:sp>
        <p:nvSpPr>
          <p:cNvPr id="18" name="Rectangle 17"/>
          <p:cNvSpPr/>
          <p:nvPr userDrawn="1"/>
        </p:nvSpPr>
        <p:spPr>
          <a:xfrm>
            <a:off x="0" y="38404800"/>
            <a:ext cx="43891200" cy="5486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endParaRPr lang="en-US" sz="2925" dirty="0"/>
          </a:p>
        </p:txBody>
      </p:sp>
      <p:sp>
        <p:nvSpPr>
          <p:cNvPr id="11" name="Instructions"/>
          <p:cNvSpPr/>
          <p:nvPr userDrawn="1"/>
        </p:nvSpPr>
        <p:spPr>
          <a:xfrm>
            <a:off x="-7498080" y="0"/>
            <a:ext cx="694944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65255" tIns="165255" rIns="165255" bIns="16525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737"/>
              </a:spcAft>
            </a:pPr>
            <a:r>
              <a:rPr lang="en-US" sz="6075" dirty="0">
                <a:solidFill>
                  <a:srgbClr val="7F7F7F"/>
                </a:solidFill>
                <a:latin typeface="Calibri" pitchFamily="34" charset="0"/>
                <a:cs typeface="Calibri" panose="020F0502020204030204" pitchFamily="34" charset="0"/>
              </a:rPr>
              <a:t>Poster Print Size:</a:t>
            </a:r>
            <a:endParaRPr sz="6075" dirty="0">
              <a:solidFill>
                <a:srgbClr val="7F7F7F"/>
              </a:solidFill>
              <a:latin typeface="Calibri" pitchFamily="34" charset="0"/>
              <a:cs typeface="Calibri" panose="020F0502020204030204" pitchFamily="34" charset="0"/>
            </a:endParaRPr>
          </a:p>
          <a:p>
            <a:pPr lvl="0">
              <a:spcBef>
                <a:spcPts val="0"/>
              </a:spcBef>
              <a:spcAft>
                <a:spcPts val="1737"/>
              </a:spcAft>
            </a:pPr>
            <a:r>
              <a:rPr lang="en-US" sz="3600" dirty="0">
                <a:solidFill>
                  <a:srgbClr val="7F7F7F"/>
                </a:solidFill>
                <a:latin typeface="+mn-lt"/>
                <a:cs typeface="Calibri" panose="020F0502020204030204" pitchFamily="34" charset="0"/>
              </a:rPr>
              <a:t>This poster template is 24” high by 48” wide .</a:t>
            </a:r>
            <a:r>
              <a:rPr lang="en-US" sz="3600" baseline="0" dirty="0">
                <a:solidFill>
                  <a:srgbClr val="7F7F7F"/>
                </a:solidFill>
                <a:latin typeface="+mn-lt"/>
                <a:cs typeface="Calibri" panose="020F0502020204030204" pitchFamily="34" charset="0"/>
              </a:rPr>
              <a:t> </a:t>
            </a:r>
            <a:r>
              <a:rPr lang="en-US" sz="3600" dirty="0">
                <a:solidFill>
                  <a:srgbClr val="7F7F7F"/>
                </a:solidFill>
                <a:latin typeface="+mn-lt"/>
                <a:cs typeface="Calibri" panose="020F0502020204030204" pitchFamily="34" charset="0"/>
              </a:rPr>
              <a:t>It can be used to print any poster with a 1:2 aspect ratio including 30x60, 36x72, 42x84, and 48x96. </a:t>
            </a:r>
          </a:p>
          <a:p>
            <a:pPr lvl="0">
              <a:spcBef>
                <a:spcPts val="0"/>
              </a:spcBef>
              <a:spcAft>
                <a:spcPts val="1737"/>
              </a:spcAft>
            </a:pPr>
            <a:r>
              <a:rPr lang="en-US" sz="6075" dirty="0">
                <a:solidFill>
                  <a:srgbClr val="7F7F7F"/>
                </a:solidFill>
                <a:latin typeface="+mn-lt"/>
                <a:cs typeface="Calibri" panose="020F0502020204030204" pitchFamily="34" charset="0"/>
              </a:rPr>
              <a:t>Placeholders</a:t>
            </a:r>
            <a:r>
              <a:rPr sz="6075" dirty="0">
                <a:solidFill>
                  <a:srgbClr val="7F7F7F"/>
                </a:solidFill>
                <a:latin typeface="+mn-lt"/>
                <a:cs typeface="Calibri" panose="020F0502020204030204" pitchFamily="34" charset="0"/>
              </a:rPr>
              <a:t>:</a:t>
            </a:r>
          </a:p>
          <a:p>
            <a:pPr lvl="0">
              <a:spcBef>
                <a:spcPts val="0"/>
              </a:spcBef>
              <a:spcAft>
                <a:spcPts val="1737"/>
              </a:spcAft>
            </a:pPr>
            <a:r>
              <a:rPr sz="3600" dirty="0">
                <a:solidFill>
                  <a:srgbClr val="7F7F7F"/>
                </a:solidFill>
                <a:latin typeface="Calibri" pitchFamily="34" charset="0"/>
                <a:cs typeface="Calibri" panose="020F0502020204030204" pitchFamily="34" charset="0"/>
              </a:rPr>
              <a:t>The </a:t>
            </a:r>
            <a:r>
              <a:rPr lang="en-US" sz="3600" dirty="0">
                <a:solidFill>
                  <a:srgbClr val="7F7F7F"/>
                </a:solidFill>
                <a:latin typeface="Calibri" pitchFamily="34" charset="0"/>
                <a:cs typeface="Calibri" panose="020F0502020204030204" pitchFamily="34" charset="0"/>
              </a:rPr>
              <a:t>various elements included</a:t>
            </a:r>
            <a:r>
              <a:rPr sz="3600" dirty="0">
                <a:solidFill>
                  <a:srgbClr val="7F7F7F"/>
                </a:solidFill>
                <a:latin typeface="Calibri" pitchFamily="34" charset="0"/>
                <a:cs typeface="Calibri" panose="020F0502020204030204" pitchFamily="34" charset="0"/>
              </a:rPr>
              <a:t> in this </a:t>
            </a:r>
            <a:r>
              <a:rPr lang="en-US" sz="3600" dirty="0">
                <a:solidFill>
                  <a:srgbClr val="7F7F7F"/>
                </a:solidFill>
                <a:latin typeface="Calibri" pitchFamily="34" charset="0"/>
                <a:cs typeface="Calibri" panose="020F0502020204030204" pitchFamily="34" charset="0"/>
              </a:rPr>
              <a:t>poster are ones</a:t>
            </a:r>
            <a:r>
              <a:rPr lang="en-US" sz="3600" baseline="0" dirty="0">
                <a:solidFill>
                  <a:srgbClr val="7F7F7F"/>
                </a:solidFill>
                <a:latin typeface="Calibri" pitchFamily="34" charset="0"/>
                <a:cs typeface="Calibri" panose="020F0502020204030204" pitchFamily="34" charset="0"/>
              </a:rPr>
              <a:t> we often see in medical, research, and scientific posters.</a:t>
            </a:r>
            <a:r>
              <a:rPr sz="3600" dirty="0">
                <a:solidFill>
                  <a:srgbClr val="7F7F7F"/>
                </a:solidFill>
                <a:latin typeface="Calibri" pitchFamily="34" charset="0"/>
                <a:cs typeface="Calibri" panose="020F0502020204030204" pitchFamily="34" charset="0"/>
              </a:rPr>
              <a:t> </a:t>
            </a:r>
            <a:r>
              <a:rPr lang="en-US" sz="3600" dirty="0">
                <a:solidFill>
                  <a:srgbClr val="7F7F7F"/>
                </a:solidFill>
                <a:latin typeface="Calibri" pitchFamily="34" charset="0"/>
                <a:cs typeface="Calibri" panose="020F0502020204030204" pitchFamily="34" charset="0"/>
              </a:rPr>
              <a:t>Feel</a:t>
            </a:r>
            <a:r>
              <a:rPr lang="en-US" sz="36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737"/>
              </a:spcAft>
            </a:pPr>
            <a:r>
              <a:rPr lang="en-US" sz="6075" dirty="0">
                <a:solidFill>
                  <a:srgbClr val="7F7F7F"/>
                </a:solidFill>
                <a:latin typeface="Calibri" pitchFamily="34" charset="0"/>
                <a:cs typeface="Calibri" panose="020F0502020204030204" pitchFamily="34" charset="0"/>
              </a:rPr>
              <a:t>Image</a:t>
            </a:r>
            <a:r>
              <a:rPr lang="en-US" sz="6075" baseline="0" dirty="0">
                <a:solidFill>
                  <a:srgbClr val="7F7F7F"/>
                </a:solidFill>
                <a:latin typeface="Calibri" pitchFamily="34" charset="0"/>
                <a:cs typeface="Calibri" panose="020F0502020204030204" pitchFamily="34" charset="0"/>
              </a:rPr>
              <a:t> Quality</a:t>
            </a:r>
            <a:r>
              <a:rPr lang="en-US" sz="6075" dirty="0">
                <a:solidFill>
                  <a:srgbClr val="7F7F7F"/>
                </a:solidFill>
                <a:latin typeface="Calibri" pitchFamily="34" charset="0"/>
                <a:cs typeface="Calibri" panose="020F0502020204030204" pitchFamily="34" charset="0"/>
              </a:rPr>
              <a:t>:</a:t>
            </a:r>
          </a:p>
          <a:p>
            <a:pPr lvl="0">
              <a:spcBef>
                <a:spcPts val="0"/>
              </a:spcBef>
              <a:spcAft>
                <a:spcPts val="1737"/>
              </a:spcAft>
            </a:pPr>
            <a:r>
              <a:rPr lang="en-US" sz="3600" dirty="0">
                <a:solidFill>
                  <a:srgbClr val="7F7F7F"/>
                </a:solidFill>
                <a:latin typeface="Calibri" pitchFamily="34" charset="0"/>
                <a:cs typeface="Calibri" panose="020F0502020204030204" pitchFamily="34" charset="0"/>
              </a:rPr>
              <a:t>You can place digital photos or logo art in your poster file by selecting the </a:t>
            </a:r>
            <a:r>
              <a:rPr lang="en-US" sz="3600" b="1" dirty="0">
                <a:solidFill>
                  <a:srgbClr val="7F7F7F"/>
                </a:solidFill>
                <a:latin typeface="Calibri" pitchFamily="34" charset="0"/>
                <a:cs typeface="Calibri" panose="020F0502020204030204" pitchFamily="34" charset="0"/>
              </a:rPr>
              <a:t>Insert, Picture</a:t>
            </a:r>
            <a:r>
              <a:rPr lang="en-US" sz="36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3600" b="1" dirty="0">
                <a:solidFill>
                  <a:srgbClr val="7F7F7F"/>
                </a:solidFill>
                <a:latin typeface="Calibri" pitchFamily="34" charset="0"/>
                <a:cs typeface="Calibri" panose="020F0502020204030204" pitchFamily="34" charset="0"/>
              </a:rPr>
              <a:t>150-200 pixels per inch in their final printed size</a:t>
            </a:r>
            <a:r>
              <a:rPr lang="en-US" sz="3600" dirty="0">
                <a:solidFill>
                  <a:srgbClr val="7F7F7F"/>
                </a:solidFill>
                <a:latin typeface="Calibri" pitchFamily="34" charset="0"/>
                <a:cs typeface="Calibri" panose="020F0502020204030204" pitchFamily="34" charset="0"/>
              </a:rPr>
              <a:t>. For instance, a 1600 x 1200 pixel</a:t>
            </a:r>
            <a:r>
              <a:rPr lang="en-US" sz="3600" baseline="0" dirty="0">
                <a:solidFill>
                  <a:srgbClr val="7F7F7F"/>
                </a:solidFill>
                <a:latin typeface="Calibri" pitchFamily="34" charset="0"/>
                <a:cs typeface="Calibri" panose="020F0502020204030204" pitchFamily="34" charset="0"/>
              </a:rPr>
              <a:t> photo will usually look fine up to </a:t>
            </a:r>
            <a:r>
              <a:rPr lang="en-US" sz="3600" dirty="0">
                <a:solidFill>
                  <a:srgbClr val="7F7F7F"/>
                </a:solidFill>
                <a:latin typeface="Calibri" pitchFamily="34" charset="0"/>
                <a:cs typeface="Calibri" panose="020F0502020204030204" pitchFamily="34" charset="0"/>
              </a:rPr>
              <a:t>8“-10” wide on your printed poster.</a:t>
            </a:r>
          </a:p>
          <a:p>
            <a:pPr lvl="0">
              <a:spcBef>
                <a:spcPts val="0"/>
              </a:spcBef>
              <a:spcAft>
                <a:spcPts val="1737"/>
              </a:spcAft>
            </a:pPr>
            <a:r>
              <a:rPr lang="en-US" sz="36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737"/>
              </a:spcAft>
            </a:pPr>
            <a:r>
              <a:rPr lang="en-US" sz="36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737"/>
              </a:spcAft>
            </a:pPr>
            <a:r>
              <a:rPr lang="en-US" sz="3150" dirty="0">
                <a:solidFill>
                  <a:srgbClr val="7F7F7F"/>
                </a:solidFill>
                <a:latin typeface="Calibri" pitchFamily="34" charset="0"/>
                <a:cs typeface="Calibri" panose="020F0502020204030204" pitchFamily="34" charset="0"/>
              </a:rPr>
              <a:t/>
            </a:r>
            <a:br>
              <a:rPr lang="en-US" sz="3150" dirty="0">
                <a:solidFill>
                  <a:srgbClr val="7F7F7F"/>
                </a:solidFill>
                <a:latin typeface="Calibri" pitchFamily="34" charset="0"/>
                <a:cs typeface="Calibri" panose="020F0502020204030204" pitchFamily="34" charset="0"/>
              </a:rPr>
            </a:br>
            <a:r>
              <a:rPr lang="en-US" sz="3150" dirty="0">
                <a:solidFill>
                  <a:srgbClr val="7F7F7F"/>
                </a:solidFill>
                <a:latin typeface="Calibri" pitchFamily="34" charset="0"/>
                <a:cs typeface="Calibri" panose="020F0502020204030204" pitchFamily="34" charset="0"/>
              </a:rPr>
              <a:t>[This sidebar area does not print.]</a:t>
            </a:r>
          </a:p>
        </p:txBody>
      </p:sp>
      <p:grpSp>
        <p:nvGrpSpPr>
          <p:cNvPr id="12" name="Group 11"/>
          <p:cNvGrpSpPr/>
          <p:nvPr userDrawn="1"/>
        </p:nvGrpSpPr>
        <p:grpSpPr>
          <a:xfrm>
            <a:off x="44439840" y="0"/>
            <a:ext cx="6949440" cy="43891200"/>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737"/>
                </a:spcAft>
              </a:pPr>
              <a:r>
                <a:rPr lang="en-US" sz="6075" dirty="0">
                  <a:solidFill>
                    <a:schemeClr val="bg1">
                      <a:lumMod val="50000"/>
                    </a:schemeClr>
                  </a:solidFill>
                  <a:latin typeface="Calibri" pitchFamily="34" charset="0"/>
                  <a:cs typeface="Calibri" panose="020F0502020204030204" pitchFamily="34" charset="0"/>
                </a:rPr>
                <a:t>Change</a:t>
              </a:r>
              <a:r>
                <a:rPr lang="en-US" sz="6075" baseline="0" dirty="0">
                  <a:solidFill>
                    <a:schemeClr val="bg1">
                      <a:lumMod val="50000"/>
                    </a:schemeClr>
                  </a:solidFill>
                  <a:latin typeface="Calibri" pitchFamily="34" charset="0"/>
                  <a:cs typeface="Calibri" panose="020F0502020204030204" pitchFamily="34" charset="0"/>
                </a:rPr>
                <a:t> Color Theme</a:t>
              </a:r>
              <a:r>
                <a:rPr lang="en-US" sz="6075" dirty="0">
                  <a:solidFill>
                    <a:schemeClr val="bg1">
                      <a:lumMod val="50000"/>
                    </a:schemeClr>
                  </a:solidFill>
                  <a:latin typeface="Calibri" pitchFamily="34" charset="0"/>
                  <a:cs typeface="Calibri" panose="020F0502020204030204" pitchFamily="34" charset="0"/>
                </a:rPr>
                <a:t>:</a:t>
              </a:r>
              <a:endParaRPr sz="6075"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r>
                <a:rPr lang="en-US" sz="36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36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737"/>
                </a:spcAft>
              </a:pPr>
              <a:r>
                <a:rPr lang="en-US" sz="3600" baseline="0" dirty="0">
                  <a:solidFill>
                    <a:schemeClr val="bg1">
                      <a:lumMod val="50000"/>
                    </a:schemeClr>
                  </a:solidFill>
                  <a:latin typeface="Calibri" pitchFamily="34" charset="0"/>
                  <a:cs typeface="Calibri" panose="020F0502020204030204" pitchFamily="34" charset="0"/>
                </a:rPr>
                <a:t>To change the color theme, select the </a:t>
              </a:r>
              <a:r>
                <a:rPr lang="en-US" sz="3600" b="1" baseline="0" dirty="0">
                  <a:solidFill>
                    <a:schemeClr val="bg1">
                      <a:lumMod val="50000"/>
                    </a:schemeClr>
                  </a:solidFill>
                  <a:latin typeface="Calibri" pitchFamily="34" charset="0"/>
                  <a:cs typeface="Calibri" panose="020F0502020204030204" pitchFamily="34" charset="0"/>
                </a:rPr>
                <a:t>Design</a:t>
              </a:r>
              <a:r>
                <a:rPr lang="en-US" sz="3600" baseline="0" dirty="0">
                  <a:solidFill>
                    <a:schemeClr val="bg1">
                      <a:lumMod val="50000"/>
                    </a:schemeClr>
                  </a:solidFill>
                  <a:latin typeface="Calibri" pitchFamily="34" charset="0"/>
                  <a:cs typeface="Calibri" panose="020F0502020204030204" pitchFamily="34" charset="0"/>
                </a:rPr>
                <a:t> tab, then select the </a:t>
              </a:r>
              <a:r>
                <a:rPr lang="en-US" sz="3600" b="1" baseline="0" dirty="0">
                  <a:solidFill>
                    <a:schemeClr val="bg1">
                      <a:lumMod val="50000"/>
                    </a:schemeClr>
                  </a:solidFill>
                  <a:latin typeface="Calibri" pitchFamily="34" charset="0"/>
                  <a:cs typeface="Calibri" panose="020F0502020204030204" pitchFamily="34" charset="0"/>
                </a:rPr>
                <a:t>Colors</a:t>
              </a:r>
              <a:r>
                <a:rPr lang="en-US" sz="36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737"/>
                </a:spcAft>
              </a:pPr>
              <a:endParaRPr lang="en-US" sz="3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endParaRPr lang="en-US" sz="3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endParaRPr lang="en-US" sz="3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endParaRPr lang="en-US" sz="3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endParaRPr lang="en-US" sz="3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endParaRPr lang="en-US" sz="3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endParaRPr lang="en-US" sz="3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endParaRPr lang="en-US" sz="3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737"/>
                </a:spcAft>
              </a:pPr>
              <a:r>
                <a:rPr lang="en-US" sz="36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737"/>
                </a:spcAft>
              </a:pPr>
              <a:r>
                <a:rPr lang="en-US" sz="6075"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737"/>
                </a:spcAft>
              </a:pPr>
              <a:r>
                <a:rPr lang="en-US" sz="3600" dirty="0">
                  <a:solidFill>
                    <a:schemeClr val="bg1">
                      <a:lumMod val="50000"/>
                    </a:schemeClr>
                  </a:solidFill>
                  <a:latin typeface="Calibri" pitchFamily="34" charset="0"/>
                  <a:cs typeface="Calibri" panose="020F0502020204030204" pitchFamily="34" charset="0"/>
                </a:rPr>
                <a:t>Once your poster file is ready, visit</a:t>
              </a:r>
              <a:r>
                <a:rPr lang="en-US" sz="3600" baseline="0" dirty="0">
                  <a:solidFill>
                    <a:schemeClr val="bg1">
                      <a:lumMod val="50000"/>
                    </a:schemeClr>
                  </a:solidFill>
                  <a:latin typeface="Calibri" pitchFamily="34" charset="0"/>
                  <a:cs typeface="Calibri" panose="020F0502020204030204" pitchFamily="34" charset="0"/>
                </a:rPr>
                <a:t> </a:t>
              </a:r>
              <a:r>
                <a:rPr lang="en-US" sz="3600" b="1" baseline="0" dirty="0">
                  <a:solidFill>
                    <a:schemeClr val="bg1">
                      <a:lumMod val="50000"/>
                    </a:schemeClr>
                  </a:solidFill>
                  <a:latin typeface="Calibri" pitchFamily="34" charset="0"/>
                  <a:cs typeface="Calibri" panose="020F0502020204030204" pitchFamily="34" charset="0"/>
                </a:rPr>
                <a:t>www.genigraphics.com</a:t>
              </a:r>
              <a:r>
                <a:rPr lang="en-US" sz="36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737"/>
                </a:spcAft>
              </a:pPr>
              <a:r>
                <a:rPr lang="en-US" sz="36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36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3600" baseline="0" dirty="0">
                  <a:solidFill>
                    <a:schemeClr val="bg1">
                      <a:lumMod val="50000"/>
                    </a:schemeClr>
                  </a:solidFill>
                  <a:latin typeface="Calibri" pitchFamily="34" charset="0"/>
                  <a:cs typeface="Calibri" panose="020F0502020204030204" pitchFamily="34" charset="0"/>
                </a:rPr>
                <a:t>US and Canada:  1-800-790-4001</a:t>
              </a:r>
              <a:br>
                <a:rPr lang="en-US" sz="3600" baseline="0" dirty="0">
                  <a:solidFill>
                    <a:schemeClr val="bg1">
                      <a:lumMod val="50000"/>
                    </a:schemeClr>
                  </a:solidFill>
                  <a:latin typeface="Calibri" pitchFamily="34" charset="0"/>
                  <a:cs typeface="Calibri" panose="020F0502020204030204" pitchFamily="34" charset="0"/>
                </a:rPr>
              </a:br>
              <a:r>
                <a:rPr lang="en-US" sz="36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r>
                <a:rPr lang="en-US" sz="3150" dirty="0">
                  <a:solidFill>
                    <a:schemeClr val="bg1">
                      <a:lumMod val="50000"/>
                    </a:schemeClr>
                  </a:solidFill>
                  <a:latin typeface="Calibri" pitchFamily="34" charset="0"/>
                  <a:cs typeface="Calibri" panose="020F0502020204030204" pitchFamily="34" charset="0"/>
                </a:rPr>
                <a:t/>
              </a:r>
              <a:br>
                <a:rPr lang="en-US" sz="3150" dirty="0">
                  <a:solidFill>
                    <a:schemeClr val="bg1">
                      <a:lumMod val="50000"/>
                    </a:schemeClr>
                  </a:solidFill>
                  <a:latin typeface="Calibri" pitchFamily="34" charset="0"/>
                  <a:cs typeface="Calibri" panose="020F0502020204030204" pitchFamily="34" charset="0"/>
                </a:rPr>
              </a:br>
              <a:r>
                <a:rPr lang="en-US" sz="315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107874"/>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481002" y="43366944"/>
            <a:ext cx="5297435" cy="371856"/>
          </a:xfrm>
          <a:prstGeom prst="rect">
            <a:avLst/>
          </a:prstGeom>
        </p:spPr>
      </p:pic>
    </p:spTree>
    <p:extLst>
      <p:ext uri="{BB962C8B-B14F-4D97-AF65-F5344CB8AC3E}">
        <p14:creationId xmlns:p14="http://schemas.microsoft.com/office/powerpoint/2010/main" val="3315123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2" y="0"/>
            <a:ext cx="43931842" cy="43891200"/>
            <a:chOff x="0" y="0"/>
            <a:chExt cx="9152467" cy="6858000"/>
          </a:xfrm>
        </p:grpSpPr>
        <p:pic>
          <p:nvPicPr>
            <p:cNvPr id="8" name="Picture 7" descr="S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5648957" y="5858160"/>
            <a:ext cx="32633923" cy="834474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648952" y="15936867"/>
            <a:ext cx="32633933" cy="22047981"/>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512019" y="38147411"/>
            <a:ext cx="5511758" cy="1788160"/>
          </a:xfrm>
          <a:prstGeom prst="rect">
            <a:avLst/>
          </a:prstGeom>
        </p:spPr>
        <p:txBody>
          <a:bodyPr vert="horz" lIns="91440" tIns="45720" rIns="91440" bIns="45720" rtlCol="0" anchor="ctr"/>
          <a:lstStyle>
            <a:lvl1pPr algn="r">
              <a:defRPr sz="4800" b="0" i="0">
                <a:solidFill>
                  <a:schemeClr val="tx1"/>
                </a:solidFill>
                <a:effectLst/>
                <a:latin typeface="+mn-lt"/>
              </a:defRPr>
            </a:lvl1pPr>
          </a:lstStyle>
          <a:p>
            <a:fld id="{985D6BDF-9D0E-4E2B-85B8-D8F4790360C9}" type="datetimeFigureOut">
              <a:rPr lang="en-US" smtClean="0"/>
              <a:t>6/22/2017</a:t>
            </a:fld>
            <a:endParaRPr lang="en-US" dirty="0"/>
          </a:p>
        </p:txBody>
      </p:sp>
      <p:sp>
        <p:nvSpPr>
          <p:cNvPr id="5" name="Footer Placeholder 4"/>
          <p:cNvSpPr>
            <a:spLocks noGrp="1"/>
          </p:cNvSpPr>
          <p:nvPr>
            <p:ph type="ftr" sz="quarter" idx="3"/>
          </p:nvPr>
        </p:nvSpPr>
        <p:spPr>
          <a:xfrm>
            <a:off x="5648954" y="38147411"/>
            <a:ext cx="24502402" cy="1788160"/>
          </a:xfrm>
          <a:prstGeom prst="rect">
            <a:avLst/>
          </a:prstGeom>
        </p:spPr>
        <p:txBody>
          <a:bodyPr vert="horz" lIns="91440" tIns="45720" rIns="91440" bIns="45720" rtlCol="0" anchor="ctr"/>
          <a:lstStyle>
            <a:lvl1pPr algn="l">
              <a:defRPr sz="48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36384437" y="38147411"/>
            <a:ext cx="1898448" cy="1788160"/>
          </a:xfrm>
          <a:prstGeom prst="rect">
            <a:avLst/>
          </a:prstGeom>
        </p:spPr>
        <p:txBody>
          <a:bodyPr vert="horz" lIns="91440" tIns="45720" rIns="91440" bIns="45720" rtlCol="0" anchor="ctr"/>
          <a:lstStyle>
            <a:lvl1pPr algn="r">
              <a:defRPr sz="4800" b="0" i="0">
                <a:solidFill>
                  <a:schemeClr val="tx1"/>
                </a:solidFill>
                <a:effectLst/>
                <a:latin typeface="+mn-lt"/>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435286309"/>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 id="2147483860" r:id="rId18"/>
  </p:sldLayoutIdLst>
  <p:txStyles>
    <p:titleStyle>
      <a:lvl1pPr algn="ctr" defTabSz="2194560" rtl="0" eaLnBrk="1" latinLnBrk="0" hangingPunct="1">
        <a:spcBef>
          <a:spcPct val="0"/>
        </a:spcBef>
        <a:buNone/>
        <a:defRPr sz="192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371600" indent="-1371600" algn="l" defTabSz="2194560" rtl="0" eaLnBrk="1" latinLnBrk="0" hangingPunct="1">
        <a:spcBef>
          <a:spcPct val="20000"/>
        </a:spcBef>
        <a:spcAft>
          <a:spcPts val="2880"/>
        </a:spcAft>
        <a:buClr>
          <a:schemeClr val="accent1"/>
        </a:buClr>
        <a:buSzPct val="115000"/>
        <a:buFont typeface="Arial"/>
        <a:buChar char="•"/>
        <a:defRPr sz="11520" kern="1200" cap="none">
          <a:solidFill>
            <a:schemeClr val="tx1">
              <a:lumMod val="85000"/>
              <a:lumOff val="15000"/>
            </a:schemeClr>
          </a:solidFill>
          <a:effectLst/>
          <a:latin typeface="+mn-lt"/>
          <a:ea typeface="+mn-ea"/>
          <a:cs typeface="+mn-cs"/>
        </a:defRPr>
      </a:lvl1pPr>
      <a:lvl2pPr marL="3566160" indent="-1371600" algn="l" defTabSz="2194560" rtl="0" eaLnBrk="1" latinLnBrk="0" hangingPunct="1">
        <a:spcBef>
          <a:spcPct val="20000"/>
        </a:spcBef>
        <a:spcAft>
          <a:spcPts val="2880"/>
        </a:spcAft>
        <a:buClr>
          <a:schemeClr val="accent1"/>
        </a:buClr>
        <a:buSzPct val="115000"/>
        <a:buFont typeface="Arial"/>
        <a:buChar char="•"/>
        <a:defRPr sz="9600" kern="1200" cap="none">
          <a:solidFill>
            <a:schemeClr val="tx1">
              <a:lumMod val="85000"/>
              <a:lumOff val="15000"/>
            </a:schemeClr>
          </a:solidFill>
          <a:effectLst/>
          <a:latin typeface="+mn-lt"/>
          <a:ea typeface="+mn-ea"/>
          <a:cs typeface="+mn-cs"/>
        </a:defRPr>
      </a:lvl2pPr>
      <a:lvl3pPr marL="5760720" indent="-1371600" algn="l" defTabSz="2194560" rtl="0" eaLnBrk="1" latinLnBrk="0" hangingPunct="1">
        <a:spcBef>
          <a:spcPct val="20000"/>
        </a:spcBef>
        <a:spcAft>
          <a:spcPts val="2880"/>
        </a:spcAft>
        <a:buClr>
          <a:schemeClr val="accent1"/>
        </a:buClr>
        <a:buSzPct val="115000"/>
        <a:buFont typeface="Arial"/>
        <a:buChar char="•"/>
        <a:defRPr sz="8640" kern="1200" cap="none">
          <a:solidFill>
            <a:schemeClr val="tx1">
              <a:lumMod val="85000"/>
              <a:lumOff val="15000"/>
            </a:schemeClr>
          </a:solidFill>
          <a:effectLst/>
          <a:latin typeface="+mn-lt"/>
          <a:ea typeface="+mn-ea"/>
          <a:cs typeface="+mn-cs"/>
        </a:defRPr>
      </a:lvl3pPr>
      <a:lvl4pPr marL="7406640" indent="-822960" algn="l" defTabSz="2194560" rtl="0" eaLnBrk="1" latinLnBrk="0" hangingPunct="1">
        <a:spcBef>
          <a:spcPct val="20000"/>
        </a:spcBef>
        <a:spcAft>
          <a:spcPts val="2880"/>
        </a:spcAft>
        <a:buClr>
          <a:schemeClr val="accent1"/>
        </a:buClr>
        <a:buSzPct val="115000"/>
        <a:buFont typeface="Arial"/>
        <a:buChar char="•"/>
        <a:defRPr sz="7680" kern="1200" cap="none">
          <a:solidFill>
            <a:schemeClr val="tx1">
              <a:lumMod val="85000"/>
              <a:lumOff val="15000"/>
            </a:schemeClr>
          </a:solidFill>
          <a:effectLst/>
          <a:latin typeface="+mn-lt"/>
          <a:ea typeface="+mn-ea"/>
          <a:cs typeface="+mn-cs"/>
        </a:defRPr>
      </a:lvl4pPr>
      <a:lvl5pPr marL="9601200" indent="-822960" algn="l" defTabSz="2194560" rtl="0" eaLnBrk="1" latinLnBrk="0" hangingPunct="1">
        <a:spcBef>
          <a:spcPct val="20000"/>
        </a:spcBef>
        <a:spcAft>
          <a:spcPts val="2880"/>
        </a:spcAft>
        <a:buClr>
          <a:schemeClr val="accent1"/>
        </a:buClr>
        <a:buSzPct val="115000"/>
        <a:buFont typeface="Arial"/>
        <a:buChar char="•"/>
        <a:defRPr sz="6720" kern="1200" cap="none">
          <a:solidFill>
            <a:schemeClr val="tx1">
              <a:lumMod val="85000"/>
              <a:lumOff val="15000"/>
            </a:schemeClr>
          </a:solidFill>
          <a:effectLst/>
          <a:latin typeface="+mn-lt"/>
          <a:ea typeface="+mn-ea"/>
          <a:cs typeface="+mn-cs"/>
        </a:defRPr>
      </a:lvl5pPr>
      <a:lvl6pPr marL="12070080" indent="-1097280" algn="l" defTabSz="2194560" rtl="0" eaLnBrk="1" latinLnBrk="0" hangingPunct="1">
        <a:spcBef>
          <a:spcPct val="20000"/>
        </a:spcBef>
        <a:spcAft>
          <a:spcPts val="2880"/>
        </a:spcAft>
        <a:buClr>
          <a:schemeClr val="accent1"/>
        </a:buClr>
        <a:buSzPct val="115000"/>
        <a:buFont typeface="Arial"/>
        <a:buChar char="•"/>
        <a:defRPr sz="6720" kern="1200" cap="none">
          <a:solidFill>
            <a:schemeClr val="tx1">
              <a:lumMod val="85000"/>
              <a:lumOff val="15000"/>
            </a:schemeClr>
          </a:solidFill>
          <a:effectLst/>
          <a:latin typeface="+mn-lt"/>
          <a:ea typeface="+mn-ea"/>
          <a:cs typeface="+mn-cs"/>
        </a:defRPr>
      </a:lvl6pPr>
      <a:lvl7pPr marL="14264640" indent="-1097280" algn="l" defTabSz="2194560" rtl="0" eaLnBrk="1" latinLnBrk="0" hangingPunct="1">
        <a:spcBef>
          <a:spcPct val="20000"/>
        </a:spcBef>
        <a:spcAft>
          <a:spcPts val="2880"/>
        </a:spcAft>
        <a:buClr>
          <a:schemeClr val="accent1"/>
        </a:buClr>
        <a:buSzPct val="115000"/>
        <a:buFont typeface="Arial"/>
        <a:buChar char="•"/>
        <a:defRPr sz="6720" kern="1200" cap="none">
          <a:solidFill>
            <a:schemeClr val="tx1">
              <a:lumMod val="85000"/>
              <a:lumOff val="15000"/>
            </a:schemeClr>
          </a:solidFill>
          <a:effectLst/>
          <a:latin typeface="+mn-lt"/>
          <a:ea typeface="+mn-ea"/>
          <a:cs typeface="+mn-cs"/>
        </a:defRPr>
      </a:lvl7pPr>
      <a:lvl8pPr marL="16459200" indent="-1097280" algn="l" defTabSz="2194560" rtl="0" eaLnBrk="1" latinLnBrk="0" hangingPunct="1">
        <a:spcBef>
          <a:spcPct val="20000"/>
        </a:spcBef>
        <a:spcAft>
          <a:spcPts val="2880"/>
        </a:spcAft>
        <a:buClr>
          <a:schemeClr val="accent1"/>
        </a:buClr>
        <a:buSzPct val="115000"/>
        <a:buFont typeface="Arial"/>
        <a:buChar char="•"/>
        <a:defRPr sz="6720" kern="1200" cap="none">
          <a:solidFill>
            <a:schemeClr val="tx1">
              <a:lumMod val="85000"/>
              <a:lumOff val="15000"/>
            </a:schemeClr>
          </a:solidFill>
          <a:effectLst/>
          <a:latin typeface="+mn-lt"/>
          <a:ea typeface="+mn-ea"/>
          <a:cs typeface="+mn-cs"/>
        </a:defRPr>
      </a:lvl8pPr>
      <a:lvl9pPr marL="18653760" indent="-1097280" algn="l" defTabSz="2194560" rtl="0" eaLnBrk="1" latinLnBrk="0" hangingPunct="1">
        <a:spcBef>
          <a:spcPct val="20000"/>
        </a:spcBef>
        <a:spcAft>
          <a:spcPts val="2880"/>
        </a:spcAft>
        <a:buClr>
          <a:schemeClr val="accent1"/>
        </a:buClr>
        <a:buSzPct val="115000"/>
        <a:buFont typeface="Arial"/>
        <a:buChar char="•"/>
        <a:defRPr sz="6720" kern="1200" cap="none">
          <a:solidFill>
            <a:schemeClr val="tx1">
              <a:lumMod val="85000"/>
              <a:lumOff val="15000"/>
            </a:schemeClr>
          </a:solidFill>
          <a:effectLst/>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3.wmf"/><Relationship Id="rId18" Type="http://schemas.openxmlformats.org/officeDocument/2006/relationships/oleObject" Target="../embeddings/oleObject6.bin"/><Relationship Id="rId26" Type="http://schemas.openxmlformats.org/officeDocument/2006/relationships/oleObject" Target="../embeddings/oleObject9.bin"/><Relationship Id="rId3" Type="http://schemas.openxmlformats.org/officeDocument/2006/relationships/image" Target="../media/image19.png"/><Relationship Id="rId21" Type="http://schemas.openxmlformats.org/officeDocument/2006/relationships/image" Target="../media/image15.wmf"/><Relationship Id="rId7" Type="http://schemas.openxmlformats.org/officeDocument/2006/relationships/image" Target="../media/image10.wmf"/><Relationship Id="rId12" Type="http://schemas.openxmlformats.org/officeDocument/2006/relationships/oleObject" Target="../embeddings/oleObject5.bin"/><Relationship Id="rId17" Type="http://schemas.openxmlformats.org/officeDocument/2006/relationships/image" Target="../media/image23.png"/><Relationship Id="rId25" Type="http://schemas.openxmlformats.org/officeDocument/2006/relationships/image" Target="../media/image16.wmf"/><Relationship Id="rId2" Type="http://schemas.openxmlformats.org/officeDocument/2006/relationships/slideLayout" Target="../slideLayouts/slideLayout18.xml"/><Relationship Id="rId16" Type="http://schemas.openxmlformats.org/officeDocument/2006/relationships/image" Target="../media/image22.png"/><Relationship Id="rId20" Type="http://schemas.openxmlformats.org/officeDocument/2006/relationships/oleObject" Target="../embeddings/oleObject7.bin"/><Relationship Id="rId29" Type="http://schemas.openxmlformats.org/officeDocument/2006/relationships/image" Target="../media/image18.wmf"/><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2.wmf"/><Relationship Id="rId24" Type="http://schemas.openxmlformats.org/officeDocument/2006/relationships/oleObject" Target="../embeddings/oleObject8.bin"/><Relationship Id="rId32" Type="http://schemas.openxmlformats.org/officeDocument/2006/relationships/image" Target="../media/image28.png"/><Relationship Id="rId5" Type="http://schemas.openxmlformats.org/officeDocument/2006/relationships/image" Target="../media/image9.wmf"/><Relationship Id="rId15" Type="http://schemas.openxmlformats.org/officeDocument/2006/relationships/image" Target="../media/image21.jpeg"/><Relationship Id="rId23" Type="http://schemas.openxmlformats.org/officeDocument/2006/relationships/image" Target="../media/image25.png"/><Relationship Id="rId28" Type="http://schemas.openxmlformats.org/officeDocument/2006/relationships/oleObject" Target="../embeddings/oleObject10.bin"/><Relationship Id="rId10" Type="http://schemas.openxmlformats.org/officeDocument/2006/relationships/oleObject" Target="../embeddings/oleObject4.bin"/><Relationship Id="rId19" Type="http://schemas.openxmlformats.org/officeDocument/2006/relationships/image" Target="../media/image14.wmf"/><Relationship Id="rId31" Type="http://schemas.openxmlformats.org/officeDocument/2006/relationships/image" Target="../media/image27.png"/><Relationship Id="rId4" Type="http://schemas.openxmlformats.org/officeDocument/2006/relationships/oleObject" Target="../embeddings/oleObject1.bin"/><Relationship Id="rId9" Type="http://schemas.openxmlformats.org/officeDocument/2006/relationships/image" Target="../media/image11.wmf"/><Relationship Id="rId14" Type="http://schemas.openxmlformats.org/officeDocument/2006/relationships/image" Target="../media/image20.png"/><Relationship Id="rId22" Type="http://schemas.openxmlformats.org/officeDocument/2006/relationships/image" Target="../media/image24.jpg"/><Relationship Id="rId27" Type="http://schemas.openxmlformats.org/officeDocument/2006/relationships/image" Target="../media/image17.wmf"/><Relationship Id="rId30"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3063552" y="565410"/>
            <a:ext cx="37033200" cy="17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2202" tIns="330507" rIns="132202" bIns="330507"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7000" b="1" dirty="0">
                <a:solidFill>
                  <a:schemeClr val="bg1"/>
                </a:solidFill>
                <a:latin typeface="Times New Roman" panose="02020603050405020304" pitchFamily="18" charset="0"/>
                <a:cs typeface="Times New Roman" panose="02020603050405020304" pitchFamily="18" charset="0"/>
              </a:rPr>
              <a:t>Calibration of Low Cost Dust Sensors </a:t>
            </a:r>
          </a:p>
        </p:txBody>
      </p:sp>
      <p:sp>
        <p:nvSpPr>
          <p:cNvPr id="5" name="Text Box 123"/>
          <p:cNvSpPr txBox="1">
            <a:spLocks noChangeArrowheads="1"/>
          </p:cNvSpPr>
          <p:nvPr/>
        </p:nvSpPr>
        <p:spPr bwMode="auto">
          <a:xfrm>
            <a:off x="115705" y="2068679"/>
            <a:ext cx="43299698" cy="212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2202" tIns="132202" rIns="132202" bIns="132202"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a:r>
              <a:rPr lang="en-US" sz="6000" b="1" dirty="0">
                <a:solidFill>
                  <a:schemeClr val="bg1"/>
                </a:solidFill>
              </a:rPr>
              <a:t/>
            </a:r>
            <a:br>
              <a:rPr lang="en-US" sz="6000" b="1" dirty="0">
                <a:solidFill>
                  <a:schemeClr val="bg1"/>
                </a:solidFill>
              </a:rPr>
            </a:br>
            <a:r>
              <a:rPr lang="en-US" sz="6000" b="1" dirty="0">
                <a:solidFill>
                  <a:schemeClr val="bg1"/>
                </a:solidFill>
                <a:latin typeface="Times New Roman" panose="02020603050405020304" pitchFamily="18" charset="0"/>
                <a:cs typeface="Times New Roman" panose="02020603050405020304" pitchFamily="18" charset="0"/>
              </a:rPr>
              <a:t>Orthodoxia Zervaki</a:t>
            </a:r>
            <a:r>
              <a:rPr lang="en-US" sz="6000" b="1" baseline="30000" dirty="0">
                <a:solidFill>
                  <a:schemeClr val="bg1"/>
                </a:solidFill>
                <a:latin typeface="Times New Roman" panose="02020603050405020304" pitchFamily="18" charset="0"/>
                <a:cs typeface="Times New Roman" panose="02020603050405020304" pitchFamily="18" charset="0"/>
              </a:rPr>
              <a:t>1</a:t>
            </a:r>
            <a:r>
              <a:rPr lang="en-US" sz="6000" b="1" dirty="0">
                <a:solidFill>
                  <a:schemeClr val="bg1"/>
                </a:solidFill>
                <a:latin typeface="Times New Roman" panose="02020603050405020304" pitchFamily="18" charset="0"/>
                <a:cs typeface="Times New Roman" panose="02020603050405020304" pitchFamily="18" charset="0"/>
              </a:rPr>
              <a:t>, Lina Zheng</a:t>
            </a:r>
            <a:r>
              <a:rPr lang="en-US" sz="6000" b="1" baseline="30000" dirty="0">
                <a:solidFill>
                  <a:schemeClr val="bg1"/>
                </a:solidFill>
                <a:latin typeface="Times New Roman" panose="02020603050405020304" pitchFamily="18" charset="0"/>
                <a:cs typeface="Times New Roman" panose="02020603050405020304" pitchFamily="18" charset="0"/>
              </a:rPr>
              <a:t>2</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Dionysios</a:t>
            </a:r>
            <a:r>
              <a:rPr lang="en-US" sz="6000" b="1" dirty="0">
                <a:solidFill>
                  <a:schemeClr val="bg1"/>
                </a:solidFill>
                <a:latin typeface="Times New Roman" panose="02020603050405020304" pitchFamily="18" charset="0"/>
                <a:cs typeface="Times New Roman" panose="02020603050405020304" pitchFamily="18" charset="0"/>
              </a:rPr>
              <a:t> D. Dionysiou</a:t>
            </a:r>
            <a:r>
              <a:rPr lang="en-US" sz="6000" b="1" baseline="30000" dirty="0">
                <a:solidFill>
                  <a:schemeClr val="bg1"/>
                </a:solidFill>
                <a:latin typeface="Times New Roman" panose="02020603050405020304" pitchFamily="18" charset="0"/>
                <a:cs typeface="Times New Roman" panose="02020603050405020304" pitchFamily="18" charset="0"/>
              </a:rPr>
              <a:t>1</a:t>
            </a:r>
            <a:r>
              <a:rPr lang="en-US" sz="6000" b="1" dirty="0">
                <a:solidFill>
                  <a:schemeClr val="bg1"/>
                </a:solidFill>
                <a:latin typeface="Times New Roman" panose="02020603050405020304" pitchFamily="18" charset="0"/>
                <a:cs typeface="Times New Roman" panose="02020603050405020304" pitchFamily="18" charset="0"/>
              </a:rPr>
              <a:t>, Pramod Kulkarni</a:t>
            </a:r>
            <a:r>
              <a:rPr lang="en-US" sz="6000" b="1" baseline="30000" dirty="0">
                <a:solidFill>
                  <a:schemeClr val="bg1"/>
                </a:solidFill>
                <a:latin typeface="Times New Roman" panose="02020603050405020304" pitchFamily="18" charset="0"/>
                <a:cs typeface="Times New Roman" panose="02020603050405020304" pitchFamily="18" charset="0"/>
              </a:rPr>
              <a:t>2</a:t>
            </a:r>
            <a:r>
              <a:rPr lang="en-US" sz="6000" b="1" dirty="0">
                <a:solidFill>
                  <a:schemeClr val="bg1"/>
                </a:solidFill>
                <a:latin typeface="Times New Roman" panose="02020603050405020304" pitchFamily="18" charset="0"/>
                <a:cs typeface="Times New Roman" panose="02020603050405020304" pitchFamily="18" charset="0"/>
              </a:rPr>
              <a:t>, Gregory M. Zarus</a:t>
            </a:r>
            <a:r>
              <a:rPr lang="en-US" sz="6000" b="1" baseline="30000" dirty="0">
                <a:solidFill>
                  <a:schemeClr val="bg1"/>
                </a:solidFill>
                <a:latin typeface="Times New Roman" panose="02020603050405020304" pitchFamily="18" charset="0"/>
                <a:cs typeface="Times New Roman" panose="02020603050405020304" pitchFamily="18" charset="0"/>
              </a:rPr>
              <a:t>3</a:t>
            </a:r>
            <a:endParaRPr lang="en-US" sz="6000" b="1" dirty="0">
              <a:solidFill>
                <a:schemeClr val="bg1"/>
              </a:solidFill>
              <a:latin typeface="Times New Roman" panose="02020603050405020304" pitchFamily="18" charset="0"/>
              <a:cs typeface="Times New Roman" panose="02020603050405020304" pitchFamily="18" charset="0"/>
            </a:endParaRPr>
          </a:p>
          <a:p>
            <a:pPr algn="ctr"/>
            <a:r>
              <a:rPr lang="en-US" sz="4500" b="1" baseline="30000" dirty="0">
                <a:solidFill>
                  <a:schemeClr val="bg1"/>
                </a:solidFill>
                <a:latin typeface="Times New Roman" panose="02020603050405020304" pitchFamily="18" charset="0"/>
                <a:cs typeface="Times New Roman" panose="02020603050405020304" pitchFamily="18" charset="0"/>
              </a:rPr>
              <a:t>1 </a:t>
            </a:r>
            <a:r>
              <a:rPr lang="en-US" sz="4500" b="1" dirty="0">
                <a:solidFill>
                  <a:schemeClr val="bg1"/>
                </a:solidFill>
                <a:latin typeface="Times New Roman" panose="02020603050405020304" pitchFamily="18" charset="0"/>
                <a:cs typeface="Times New Roman" panose="02020603050405020304" pitchFamily="18" charset="0"/>
              </a:rPr>
              <a:t>Department of Biomedical, Chemical and Environmental Engineering, University of Cincinnati, Cincinnati, OH, USA</a:t>
            </a:r>
            <a:r>
              <a:rPr lang="en-US" sz="4500" b="1" baseline="30000" dirty="0">
                <a:solidFill>
                  <a:schemeClr val="bg1"/>
                </a:solidFill>
                <a:latin typeface="Times New Roman" panose="02020603050405020304" pitchFamily="18" charset="0"/>
                <a:cs typeface="Times New Roman" panose="02020603050405020304" pitchFamily="18" charset="0"/>
              </a:rPr>
              <a:t>2 </a:t>
            </a:r>
            <a:r>
              <a:rPr lang="en-US" sz="4500" b="1" dirty="0">
                <a:solidFill>
                  <a:schemeClr val="bg1"/>
                </a:solidFill>
                <a:latin typeface="Times New Roman" panose="02020603050405020304" pitchFamily="18" charset="0"/>
                <a:cs typeface="Times New Roman" panose="02020603050405020304" pitchFamily="18" charset="0"/>
              </a:rPr>
              <a:t>Centers for Disease Control and Prevention, National Institute for Occupational Safety and Health, Cincinnati, OH  USA </a:t>
            </a:r>
            <a:r>
              <a:rPr lang="en-US" sz="4500" b="1" baseline="30000" dirty="0">
                <a:solidFill>
                  <a:schemeClr val="bg1"/>
                </a:solidFill>
                <a:latin typeface="Times New Roman" panose="02020603050405020304" pitchFamily="18" charset="0"/>
                <a:cs typeface="Times New Roman" panose="02020603050405020304" pitchFamily="18" charset="0"/>
              </a:rPr>
              <a:t>3</a:t>
            </a:r>
            <a:r>
              <a:rPr lang="en-US" sz="4500" b="1" dirty="0">
                <a:solidFill>
                  <a:schemeClr val="bg1"/>
                </a:solidFill>
                <a:latin typeface="Times New Roman" panose="02020603050405020304" pitchFamily="18" charset="0"/>
                <a:cs typeface="Times New Roman" panose="02020603050405020304" pitchFamily="18" charset="0"/>
              </a:rPr>
              <a:t>Agency for Toxic Substances and Disease Registry, Atlanta, GA, USA</a:t>
            </a:r>
            <a:endParaRPr lang="en-US" sz="4500" dirty="0">
              <a:solidFill>
                <a:schemeClr val="bg1"/>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1547909" y="39918145"/>
            <a:ext cx="13799096" cy="1451746"/>
          </a:xfrm>
          <a:prstGeom prst="rect">
            <a:avLst/>
          </a:prstGeom>
          <a:solidFill>
            <a:schemeClr val="accent1">
              <a:lumMod val="40000"/>
              <a:lumOff val="60000"/>
            </a:schemeClr>
          </a:solidFill>
        </p:spPr>
        <p:txBody>
          <a:bodyPr wrap="none" lIns="66102" tIns="33053" rIns="66102" bIns="33053" rtlCol="0">
            <a:spAutoFit/>
          </a:bodyPr>
          <a:lstStyle/>
          <a:p>
            <a:r>
              <a:rPr lang="en-US" sz="2250" dirty="0">
                <a:latin typeface="Times New Roman" panose="02020603050405020304" pitchFamily="18" charset="0"/>
                <a:cs typeface="Times New Roman" panose="02020603050405020304" pitchFamily="18" charset="0"/>
              </a:rPr>
              <a:t>Orthodoxia Zervaki</a:t>
            </a:r>
          </a:p>
          <a:p>
            <a:r>
              <a:rPr lang="en-US" sz="2250" dirty="0">
                <a:latin typeface="Times New Roman" panose="02020603050405020304" pitchFamily="18" charset="0"/>
                <a:cs typeface="Times New Roman" panose="02020603050405020304" pitchFamily="18" charset="0"/>
              </a:rPr>
              <a:t>Department of Biomedical, Chemical and Environmental Engineering, University of Cincinnati, Cincinnati, OH, USA</a:t>
            </a:r>
          </a:p>
          <a:p>
            <a:r>
              <a:rPr lang="en-US" sz="2250" dirty="0">
                <a:latin typeface="Times New Roman" panose="02020603050405020304" pitchFamily="18" charset="0"/>
                <a:cs typeface="Times New Roman" panose="02020603050405020304" pitchFamily="18" charset="0"/>
              </a:rPr>
              <a:t>Email: s.zervaki@gmail.com</a:t>
            </a:r>
          </a:p>
          <a:p>
            <a:r>
              <a:rPr lang="en-US" sz="2250" dirty="0">
                <a:latin typeface="Times New Roman" panose="02020603050405020304" pitchFamily="18" charset="0"/>
                <a:cs typeface="Times New Roman" panose="02020603050405020304" pitchFamily="18" charset="0"/>
              </a:rPr>
              <a:t>Phone:513-399-2134</a:t>
            </a:r>
          </a:p>
        </p:txBody>
      </p:sp>
      <p:sp>
        <p:nvSpPr>
          <p:cNvPr id="25" name="TextBox 24"/>
          <p:cNvSpPr txBox="1"/>
          <p:nvPr/>
        </p:nvSpPr>
        <p:spPr>
          <a:xfrm>
            <a:off x="1570032" y="39231948"/>
            <a:ext cx="1600243" cy="586125"/>
          </a:xfrm>
          <a:prstGeom prst="rect">
            <a:avLst/>
          </a:prstGeom>
          <a:noFill/>
        </p:spPr>
        <p:txBody>
          <a:bodyPr wrap="none" lIns="66102" tIns="33053" rIns="66102" bIns="33053" rtlCol="0">
            <a:spAutoFit/>
          </a:bodyPr>
          <a:lstStyle/>
          <a:p>
            <a:r>
              <a:rPr lang="en-US" sz="3375" b="1" dirty="0">
                <a:latin typeface="Times New Roman" panose="02020603050405020304" pitchFamily="18" charset="0"/>
                <a:cs typeface="Times New Roman" panose="02020603050405020304" pitchFamily="18" charset="0"/>
              </a:rPr>
              <a:t>Contact</a:t>
            </a:r>
          </a:p>
        </p:txBody>
      </p:sp>
      <p:sp>
        <p:nvSpPr>
          <p:cNvPr id="26" name="TextBox 25"/>
          <p:cNvSpPr txBox="1"/>
          <p:nvPr/>
        </p:nvSpPr>
        <p:spPr>
          <a:xfrm>
            <a:off x="20692826" y="40271100"/>
            <a:ext cx="21945600" cy="1645920"/>
          </a:xfrm>
          <a:prstGeom prst="rect">
            <a:avLst/>
          </a:prstGeom>
          <a:noFill/>
        </p:spPr>
        <p:txBody>
          <a:bodyPr wrap="square" lIns="66102" tIns="66102" rIns="66102" bIns="66102" numCol="1" spcCol="293784" rtlCol="0">
            <a:noAutofit/>
          </a:bodyPr>
          <a:lstStyle/>
          <a:p>
            <a:pPr marL="330507" indent="-330507">
              <a:buFont typeface="+mj-lt"/>
              <a:buAutoNum type="arabicPeriod"/>
            </a:pPr>
            <a:r>
              <a:rPr lang="en-US" sz="2000" dirty="0">
                <a:latin typeface="Times New Roman" panose="02020603050405020304" pitchFamily="18" charset="0"/>
                <a:cs typeface="Times New Roman" panose="02020603050405020304" pitchFamily="18" charset="0"/>
              </a:rPr>
              <a:t>Davidson, C. I., </a:t>
            </a:r>
            <a:r>
              <a:rPr lang="en-US" sz="2000" dirty="0" err="1">
                <a:latin typeface="Times New Roman" panose="02020603050405020304" pitchFamily="18" charset="0"/>
                <a:cs typeface="Times New Roman" panose="02020603050405020304" pitchFamily="18" charset="0"/>
              </a:rPr>
              <a:t>Phalen</a:t>
            </a:r>
            <a:r>
              <a:rPr lang="en-US" sz="2000" dirty="0">
                <a:latin typeface="Times New Roman" panose="02020603050405020304" pitchFamily="18" charset="0"/>
                <a:cs typeface="Times New Roman" panose="02020603050405020304" pitchFamily="18" charset="0"/>
              </a:rPr>
              <a:t>, R. F., &amp; Solomon, P. A. (2005). Airborne Particulate Matter and Human Health: A Review. </a:t>
            </a:r>
            <a:r>
              <a:rPr lang="en-US" sz="2000" i="1" dirty="0">
                <a:latin typeface="Times New Roman" panose="02020603050405020304" pitchFamily="18" charset="0"/>
                <a:cs typeface="Times New Roman" panose="02020603050405020304" pitchFamily="18" charset="0"/>
              </a:rPr>
              <a:t>Aerosol Science and Technology</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39</a:t>
            </a:r>
            <a:r>
              <a:rPr lang="en-US" sz="2000" dirty="0">
                <a:latin typeface="Times New Roman" panose="02020603050405020304" pitchFamily="18" charset="0"/>
                <a:cs typeface="Times New Roman" panose="02020603050405020304" pitchFamily="18" charset="0"/>
              </a:rPr>
              <a:t>(8), 737–749. https://doi.org/10.1080/02786820500191348</a:t>
            </a:r>
          </a:p>
          <a:p>
            <a:pPr marL="330507" indent="-330507">
              <a:buFont typeface="+mj-lt"/>
              <a:buAutoNum type="arabicPeriod"/>
            </a:pPr>
            <a:r>
              <a:rPr lang="en-US" sz="2000" dirty="0">
                <a:latin typeface="Times New Roman" panose="02020603050405020304" pitchFamily="18" charset="0"/>
                <a:cs typeface="Times New Roman" panose="02020603050405020304" pitchFamily="18" charset="0"/>
              </a:rPr>
              <a:t>Dockery, D. W., &amp; Pope Iii, C. A. (1994). ACUTE RESPIRATORY EFFECTS OF PARTICULATE AIR POLLUTION. </a:t>
            </a:r>
            <a:r>
              <a:rPr lang="en-US" sz="2000" i="1" dirty="0" err="1">
                <a:latin typeface="Times New Roman" panose="02020603050405020304" pitchFamily="18" charset="0"/>
                <a:cs typeface="Times New Roman" panose="02020603050405020304" pitchFamily="18" charset="0"/>
              </a:rPr>
              <a:t>Annu</a:t>
            </a:r>
            <a:r>
              <a:rPr lang="en-US" sz="2000" i="1" dirty="0">
                <a:latin typeface="Times New Roman" panose="02020603050405020304" pitchFamily="18" charset="0"/>
                <a:cs typeface="Times New Roman" panose="02020603050405020304" pitchFamily="18" charset="0"/>
              </a:rPr>
              <a:t>. Rev. Public Health</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15</a:t>
            </a:r>
            <a:r>
              <a:rPr lang="en-US" sz="2000" dirty="0">
                <a:latin typeface="Times New Roman" panose="02020603050405020304" pitchFamily="18" charset="0"/>
                <a:cs typeface="Times New Roman" panose="02020603050405020304" pitchFamily="18" charset="0"/>
              </a:rPr>
              <a:t>, 107–32. Retrieved from http://www.annualreviews.org/doi/pdf/10.1146/annurev.pu.15.050194.000543</a:t>
            </a:r>
          </a:p>
          <a:p>
            <a:pPr marL="330507" indent="-330507">
              <a:buFont typeface="+mj-lt"/>
              <a:buAutoNum type="arabicPeriod"/>
            </a:pPr>
            <a:r>
              <a:rPr lang="en-US" sz="2000" dirty="0">
                <a:latin typeface="Times New Roman" panose="02020603050405020304" pitchFamily="18" charset="0"/>
                <a:cs typeface="Times New Roman" panose="02020603050405020304" pitchFamily="18" charset="0"/>
              </a:rPr>
              <a:t>Wilson, R., &amp; Spengler, J. D. (1996). </a:t>
            </a:r>
            <a:r>
              <a:rPr lang="en-US" sz="2000" i="1" dirty="0">
                <a:latin typeface="Times New Roman" panose="02020603050405020304" pitchFamily="18" charset="0"/>
                <a:cs typeface="Times New Roman" panose="02020603050405020304" pitchFamily="18" charset="0"/>
              </a:rPr>
              <a:t>Particles in our air : concentrations and health effects</a:t>
            </a:r>
            <a:r>
              <a:rPr lang="en-US" sz="2000" dirty="0">
                <a:latin typeface="Times New Roman" panose="02020603050405020304" pitchFamily="18" charset="0"/>
                <a:cs typeface="Times New Roman" panose="02020603050405020304" pitchFamily="18" charset="0"/>
              </a:rPr>
              <a:t>. [Cambridge  Mass.]: Harvard School of Public Health. Retrieved from http://www.worldcat.org/title/particles-in-our-air-concentrations-and-health-effects/oclc/36100524</a:t>
            </a:r>
          </a:p>
          <a:p>
            <a:pPr marL="330507" indent="-330507">
              <a:buFont typeface="+mj-lt"/>
              <a:buAutoNum type="arabicPeriod"/>
            </a:pPr>
            <a:r>
              <a:rPr lang="en-US" sz="2000" dirty="0" err="1">
                <a:latin typeface="Times New Roman" panose="02020603050405020304" pitchFamily="18" charset="0"/>
                <a:cs typeface="Times New Roman" panose="02020603050405020304" pitchFamily="18" charset="0"/>
              </a:rPr>
              <a:t>Samoli</a:t>
            </a:r>
            <a:r>
              <a:rPr lang="en-US" sz="2000" dirty="0">
                <a:latin typeface="Times New Roman" panose="02020603050405020304" pitchFamily="18" charset="0"/>
                <a:cs typeface="Times New Roman" panose="02020603050405020304" pitchFamily="18" charset="0"/>
              </a:rPr>
              <a:t>, E., Peng, R., Ramsay, T., </a:t>
            </a:r>
            <a:r>
              <a:rPr lang="en-US" sz="2000" dirty="0" err="1">
                <a:latin typeface="Times New Roman" panose="02020603050405020304" pitchFamily="18" charset="0"/>
                <a:cs typeface="Times New Roman" panose="02020603050405020304" pitchFamily="18" charset="0"/>
              </a:rPr>
              <a:t>Pipikou</a:t>
            </a:r>
            <a:r>
              <a:rPr lang="en-US" sz="2000" dirty="0">
                <a:latin typeface="Times New Roman" panose="02020603050405020304" pitchFamily="18" charset="0"/>
                <a:cs typeface="Times New Roman" panose="02020603050405020304" pitchFamily="18" charset="0"/>
              </a:rPr>
              <a:t>, M., </a:t>
            </a:r>
            <a:r>
              <a:rPr lang="en-US" sz="2000" dirty="0" err="1">
                <a:latin typeface="Times New Roman" panose="02020603050405020304" pitchFamily="18" charset="0"/>
                <a:cs typeface="Times New Roman" panose="02020603050405020304" pitchFamily="18" charset="0"/>
              </a:rPr>
              <a:t>Touloumi</a:t>
            </a:r>
            <a:r>
              <a:rPr lang="en-US" sz="2000" dirty="0">
                <a:latin typeface="Times New Roman" panose="02020603050405020304" pitchFamily="18" charset="0"/>
                <a:cs typeface="Times New Roman" panose="02020603050405020304" pitchFamily="18" charset="0"/>
              </a:rPr>
              <a:t>, G., </a:t>
            </a:r>
            <a:r>
              <a:rPr lang="en-US" sz="2000" dirty="0" err="1">
                <a:latin typeface="Times New Roman" panose="02020603050405020304" pitchFamily="18" charset="0"/>
                <a:cs typeface="Times New Roman" panose="02020603050405020304" pitchFamily="18" charset="0"/>
              </a:rPr>
              <a:t>Dominici</a:t>
            </a:r>
            <a:r>
              <a:rPr lang="en-US" sz="2000" dirty="0">
                <a:latin typeface="Times New Roman" panose="02020603050405020304" pitchFamily="18" charset="0"/>
                <a:cs typeface="Times New Roman" panose="02020603050405020304" pitchFamily="18" charset="0"/>
              </a:rPr>
              <a:t>, F., … </a:t>
            </a:r>
            <a:r>
              <a:rPr lang="en-US" sz="2000" dirty="0" err="1">
                <a:latin typeface="Times New Roman" panose="02020603050405020304" pitchFamily="18" charset="0"/>
                <a:cs typeface="Times New Roman" panose="02020603050405020304" pitchFamily="18" charset="0"/>
              </a:rPr>
              <a:t>Katsouyanni</a:t>
            </a:r>
            <a:r>
              <a:rPr lang="en-US" sz="2000" dirty="0">
                <a:latin typeface="Times New Roman" panose="02020603050405020304" pitchFamily="18" charset="0"/>
                <a:cs typeface="Times New Roman" panose="02020603050405020304" pitchFamily="18" charset="0"/>
              </a:rPr>
              <a:t>, K. (2008). Acute Effects of Ambient Particulate Matter on Mortality in Europe and North America: Results from the APHENA Study. </a:t>
            </a:r>
            <a:r>
              <a:rPr lang="en-US" sz="2000" i="1" dirty="0">
                <a:latin typeface="Times New Roman" panose="02020603050405020304" pitchFamily="18" charset="0"/>
                <a:cs typeface="Times New Roman" panose="02020603050405020304" pitchFamily="18" charset="0"/>
              </a:rPr>
              <a:t>Environmental Health Perspectives</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116</a:t>
            </a:r>
            <a:r>
              <a:rPr lang="en-US" sz="2000" dirty="0">
                <a:latin typeface="Times New Roman" panose="02020603050405020304" pitchFamily="18" charset="0"/>
                <a:cs typeface="Times New Roman" panose="02020603050405020304" pitchFamily="18" charset="0"/>
              </a:rPr>
              <a:t>(11), 1480–1486. https://doi.org/10.1289/ehp.11345</a:t>
            </a:r>
          </a:p>
          <a:p>
            <a:pPr marL="330507" indent="-330507">
              <a:buFont typeface="+mj-lt"/>
              <a:buAutoNum type="arabicPeriod"/>
            </a:pPr>
            <a:r>
              <a:rPr lang="en-US" sz="2000" dirty="0">
                <a:latin typeface="Times New Roman" panose="02020603050405020304" pitchFamily="18" charset="0"/>
                <a:cs typeface="Times New Roman" panose="02020603050405020304" pitchFamily="18" charset="0"/>
              </a:rPr>
              <a:t>Who (2013). Health effects of particulate matter. Policy implications for countries in eastern Europe, Caucasus and central Asia. </a:t>
            </a:r>
          </a:p>
          <a:p>
            <a:pPr marL="330507" indent="-330507">
              <a:buFont typeface="+mj-lt"/>
              <a:buAutoNum type="arabicPeriod"/>
            </a:pPr>
            <a:r>
              <a:rPr lang="en-US" sz="2000" dirty="0">
                <a:latin typeface="Times New Roman" panose="02020603050405020304" pitchFamily="18" charset="0"/>
                <a:cs typeface="Times New Roman" panose="02020603050405020304" pitchFamily="18" charset="0"/>
              </a:rPr>
              <a:t>Pope, C. A., Burnett, R. T., Thurston, G. D., Thun, M. J., Calle, E. E., </a:t>
            </a:r>
            <a:r>
              <a:rPr lang="en-US" sz="2000" dirty="0" err="1">
                <a:latin typeface="Times New Roman" panose="02020603050405020304" pitchFamily="18" charset="0"/>
                <a:cs typeface="Times New Roman" panose="02020603050405020304" pitchFamily="18" charset="0"/>
              </a:rPr>
              <a:t>Krewski</a:t>
            </a:r>
            <a:r>
              <a:rPr lang="en-US" sz="2000" dirty="0">
                <a:latin typeface="Times New Roman" panose="02020603050405020304" pitchFamily="18" charset="0"/>
                <a:cs typeface="Times New Roman" panose="02020603050405020304" pitchFamily="18" charset="0"/>
              </a:rPr>
              <a:t>, D., &amp; </a:t>
            </a:r>
            <a:r>
              <a:rPr lang="en-US" sz="2000" dirty="0" err="1">
                <a:latin typeface="Times New Roman" panose="02020603050405020304" pitchFamily="18" charset="0"/>
                <a:cs typeface="Times New Roman" panose="02020603050405020304" pitchFamily="18" charset="0"/>
              </a:rPr>
              <a:t>Godleski</a:t>
            </a:r>
            <a:r>
              <a:rPr lang="en-US" sz="2000" dirty="0">
                <a:latin typeface="Times New Roman" panose="02020603050405020304" pitchFamily="18" charset="0"/>
                <a:cs typeface="Times New Roman" panose="02020603050405020304" pitchFamily="18" charset="0"/>
              </a:rPr>
              <a:t>, J. J. (2004). Cardiovascular Mortality and Long-Term Exposure to Particulate Air Pollution. </a:t>
            </a:r>
            <a:r>
              <a:rPr lang="en-US" sz="2000" i="1" dirty="0">
                <a:latin typeface="Times New Roman" panose="02020603050405020304" pitchFamily="18" charset="0"/>
                <a:cs typeface="Times New Roman" panose="02020603050405020304" pitchFamily="18" charset="0"/>
              </a:rPr>
              <a:t>Circulation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109</a:t>
            </a:r>
            <a:r>
              <a:rPr lang="en-US" sz="2000" dirty="0">
                <a:latin typeface="Times New Roman" panose="02020603050405020304" pitchFamily="18" charset="0"/>
                <a:cs typeface="Times New Roman" panose="02020603050405020304" pitchFamily="18" charset="0"/>
              </a:rPr>
              <a:t>(1). Retrieved from http://circ.ahajournals.org/content/109/1/71  </a:t>
            </a:r>
          </a:p>
          <a:p>
            <a:pPr marL="330507" indent="-330507">
              <a:buFont typeface="+mj-lt"/>
              <a:buAutoNum type="arabicPeriod"/>
            </a:pPr>
            <a:endParaRPr lang="en-US" sz="1013" dirty="0"/>
          </a:p>
        </p:txBody>
      </p:sp>
      <p:sp>
        <p:nvSpPr>
          <p:cNvPr id="27" name="TextBox 26"/>
          <p:cNvSpPr txBox="1"/>
          <p:nvPr/>
        </p:nvSpPr>
        <p:spPr>
          <a:xfrm>
            <a:off x="20692826" y="39231948"/>
            <a:ext cx="2145456" cy="586125"/>
          </a:xfrm>
          <a:prstGeom prst="rect">
            <a:avLst/>
          </a:prstGeom>
          <a:noFill/>
        </p:spPr>
        <p:txBody>
          <a:bodyPr wrap="none" lIns="66102" tIns="33053" rIns="66102" bIns="33053" rtlCol="0">
            <a:spAutoFit/>
          </a:bodyPr>
          <a:lstStyle/>
          <a:p>
            <a:r>
              <a:rPr lang="en-US" sz="3375" b="1" dirty="0">
                <a:latin typeface="Times New Roman" panose="02020603050405020304" pitchFamily="18" charset="0"/>
                <a:cs typeface="Times New Roman" panose="02020603050405020304" pitchFamily="18" charset="0"/>
              </a:rPr>
              <a:t>References</a:t>
            </a:r>
          </a:p>
        </p:txBody>
      </p:sp>
      <p:sp>
        <p:nvSpPr>
          <p:cNvPr id="15" name="Text Box 194"/>
          <p:cNvSpPr txBox="1">
            <a:spLocks noChangeArrowheads="1"/>
          </p:cNvSpPr>
          <p:nvPr/>
        </p:nvSpPr>
        <p:spPr bwMode="auto">
          <a:xfrm>
            <a:off x="13917887" y="6255374"/>
            <a:ext cx="14798180" cy="1004121"/>
          </a:xfrm>
          <a:prstGeom prst="rect">
            <a:avLst/>
          </a:prstGeom>
          <a:solidFill>
            <a:schemeClr val="bg1"/>
          </a:solidFill>
          <a:ln w="12700">
            <a:solidFill>
              <a:schemeClr val="accent1">
                <a:lumMod val="75000"/>
              </a:schemeClr>
            </a:solidFill>
          </a:ln>
          <a:effectLst/>
        </p:spPr>
        <p:txBody>
          <a:bodyPr wrap="square"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21469" indent="-321469">
              <a:buFont typeface="Arial" panose="020B0604020202020204" pitchFamily="34" charset="0"/>
              <a:buChar char="•"/>
            </a:pPr>
            <a:r>
              <a:rPr lang="en-US" sz="4500" b="1" dirty="0">
                <a:latin typeface="Times New Roman" panose="02020603050405020304" pitchFamily="18" charset="0"/>
                <a:cs typeface="Times New Roman" panose="02020603050405020304" pitchFamily="18" charset="0"/>
              </a:rPr>
              <a:t> PPD60PV-T2 (Shinyei)</a:t>
            </a:r>
          </a:p>
        </p:txBody>
      </p:sp>
      <p:sp>
        <p:nvSpPr>
          <p:cNvPr id="33" name="Rectangle 32"/>
          <p:cNvSpPr/>
          <p:nvPr/>
        </p:nvSpPr>
        <p:spPr>
          <a:xfrm>
            <a:off x="1480835" y="5662346"/>
            <a:ext cx="11315700" cy="5143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r>
              <a:rPr lang="en-US" sz="4500" dirty="0">
                <a:solidFill>
                  <a:schemeClr val="accent3">
                    <a:lumMod val="20000"/>
                    <a:lumOff val="80000"/>
                  </a:schemeClr>
                </a:solidFill>
                <a:latin typeface="Times New Roman" panose="02020603050405020304" pitchFamily="18" charset="0"/>
                <a:cs typeface="Times New Roman" panose="02020603050405020304" pitchFamily="18" charset="0"/>
              </a:rPr>
              <a:t>MOTIVATION</a:t>
            </a:r>
          </a:p>
        </p:txBody>
      </p:sp>
      <p:sp>
        <p:nvSpPr>
          <p:cNvPr id="13" name="Text Box 192"/>
          <p:cNvSpPr txBox="1">
            <a:spLocks noChangeArrowheads="1"/>
          </p:cNvSpPr>
          <p:nvPr/>
        </p:nvSpPr>
        <p:spPr bwMode="auto">
          <a:xfrm>
            <a:off x="1547909" y="31848532"/>
            <a:ext cx="11315700" cy="5505353"/>
          </a:xfrm>
          <a:prstGeom prst="rect">
            <a:avLst/>
          </a:prstGeom>
          <a:solidFill>
            <a:schemeClr val="bg1"/>
          </a:solidFill>
          <a:ln w="12700">
            <a:solidFill>
              <a:schemeClr val="accent1">
                <a:lumMod val="75000"/>
              </a:schemeClr>
            </a:solidFill>
          </a:ln>
          <a:effectLst/>
        </p:spPr>
        <p:txBody>
          <a:bodyPr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a:r>
              <a:rPr lang="en-US" sz="3375" dirty="0">
                <a:latin typeface="Times New Roman" panose="02020603050405020304" pitchFamily="18" charset="0"/>
                <a:cs typeface="Times New Roman" panose="02020603050405020304" pitchFamily="18" charset="0"/>
              </a:rPr>
              <a:t>Three PPD42NS (Shinyei), twelve PPD60PV-T2 (Shinyei), nine SDS011 (Nova Fitness Co.) and twelve GP2Y1010AU0F (Sharp) sensors were evaluated or calibrated. The sensors measuring mass concentration were calibrated using DUSTTRAK™ Aerosol Monitor Model 8520, and sensors measuring number concentration were calibrated by the Hand Held Particle Counter (HHPC-6). For this study, an aerosol test chamber was used for the calibration of dust sensors in three different aerosol sources (ammonium sulfate, sodium chloride and cellulose). </a:t>
            </a:r>
          </a:p>
        </p:txBody>
      </p:sp>
      <p:sp>
        <p:nvSpPr>
          <p:cNvPr id="34" name="Rectangle 33"/>
          <p:cNvSpPr/>
          <p:nvPr/>
        </p:nvSpPr>
        <p:spPr>
          <a:xfrm>
            <a:off x="1547909" y="31313784"/>
            <a:ext cx="11315700" cy="5143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r>
              <a:rPr lang="en-US" sz="4500" dirty="0">
                <a:solidFill>
                  <a:schemeClr val="accent3">
                    <a:lumMod val="20000"/>
                    <a:lumOff val="80000"/>
                  </a:schemeClr>
                </a:solidFill>
                <a:latin typeface="Times New Roman" panose="02020603050405020304" pitchFamily="18" charset="0"/>
                <a:cs typeface="Times New Roman" panose="02020603050405020304" pitchFamily="18" charset="0"/>
              </a:rPr>
              <a:t>METHODS AND MATERIALS</a:t>
            </a:r>
          </a:p>
        </p:txBody>
      </p:sp>
      <p:sp>
        <p:nvSpPr>
          <p:cNvPr id="14" name="Text Box 193"/>
          <p:cNvSpPr txBox="1">
            <a:spLocks noChangeArrowheads="1"/>
          </p:cNvSpPr>
          <p:nvPr/>
        </p:nvSpPr>
        <p:spPr bwMode="auto">
          <a:xfrm>
            <a:off x="30211074" y="27290754"/>
            <a:ext cx="11315700" cy="6024726"/>
          </a:xfrm>
          <a:prstGeom prst="rect">
            <a:avLst/>
          </a:prstGeom>
          <a:solidFill>
            <a:schemeClr val="bg1"/>
          </a:solidFill>
          <a:ln w="12700">
            <a:solidFill>
              <a:schemeClr val="accent1">
                <a:lumMod val="75000"/>
              </a:schemeClr>
            </a:solidFill>
          </a:ln>
          <a:effectLst/>
        </p:spPr>
        <p:txBody>
          <a:bodyPr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514350" indent="-514350"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The findings in the present study demonstrated that sensors had high linearity and repeatability for each aerosol source.</a:t>
            </a:r>
          </a:p>
          <a:p>
            <a:pPr marL="514350" indent="-514350"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Sensors of the same manufacturer/model had varying responses indicated the need of their prior calibration independently. </a:t>
            </a:r>
          </a:p>
          <a:p>
            <a:pPr marL="514350" indent="-514350"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The different aerosol composition had a significant impact on the sensors’ response. </a:t>
            </a:r>
          </a:p>
          <a:p>
            <a:pPr marL="514350" indent="-514350" algn="just">
              <a:buFont typeface="Wingdings" panose="05000000000000000000" pitchFamily="2" charset="2"/>
              <a:buChar char="Ø"/>
            </a:pPr>
            <a:r>
              <a:rPr lang="en-US" sz="3375" dirty="0">
                <a:latin typeface="Times New Roman" panose="02020603050405020304" pitchFamily="18" charset="0"/>
                <a:cs typeface="Times New Roman" panose="02020603050405020304" pitchFamily="18" charset="0"/>
              </a:rPr>
              <a:t>Collectively, our results indicated that low-cost sensors can be promising for the measurement of temporal and spatial aggregate concentrations and replace expensive and large instruments.  </a:t>
            </a:r>
          </a:p>
        </p:txBody>
      </p:sp>
      <p:sp>
        <p:nvSpPr>
          <p:cNvPr id="36" name="Rectangle 35"/>
          <p:cNvSpPr/>
          <p:nvPr/>
        </p:nvSpPr>
        <p:spPr>
          <a:xfrm>
            <a:off x="30197665" y="26768570"/>
            <a:ext cx="11315700" cy="5143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r>
              <a:rPr lang="en-US" sz="4500" dirty="0">
                <a:solidFill>
                  <a:schemeClr val="accent3">
                    <a:lumMod val="20000"/>
                    <a:lumOff val="80000"/>
                  </a:schemeClr>
                </a:solidFill>
                <a:latin typeface="Times New Roman" panose="02020603050405020304" pitchFamily="18" charset="0"/>
                <a:cs typeface="Times New Roman" panose="02020603050405020304" pitchFamily="18" charset="0"/>
              </a:rPr>
              <a:t>CONCLUSIONS</a:t>
            </a:r>
          </a:p>
        </p:txBody>
      </p:sp>
      <p:sp>
        <p:nvSpPr>
          <p:cNvPr id="11" name="Text Box 190"/>
          <p:cNvSpPr txBox="1">
            <a:spLocks noChangeArrowheads="1"/>
          </p:cNvSpPr>
          <p:nvPr/>
        </p:nvSpPr>
        <p:spPr bwMode="auto">
          <a:xfrm>
            <a:off x="1480835" y="6193114"/>
            <a:ext cx="11315700" cy="11737829"/>
          </a:xfrm>
          <a:prstGeom prst="rect">
            <a:avLst/>
          </a:prstGeom>
          <a:solidFill>
            <a:schemeClr val="bg1"/>
          </a:solidFill>
          <a:ln w="12700">
            <a:solidFill>
              <a:schemeClr val="accent1">
                <a:lumMod val="75000"/>
              </a:schemeClr>
            </a:solidFill>
          </a:ln>
          <a:effectLst/>
        </p:spPr>
        <p:txBody>
          <a:bodyPr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514350" indent="-514350"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High concentrations of aerosols affect human health, especially the respiratory and cardiovascular system [1,2]. </a:t>
            </a:r>
          </a:p>
          <a:p>
            <a:pPr marL="514350" indent="-514350" algn="just">
              <a:buFont typeface="Arial" panose="020B0604020202020204" pitchFamily="34" charset="0"/>
              <a:buChar char="•"/>
            </a:pPr>
            <a:endParaRPr lang="en-US" sz="3375"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The particle diameter is highly related to their impact [3]. All-cause daily mortality is associated with coarse particles (2.5-10 µm) [4]. Fine particles (≤2.5 µm; PM2.5) are the most hazardous group of particles generating atherosclerosis and pulmonary and systemic inflammation [5, 6].</a:t>
            </a:r>
          </a:p>
          <a:p>
            <a:pPr marL="514350" indent="-514350" algn="just">
              <a:buFont typeface="Arial" panose="020B0604020202020204" pitchFamily="34" charset="0"/>
              <a:buChar char="•"/>
            </a:pPr>
            <a:endParaRPr lang="en-US" sz="3375"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Most monitoring sites use large and expensive instruments that demand intensive labor to achieve high-resolution and continuous, in real-time PM measurements.</a:t>
            </a:r>
          </a:p>
          <a:p>
            <a:pPr marL="514350" indent="-514350" algn="just">
              <a:buFont typeface="Arial" panose="020B0604020202020204" pitchFamily="34" charset="0"/>
              <a:buChar char="•"/>
            </a:pPr>
            <a:endParaRPr lang="en-US" sz="3375"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Portable, miniature low-cost dust sensors detecting PM2.5 concentrations, have been recently developed and introduced for temporal and spatial airborne particle concentration monitoring.</a:t>
            </a:r>
          </a:p>
          <a:p>
            <a:pPr marL="514350" indent="-514350" algn="just">
              <a:buFont typeface="Arial" panose="020B0604020202020204" pitchFamily="34" charset="0"/>
              <a:buChar char="•"/>
            </a:pPr>
            <a:endParaRPr lang="en-US" sz="3375"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With greater density of samplers providing multiple samples hourly, we will better be able to categorize PM exposures of sub populations and hopefully better understand the health impact of PM.</a:t>
            </a:r>
          </a:p>
        </p:txBody>
      </p:sp>
      <p:pic>
        <p:nvPicPr>
          <p:cNvPr id="2" name="Picture 1"/>
          <p:cNvPicPr>
            <a:picLocks noChangeAspect="1"/>
          </p:cNvPicPr>
          <p:nvPr/>
        </p:nvPicPr>
        <p:blipFill>
          <a:blip r:embed="rId3"/>
          <a:stretch>
            <a:fillRect/>
          </a:stretch>
        </p:blipFill>
        <p:spPr>
          <a:xfrm>
            <a:off x="857678" y="1095787"/>
            <a:ext cx="2017536" cy="1673246"/>
          </a:xfrm>
          <a:prstGeom prst="rect">
            <a:avLst/>
          </a:prstGeom>
        </p:spPr>
      </p:pic>
      <p:sp>
        <p:nvSpPr>
          <p:cNvPr id="29" name="Rectangle 28"/>
          <p:cNvSpPr/>
          <p:nvPr/>
        </p:nvSpPr>
        <p:spPr>
          <a:xfrm>
            <a:off x="1494389" y="18570993"/>
            <a:ext cx="11315700" cy="5143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r>
              <a:rPr lang="en-US" sz="4500" dirty="0">
                <a:solidFill>
                  <a:schemeClr val="accent3">
                    <a:lumMod val="20000"/>
                    <a:lumOff val="80000"/>
                  </a:schemeClr>
                </a:solidFill>
                <a:latin typeface="Times New Roman" panose="02020603050405020304" pitchFamily="18" charset="0"/>
                <a:cs typeface="Times New Roman" panose="02020603050405020304" pitchFamily="18" charset="0"/>
              </a:rPr>
              <a:t>OBJECTIVES</a:t>
            </a:r>
          </a:p>
        </p:txBody>
      </p:sp>
      <p:sp>
        <p:nvSpPr>
          <p:cNvPr id="32" name="Text Box 192"/>
          <p:cNvSpPr txBox="1">
            <a:spLocks noChangeArrowheads="1"/>
          </p:cNvSpPr>
          <p:nvPr/>
        </p:nvSpPr>
        <p:spPr bwMode="auto">
          <a:xfrm>
            <a:off x="1501763" y="19072111"/>
            <a:ext cx="11315700" cy="2908489"/>
          </a:xfrm>
          <a:prstGeom prst="rect">
            <a:avLst/>
          </a:prstGeom>
          <a:solidFill>
            <a:schemeClr val="bg1"/>
          </a:solidFill>
          <a:ln w="12700">
            <a:solidFill>
              <a:schemeClr val="accent1">
                <a:lumMod val="75000"/>
              </a:schemeClr>
            </a:solidFill>
          </a:ln>
          <a:effectLst/>
        </p:spPr>
        <p:txBody>
          <a:bodyPr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a:r>
              <a:rPr lang="en-US" sz="3375" dirty="0">
                <a:latin typeface="Times New Roman" panose="02020603050405020304" pitchFamily="18" charset="0"/>
                <a:cs typeface="Times New Roman" panose="02020603050405020304" pitchFamily="18" charset="0"/>
              </a:rPr>
              <a:t>The objective of this project is to study the response of a variety of low-cost dust sensors from various manufacturers, which use scattered light. The effect of humidity, physical and chemical properties of the particles to the efficiency of the sensors are taking into account. </a:t>
            </a:r>
            <a:endParaRPr lang="en-US" sz="3375" dirty="0">
              <a:solidFill>
                <a:srgbClr val="FF0000"/>
              </a:solidFill>
              <a:latin typeface="Times New Roman" panose="02020603050405020304" pitchFamily="18" charset="0"/>
              <a:cs typeface="Times New Roman" panose="02020603050405020304" pitchFamily="18" charset="0"/>
            </a:endParaRPr>
          </a:p>
        </p:txBody>
      </p:sp>
      <p:graphicFrame>
        <p:nvGraphicFramePr>
          <p:cNvPr id="46" name="Object 45"/>
          <p:cNvGraphicFramePr>
            <a:graphicFrameLocks noChangeAspect="1"/>
          </p:cNvGraphicFramePr>
          <p:nvPr>
            <p:extLst>
              <p:ext uri="{D42A27DB-BD31-4B8C-83A1-F6EECF244321}">
                <p14:modId xmlns:p14="http://schemas.microsoft.com/office/powerpoint/2010/main" val="1837409806"/>
              </p:ext>
            </p:extLst>
          </p:nvPr>
        </p:nvGraphicFramePr>
        <p:xfrm>
          <a:off x="12624161" y="6790153"/>
          <a:ext cx="9703853" cy="7498080"/>
        </p:xfrm>
        <a:graphic>
          <a:graphicData uri="http://schemas.openxmlformats.org/presentationml/2006/ole">
            <mc:AlternateContent xmlns:mc="http://schemas.openxmlformats.org/markup-compatibility/2006">
              <mc:Choice xmlns:v="urn:schemas-microsoft-com:vml" Requires="v">
                <p:oleObj spid="_x0000_s1547" name="Graph" r:id="rId4" imgW="4023360" imgH="3108960" progId="Origin50.Graph">
                  <p:embed/>
                </p:oleObj>
              </mc:Choice>
              <mc:Fallback>
                <p:oleObj name="Graph" r:id="rId4" imgW="4023360" imgH="3108960" progId="Origin50.Graph">
                  <p:embed/>
                  <p:pic>
                    <p:nvPicPr>
                      <p:cNvPr id="4" name="Object 3"/>
                      <p:cNvPicPr/>
                      <p:nvPr/>
                    </p:nvPicPr>
                    <p:blipFill>
                      <a:blip r:embed="rId5"/>
                      <a:stretch>
                        <a:fillRect/>
                      </a:stretch>
                    </p:blipFill>
                    <p:spPr>
                      <a:xfrm>
                        <a:off x="12624161" y="6790153"/>
                        <a:ext cx="9703853" cy="7498080"/>
                      </a:xfrm>
                      <a:prstGeom prst="rect">
                        <a:avLst/>
                      </a:prstGeom>
                    </p:spPr>
                  </p:pic>
                </p:oleObj>
              </mc:Fallback>
            </mc:AlternateContent>
          </a:graphicData>
        </a:graphic>
      </p:graphicFrame>
      <p:graphicFrame>
        <p:nvGraphicFramePr>
          <p:cNvPr id="54" name="Object 53"/>
          <p:cNvGraphicFramePr>
            <a:graphicFrameLocks noChangeAspect="1"/>
          </p:cNvGraphicFramePr>
          <p:nvPr>
            <p:extLst>
              <p:ext uri="{D42A27DB-BD31-4B8C-83A1-F6EECF244321}">
                <p14:modId xmlns:p14="http://schemas.microsoft.com/office/powerpoint/2010/main" val="1255023204"/>
              </p:ext>
            </p:extLst>
          </p:nvPr>
        </p:nvGraphicFramePr>
        <p:xfrm>
          <a:off x="20310063" y="6782676"/>
          <a:ext cx="9703858" cy="7498080"/>
        </p:xfrm>
        <a:graphic>
          <a:graphicData uri="http://schemas.openxmlformats.org/presentationml/2006/ole">
            <mc:AlternateContent xmlns:mc="http://schemas.openxmlformats.org/markup-compatibility/2006">
              <mc:Choice xmlns:v="urn:schemas-microsoft-com:vml" Requires="v">
                <p:oleObj spid="_x0000_s1548" name="Graph" r:id="rId6" imgW="4023360" imgH="3108960" progId="Origin50.Graph">
                  <p:embed/>
                </p:oleObj>
              </mc:Choice>
              <mc:Fallback>
                <p:oleObj name="Graph" r:id="rId6" imgW="4023360" imgH="3108960" progId="Origin50.Graph">
                  <p:embed/>
                  <p:pic>
                    <p:nvPicPr>
                      <p:cNvPr id="9" name="Object 8"/>
                      <p:cNvPicPr/>
                      <p:nvPr/>
                    </p:nvPicPr>
                    <p:blipFill>
                      <a:blip r:embed="rId7"/>
                      <a:stretch>
                        <a:fillRect/>
                      </a:stretch>
                    </p:blipFill>
                    <p:spPr>
                      <a:xfrm>
                        <a:off x="20310063" y="6782676"/>
                        <a:ext cx="9703858" cy="7498080"/>
                      </a:xfrm>
                      <a:prstGeom prst="rect">
                        <a:avLst/>
                      </a:prstGeom>
                    </p:spPr>
                  </p:pic>
                </p:oleObj>
              </mc:Fallback>
            </mc:AlternateContent>
          </a:graphicData>
        </a:graphic>
      </p:graphicFrame>
      <p:sp>
        <p:nvSpPr>
          <p:cNvPr id="7" name="TextBox 6"/>
          <p:cNvSpPr txBox="1"/>
          <p:nvPr/>
        </p:nvSpPr>
        <p:spPr>
          <a:xfrm>
            <a:off x="17630211" y="23134297"/>
            <a:ext cx="600075" cy="438582"/>
          </a:xfrm>
          <a:prstGeom prst="rect">
            <a:avLst/>
          </a:prstGeom>
          <a:noFill/>
        </p:spPr>
        <p:txBody>
          <a:bodyPr wrap="square" rtlCol="0">
            <a:spAutoFit/>
          </a:bodyPr>
          <a:lstStyle/>
          <a:p>
            <a:r>
              <a:rPr lang="en-US" sz="2250" b="1" dirty="0"/>
              <a:t>5a</a:t>
            </a:r>
          </a:p>
        </p:txBody>
      </p:sp>
      <p:sp>
        <p:nvSpPr>
          <p:cNvPr id="70" name="TextBox 69"/>
          <p:cNvSpPr txBox="1"/>
          <p:nvPr/>
        </p:nvSpPr>
        <p:spPr>
          <a:xfrm>
            <a:off x="25142946" y="23113743"/>
            <a:ext cx="577433" cy="438582"/>
          </a:xfrm>
          <a:prstGeom prst="rect">
            <a:avLst/>
          </a:prstGeom>
          <a:noFill/>
        </p:spPr>
        <p:txBody>
          <a:bodyPr wrap="square" rtlCol="0">
            <a:spAutoFit/>
          </a:bodyPr>
          <a:lstStyle/>
          <a:p>
            <a:r>
              <a:rPr lang="en-US" sz="2250" b="1" dirty="0"/>
              <a:t>5b</a:t>
            </a:r>
          </a:p>
        </p:txBody>
      </p:sp>
      <p:sp>
        <p:nvSpPr>
          <p:cNvPr id="74" name="Text Box 194"/>
          <p:cNvSpPr txBox="1">
            <a:spLocks noChangeArrowheads="1"/>
          </p:cNvSpPr>
          <p:nvPr/>
        </p:nvSpPr>
        <p:spPr bwMode="auto">
          <a:xfrm>
            <a:off x="30197666" y="6235266"/>
            <a:ext cx="11315700" cy="1004121"/>
          </a:xfrm>
          <a:prstGeom prst="rect">
            <a:avLst/>
          </a:prstGeom>
          <a:solidFill>
            <a:schemeClr val="bg1"/>
          </a:solidFill>
          <a:ln w="12700">
            <a:solidFill>
              <a:schemeClr val="accent1">
                <a:lumMod val="75000"/>
              </a:schemeClr>
            </a:solidFill>
          </a:ln>
          <a:effectLst/>
        </p:spPr>
        <p:txBody>
          <a:bodyPr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21469" indent="-321469">
              <a:buFont typeface="Arial" panose="020B0604020202020204" pitchFamily="34" charset="0"/>
              <a:buChar char="•"/>
            </a:pPr>
            <a:r>
              <a:rPr lang="en-US" sz="4500" b="1" dirty="0">
                <a:latin typeface="Times New Roman" panose="02020603050405020304" pitchFamily="18" charset="0"/>
                <a:cs typeface="Times New Roman" panose="02020603050405020304" pitchFamily="18" charset="0"/>
              </a:rPr>
              <a:t> SDS011 (Nova Fitness Co.)</a:t>
            </a:r>
          </a:p>
        </p:txBody>
      </p:sp>
      <p:sp>
        <p:nvSpPr>
          <p:cNvPr id="78" name="TextBox 77"/>
          <p:cNvSpPr txBox="1"/>
          <p:nvPr/>
        </p:nvSpPr>
        <p:spPr>
          <a:xfrm>
            <a:off x="17291815" y="13830636"/>
            <a:ext cx="600075" cy="438582"/>
          </a:xfrm>
          <a:prstGeom prst="rect">
            <a:avLst/>
          </a:prstGeom>
          <a:noFill/>
        </p:spPr>
        <p:txBody>
          <a:bodyPr wrap="square" rtlCol="0">
            <a:spAutoFit/>
          </a:bodyPr>
          <a:lstStyle/>
          <a:p>
            <a:r>
              <a:rPr lang="en-US" sz="2250" b="1" dirty="0"/>
              <a:t>4a</a:t>
            </a:r>
          </a:p>
        </p:txBody>
      </p:sp>
      <p:sp>
        <p:nvSpPr>
          <p:cNvPr id="79" name="TextBox 78"/>
          <p:cNvSpPr txBox="1"/>
          <p:nvPr/>
        </p:nvSpPr>
        <p:spPr>
          <a:xfrm>
            <a:off x="25145284" y="13820024"/>
            <a:ext cx="600075" cy="438582"/>
          </a:xfrm>
          <a:prstGeom prst="rect">
            <a:avLst/>
          </a:prstGeom>
          <a:noFill/>
        </p:spPr>
        <p:txBody>
          <a:bodyPr wrap="square" rtlCol="0">
            <a:spAutoFit/>
          </a:bodyPr>
          <a:lstStyle/>
          <a:p>
            <a:r>
              <a:rPr lang="en-US" sz="2250" b="1" dirty="0"/>
              <a:t>4b</a:t>
            </a:r>
          </a:p>
        </p:txBody>
      </p:sp>
      <p:graphicFrame>
        <p:nvGraphicFramePr>
          <p:cNvPr id="80" name="Object 79"/>
          <p:cNvGraphicFramePr>
            <a:graphicFrameLocks noChangeAspect="1"/>
          </p:cNvGraphicFramePr>
          <p:nvPr>
            <p:extLst>
              <p:ext uri="{D42A27DB-BD31-4B8C-83A1-F6EECF244321}">
                <p14:modId xmlns:p14="http://schemas.microsoft.com/office/powerpoint/2010/main" val="2469916524"/>
              </p:ext>
            </p:extLst>
          </p:nvPr>
        </p:nvGraphicFramePr>
        <p:xfrm>
          <a:off x="29340103" y="6770280"/>
          <a:ext cx="6909975" cy="5486400"/>
        </p:xfrm>
        <a:graphic>
          <a:graphicData uri="http://schemas.openxmlformats.org/presentationml/2006/ole">
            <mc:AlternateContent xmlns:mc="http://schemas.openxmlformats.org/markup-compatibility/2006">
              <mc:Choice xmlns:v="urn:schemas-microsoft-com:vml" Requires="v">
                <p:oleObj spid="_x0000_s1549" name="Graph" r:id="rId8" imgW="4023360" imgH="3108960" progId="Origin50.Graph">
                  <p:embed/>
                </p:oleObj>
              </mc:Choice>
              <mc:Fallback>
                <p:oleObj name="Graph" r:id="rId8" imgW="4023360" imgH="3108960" progId="Origin50.Graph">
                  <p:embed/>
                  <p:pic>
                    <p:nvPicPr>
                      <p:cNvPr id="8" name="Object 7"/>
                      <p:cNvPicPr/>
                      <p:nvPr/>
                    </p:nvPicPr>
                    <p:blipFill>
                      <a:blip r:embed="rId9"/>
                      <a:stretch>
                        <a:fillRect/>
                      </a:stretch>
                    </p:blipFill>
                    <p:spPr>
                      <a:xfrm>
                        <a:off x="29340103" y="6770280"/>
                        <a:ext cx="6909975" cy="5486400"/>
                      </a:xfrm>
                      <a:prstGeom prst="rect">
                        <a:avLst/>
                      </a:prstGeom>
                    </p:spPr>
                  </p:pic>
                </p:oleObj>
              </mc:Fallback>
            </mc:AlternateContent>
          </a:graphicData>
        </a:graphic>
      </p:graphicFrame>
      <p:graphicFrame>
        <p:nvGraphicFramePr>
          <p:cNvPr id="81" name="Object 80"/>
          <p:cNvGraphicFramePr>
            <a:graphicFrameLocks noChangeAspect="1"/>
          </p:cNvGraphicFramePr>
          <p:nvPr>
            <p:extLst>
              <p:ext uri="{D42A27DB-BD31-4B8C-83A1-F6EECF244321}">
                <p14:modId xmlns:p14="http://schemas.microsoft.com/office/powerpoint/2010/main" val="267232307"/>
              </p:ext>
            </p:extLst>
          </p:nvPr>
        </p:nvGraphicFramePr>
        <p:xfrm>
          <a:off x="34954004" y="6792519"/>
          <a:ext cx="7100387" cy="5486400"/>
        </p:xfrm>
        <a:graphic>
          <a:graphicData uri="http://schemas.openxmlformats.org/presentationml/2006/ole">
            <mc:AlternateContent xmlns:mc="http://schemas.openxmlformats.org/markup-compatibility/2006">
              <mc:Choice xmlns:v="urn:schemas-microsoft-com:vml" Requires="v">
                <p:oleObj spid="_x0000_s1550" name="Graph" r:id="rId10" imgW="4023360" imgH="3108960" progId="Origin50.Graph">
                  <p:embed/>
                </p:oleObj>
              </mc:Choice>
              <mc:Fallback>
                <p:oleObj name="Graph" r:id="rId10" imgW="4023360" imgH="3108960" progId="Origin50.Graph">
                  <p:embed/>
                  <p:pic>
                    <p:nvPicPr>
                      <p:cNvPr id="9" name="Object 8"/>
                      <p:cNvPicPr/>
                      <p:nvPr/>
                    </p:nvPicPr>
                    <p:blipFill>
                      <a:blip r:embed="rId11"/>
                      <a:stretch>
                        <a:fillRect/>
                      </a:stretch>
                    </p:blipFill>
                    <p:spPr>
                      <a:xfrm>
                        <a:off x="34954004" y="6792519"/>
                        <a:ext cx="7100387" cy="5486400"/>
                      </a:xfrm>
                      <a:prstGeom prst="rect">
                        <a:avLst/>
                      </a:prstGeom>
                    </p:spPr>
                  </p:pic>
                </p:oleObj>
              </mc:Fallback>
            </mc:AlternateContent>
          </a:graphicData>
        </a:graphic>
      </p:graphicFrame>
      <p:graphicFrame>
        <p:nvGraphicFramePr>
          <p:cNvPr id="82" name="Object 81"/>
          <p:cNvGraphicFramePr>
            <a:graphicFrameLocks noChangeAspect="1"/>
          </p:cNvGraphicFramePr>
          <p:nvPr>
            <p:extLst>
              <p:ext uri="{D42A27DB-BD31-4B8C-83A1-F6EECF244321}">
                <p14:modId xmlns:p14="http://schemas.microsoft.com/office/powerpoint/2010/main" val="4087423784"/>
              </p:ext>
            </p:extLst>
          </p:nvPr>
        </p:nvGraphicFramePr>
        <p:xfrm>
          <a:off x="32196586" y="11828610"/>
          <a:ext cx="7100388" cy="5486400"/>
        </p:xfrm>
        <a:graphic>
          <a:graphicData uri="http://schemas.openxmlformats.org/presentationml/2006/ole">
            <mc:AlternateContent xmlns:mc="http://schemas.openxmlformats.org/markup-compatibility/2006">
              <mc:Choice xmlns:v="urn:schemas-microsoft-com:vml" Requires="v">
                <p:oleObj spid="_x0000_s1551" name="Graph" r:id="rId12" imgW="4023360" imgH="3108960" progId="Origin50.Graph">
                  <p:embed/>
                </p:oleObj>
              </mc:Choice>
              <mc:Fallback>
                <p:oleObj name="Graph" r:id="rId12" imgW="4023360" imgH="3108960" progId="Origin50.Graph">
                  <p:embed/>
                  <p:pic>
                    <p:nvPicPr>
                      <p:cNvPr id="13" name="Object 12"/>
                      <p:cNvPicPr/>
                      <p:nvPr/>
                    </p:nvPicPr>
                    <p:blipFill>
                      <a:blip r:embed="rId13"/>
                      <a:stretch>
                        <a:fillRect/>
                      </a:stretch>
                    </p:blipFill>
                    <p:spPr>
                      <a:xfrm>
                        <a:off x="32196586" y="11828610"/>
                        <a:ext cx="7100388" cy="5486400"/>
                      </a:xfrm>
                      <a:prstGeom prst="rect">
                        <a:avLst/>
                      </a:prstGeom>
                    </p:spPr>
                  </p:pic>
                </p:oleObj>
              </mc:Fallback>
            </mc:AlternateContent>
          </a:graphicData>
        </a:graphic>
      </p:graphicFrame>
      <p:sp>
        <p:nvSpPr>
          <p:cNvPr id="50" name="TextBox 49"/>
          <p:cNvSpPr txBox="1"/>
          <p:nvPr/>
        </p:nvSpPr>
        <p:spPr>
          <a:xfrm>
            <a:off x="17373771" y="30785413"/>
            <a:ext cx="803257" cy="438582"/>
          </a:xfrm>
          <a:prstGeom prst="rect">
            <a:avLst/>
          </a:prstGeom>
          <a:noFill/>
        </p:spPr>
        <p:txBody>
          <a:bodyPr wrap="square" rtlCol="0">
            <a:spAutoFit/>
          </a:bodyPr>
          <a:lstStyle/>
          <a:p>
            <a:r>
              <a:rPr lang="en-US" sz="2250" b="1" dirty="0"/>
              <a:t>6a</a:t>
            </a:r>
          </a:p>
        </p:txBody>
      </p:sp>
      <p:sp>
        <p:nvSpPr>
          <p:cNvPr id="53" name="TextBox 52"/>
          <p:cNvSpPr txBox="1"/>
          <p:nvPr/>
        </p:nvSpPr>
        <p:spPr>
          <a:xfrm>
            <a:off x="24474156" y="30773576"/>
            <a:ext cx="600075" cy="438582"/>
          </a:xfrm>
          <a:prstGeom prst="rect">
            <a:avLst/>
          </a:prstGeom>
          <a:noFill/>
        </p:spPr>
        <p:txBody>
          <a:bodyPr wrap="square" rtlCol="0">
            <a:spAutoFit/>
          </a:bodyPr>
          <a:lstStyle/>
          <a:p>
            <a:r>
              <a:rPr lang="en-US" sz="2250" b="1" dirty="0"/>
              <a:t>6b</a:t>
            </a:r>
          </a:p>
        </p:txBody>
      </p:sp>
      <p:sp>
        <p:nvSpPr>
          <p:cNvPr id="56" name="TextBox 55"/>
          <p:cNvSpPr txBox="1"/>
          <p:nvPr/>
        </p:nvSpPr>
        <p:spPr>
          <a:xfrm>
            <a:off x="32731747" y="11851565"/>
            <a:ext cx="655641" cy="438582"/>
          </a:xfrm>
          <a:prstGeom prst="rect">
            <a:avLst/>
          </a:prstGeom>
          <a:noFill/>
        </p:spPr>
        <p:txBody>
          <a:bodyPr wrap="square" rtlCol="0">
            <a:spAutoFit/>
          </a:bodyPr>
          <a:lstStyle/>
          <a:p>
            <a:r>
              <a:rPr lang="en-US" sz="2250" b="1" dirty="0"/>
              <a:t>7a</a:t>
            </a:r>
          </a:p>
        </p:txBody>
      </p:sp>
      <p:sp>
        <p:nvSpPr>
          <p:cNvPr id="57" name="TextBox 56"/>
          <p:cNvSpPr txBox="1"/>
          <p:nvPr/>
        </p:nvSpPr>
        <p:spPr>
          <a:xfrm>
            <a:off x="38285676" y="11828610"/>
            <a:ext cx="683360" cy="438582"/>
          </a:xfrm>
          <a:prstGeom prst="rect">
            <a:avLst/>
          </a:prstGeom>
          <a:noFill/>
        </p:spPr>
        <p:txBody>
          <a:bodyPr wrap="square" rtlCol="0">
            <a:spAutoFit/>
          </a:bodyPr>
          <a:lstStyle/>
          <a:p>
            <a:r>
              <a:rPr lang="en-US" sz="2250" b="1" dirty="0"/>
              <a:t>7b</a:t>
            </a:r>
          </a:p>
        </p:txBody>
      </p:sp>
      <p:sp>
        <p:nvSpPr>
          <p:cNvPr id="58" name="TextBox 57"/>
          <p:cNvSpPr txBox="1"/>
          <p:nvPr/>
        </p:nvSpPr>
        <p:spPr>
          <a:xfrm>
            <a:off x="35555478" y="16935663"/>
            <a:ext cx="600075" cy="438582"/>
          </a:xfrm>
          <a:prstGeom prst="rect">
            <a:avLst/>
          </a:prstGeom>
          <a:noFill/>
        </p:spPr>
        <p:txBody>
          <a:bodyPr wrap="square" rtlCol="0">
            <a:spAutoFit/>
          </a:bodyPr>
          <a:lstStyle/>
          <a:p>
            <a:r>
              <a:rPr lang="en-US" sz="2250" b="1" dirty="0"/>
              <a:t>7c</a:t>
            </a:r>
          </a:p>
        </p:txBody>
      </p:sp>
      <p:sp>
        <p:nvSpPr>
          <p:cNvPr id="59" name="Text Box 180"/>
          <p:cNvSpPr txBox="1">
            <a:spLocks noChangeArrowheads="1"/>
          </p:cNvSpPr>
          <p:nvPr/>
        </p:nvSpPr>
        <p:spPr bwMode="auto">
          <a:xfrm>
            <a:off x="30197665" y="17403628"/>
            <a:ext cx="11568805" cy="1105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102" tIns="33053" rIns="66102" bIns="33053">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just" eaLnBrk="1" hangingPunct="1"/>
            <a:r>
              <a:rPr lang="en-US" sz="2250" b="1" dirty="0">
                <a:latin typeface="Times New Roman" panose="02020603050405020304" pitchFamily="18" charset="0"/>
                <a:cs typeface="Times New Roman" panose="02020603050405020304" pitchFamily="18" charset="0"/>
              </a:rPr>
              <a:t>Figure 7 </a:t>
            </a:r>
            <a:r>
              <a:rPr lang="en-US" sz="2250" dirty="0">
                <a:latin typeface="Times New Roman" panose="02020603050405020304" pitchFamily="18" charset="0"/>
                <a:cs typeface="Times New Roman" panose="02020603050405020304" pitchFamily="18" charset="0"/>
              </a:rPr>
              <a:t>Measurement of PM2.5 and PM10 mass concentration of  SDS011 (Nova Fitness Co.) </a:t>
            </a:r>
          </a:p>
          <a:p>
            <a:pPr algn="just" eaLnBrk="1" hangingPunct="1"/>
            <a:r>
              <a:rPr lang="en-US" sz="2250" dirty="0">
                <a:latin typeface="Times New Roman" panose="02020603050405020304" pitchFamily="18" charset="0"/>
                <a:cs typeface="Times New Roman" panose="02020603050405020304" pitchFamily="18" charset="0"/>
              </a:rPr>
              <a:t>model in comparison to DustTrak for </a:t>
            </a:r>
            <a:r>
              <a:rPr lang="en-US" sz="2250" b="1" dirty="0">
                <a:latin typeface="Times New Roman" panose="02020603050405020304" pitchFamily="18" charset="0"/>
                <a:cs typeface="Times New Roman" panose="02020603050405020304" pitchFamily="18" charset="0"/>
              </a:rPr>
              <a:t>a. </a:t>
            </a:r>
            <a:r>
              <a:rPr lang="en-US" sz="2250" dirty="0">
                <a:latin typeface="Times New Roman" panose="02020603050405020304" pitchFamily="18" charset="0"/>
                <a:cs typeface="Times New Roman" panose="02020603050405020304" pitchFamily="18" charset="0"/>
              </a:rPr>
              <a:t>Sodium Chloride, </a:t>
            </a:r>
            <a:r>
              <a:rPr lang="en-US" sz="2250" b="1" dirty="0">
                <a:latin typeface="Times New Roman" panose="02020603050405020304" pitchFamily="18" charset="0"/>
                <a:cs typeface="Times New Roman" panose="02020603050405020304" pitchFamily="18" charset="0"/>
              </a:rPr>
              <a:t>b. </a:t>
            </a:r>
            <a:r>
              <a:rPr lang="en-US" sz="2250" dirty="0">
                <a:latin typeface="Times New Roman" panose="02020603050405020304" pitchFamily="18" charset="0"/>
                <a:cs typeface="Times New Roman" panose="02020603050405020304" pitchFamily="18" charset="0"/>
              </a:rPr>
              <a:t>Ammonium Sulfate and </a:t>
            </a:r>
            <a:r>
              <a:rPr lang="en-US" sz="2250" b="1" dirty="0">
                <a:latin typeface="Times New Roman" panose="02020603050405020304" pitchFamily="18" charset="0"/>
                <a:cs typeface="Times New Roman" panose="02020603050405020304" pitchFamily="18" charset="0"/>
              </a:rPr>
              <a:t>c. </a:t>
            </a:r>
            <a:r>
              <a:rPr lang="en-US" sz="2250" dirty="0">
                <a:latin typeface="Times New Roman" panose="02020603050405020304" pitchFamily="18" charset="0"/>
                <a:cs typeface="Times New Roman" panose="02020603050405020304" pitchFamily="18" charset="0"/>
              </a:rPr>
              <a:t>Cellulose. </a:t>
            </a:r>
          </a:p>
          <a:p>
            <a:pPr algn="just" eaLnBrk="1" hangingPunct="1"/>
            <a:endParaRPr lang="en-US" sz="2250" b="1" dirty="0">
              <a:latin typeface="Times New Roman" panose="02020603050405020304" pitchFamily="18" charset="0"/>
              <a:cs typeface="Times New Roman" panose="02020603050405020304" pitchFamily="18" charset="0"/>
            </a:endParaRPr>
          </a:p>
        </p:txBody>
      </p:sp>
      <p:sp>
        <p:nvSpPr>
          <p:cNvPr id="60" name="Text Box 180"/>
          <p:cNvSpPr txBox="1">
            <a:spLocks noChangeArrowheads="1"/>
          </p:cNvSpPr>
          <p:nvPr/>
        </p:nvSpPr>
        <p:spPr bwMode="auto">
          <a:xfrm>
            <a:off x="3508853" y="25720392"/>
            <a:ext cx="3696906" cy="759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102" tIns="33053" rIns="66102" bIns="33053">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250" b="1" dirty="0">
                <a:latin typeface="Calibri" pitchFamily="34" charset="0"/>
              </a:rPr>
              <a:t>Figure 1.</a:t>
            </a:r>
            <a:r>
              <a:rPr lang="en-US" sz="2250" dirty="0">
                <a:latin typeface="Calibri" pitchFamily="34" charset="0"/>
              </a:rPr>
              <a:t> </a:t>
            </a:r>
            <a:r>
              <a:rPr lang="en-US" sz="2250" dirty="0"/>
              <a:t>Schematic diagram</a:t>
            </a:r>
          </a:p>
          <a:p>
            <a:pPr algn="ctr" eaLnBrk="1" hangingPunct="1"/>
            <a:r>
              <a:rPr lang="en-US" sz="2250" dirty="0"/>
              <a:t> of the experimental set up.</a:t>
            </a:r>
            <a:endParaRPr lang="en-US" sz="2250" dirty="0">
              <a:latin typeface="Calibri" pitchFamily="34" charset="0"/>
            </a:endParaRPr>
          </a:p>
        </p:txBody>
      </p:sp>
      <p:sp>
        <p:nvSpPr>
          <p:cNvPr id="61" name="Text Box 181"/>
          <p:cNvSpPr txBox="1">
            <a:spLocks noChangeArrowheads="1"/>
          </p:cNvSpPr>
          <p:nvPr/>
        </p:nvSpPr>
        <p:spPr bwMode="auto">
          <a:xfrm>
            <a:off x="9098883" y="25717103"/>
            <a:ext cx="2286264" cy="759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102" tIns="33053" rIns="66102" bIns="33053">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250" b="1" dirty="0">
                <a:latin typeface="Calibri" pitchFamily="34" charset="0"/>
              </a:rPr>
              <a:t>Figure 2.</a:t>
            </a:r>
            <a:r>
              <a:rPr lang="en-US" sz="2250" dirty="0">
                <a:latin typeface="Calibri" pitchFamily="34" charset="0"/>
              </a:rPr>
              <a:t> </a:t>
            </a:r>
            <a:r>
              <a:rPr lang="en-US" sz="2250" dirty="0"/>
              <a:t>Aerosol </a:t>
            </a:r>
          </a:p>
          <a:p>
            <a:pPr algn="ctr" eaLnBrk="1" hangingPunct="1"/>
            <a:r>
              <a:rPr lang="en-US" sz="2250" dirty="0"/>
              <a:t>Test Chamber</a:t>
            </a:r>
            <a:endParaRPr lang="en-US" sz="2250" dirty="0">
              <a:latin typeface="Calibri" pitchFamily="34" charset="0"/>
            </a:endParaRPr>
          </a:p>
        </p:txBody>
      </p:sp>
      <p:pic>
        <p:nvPicPr>
          <p:cNvPr id="62" name="Picture 61"/>
          <p:cNvPicPr/>
          <p:nvPr/>
        </p:nvPicPr>
        <p:blipFill>
          <a:blip r:embed="rId14" cstate="print">
            <a:extLst>
              <a:ext uri="{28A0092B-C50C-407E-A947-70E740481C1C}">
                <a14:useLocalDpi xmlns:a14="http://schemas.microsoft.com/office/drawing/2010/main" val="0"/>
              </a:ext>
            </a:extLst>
          </a:blip>
          <a:stretch>
            <a:fillRect/>
          </a:stretch>
        </p:blipFill>
        <p:spPr>
          <a:xfrm>
            <a:off x="9292478" y="22429684"/>
            <a:ext cx="1957924" cy="3097466"/>
          </a:xfrm>
          <a:prstGeom prst="rect">
            <a:avLst/>
          </a:prstGeom>
        </p:spPr>
      </p:pic>
      <p:pic>
        <p:nvPicPr>
          <p:cNvPr id="63" name="Picture 62" descr="C:\Users\soula\AppData\Local\Microsoft\Windows\INetCacheContent.Word\14875839_10210654587141456_784046671_o.jpg"/>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263425" y="26905873"/>
            <a:ext cx="6586791" cy="2747924"/>
          </a:xfrm>
          <a:prstGeom prst="rect">
            <a:avLst/>
          </a:prstGeom>
          <a:noFill/>
          <a:ln>
            <a:noFill/>
          </a:ln>
        </p:spPr>
      </p:pic>
      <p:sp>
        <p:nvSpPr>
          <p:cNvPr id="64" name="Text Box 181"/>
          <p:cNvSpPr txBox="1">
            <a:spLocks noChangeArrowheads="1"/>
          </p:cNvSpPr>
          <p:nvPr/>
        </p:nvSpPr>
        <p:spPr bwMode="auto">
          <a:xfrm>
            <a:off x="5890277" y="29942501"/>
            <a:ext cx="3333089" cy="793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102" tIns="33053" rIns="66102" bIns="33053">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a:r>
              <a:rPr lang="en-US" sz="2250" b="1" dirty="0">
                <a:latin typeface="Calibri" pitchFamily="34" charset="0"/>
              </a:rPr>
              <a:t>Figure 3.</a:t>
            </a:r>
            <a:r>
              <a:rPr lang="en-US" sz="2250" dirty="0">
                <a:latin typeface="Calibri" pitchFamily="34" charset="0"/>
              </a:rPr>
              <a:t> </a:t>
            </a:r>
            <a:r>
              <a:rPr lang="en-US" sz="2250" dirty="0"/>
              <a:t>Model </a:t>
            </a:r>
          </a:p>
          <a:p>
            <a:pPr algn="ctr"/>
            <a:r>
              <a:rPr lang="en-US" sz="2250" dirty="0"/>
              <a:t>GP2Y1010AU0F (Sharp</a:t>
            </a:r>
            <a:r>
              <a:rPr lang="en-US" sz="2475" dirty="0"/>
              <a:t>)</a:t>
            </a:r>
          </a:p>
        </p:txBody>
      </p:sp>
      <p:pic>
        <p:nvPicPr>
          <p:cNvPr id="65" name="Picture 64"/>
          <p:cNvPicPr/>
          <p:nvPr/>
        </p:nvPicPr>
        <p:blipFill>
          <a:blip r:embed="rId16"/>
          <a:stretch>
            <a:fillRect/>
          </a:stretch>
        </p:blipFill>
        <p:spPr>
          <a:xfrm>
            <a:off x="2875214" y="22318933"/>
            <a:ext cx="4967794" cy="3238598"/>
          </a:xfrm>
          <a:prstGeom prst="rect">
            <a:avLst/>
          </a:prstGeom>
          <a:ln>
            <a:solidFill>
              <a:schemeClr val="bg1"/>
            </a:solidFill>
          </a:ln>
        </p:spPr>
      </p:pic>
      <p:pic>
        <p:nvPicPr>
          <p:cNvPr id="20" name="Picture 19"/>
          <p:cNvPicPr>
            <a:picLocks noChangeAspect="1"/>
          </p:cNvPicPr>
          <p:nvPr/>
        </p:nvPicPr>
        <p:blipFill>
          <a:blip r:embed="rId17"/>
          <a:stretch>
            <a:fillRect/>
          </a:stretch>
        </p:blipFill>
        <p:spPr>
          <a:xfrm>
            <a:off x="37813145" y="6343232"/>
            <a:ext cx="771581" cy="736106"/>
          </a:xfrm>
          <a:prstGeom prst="rect">
            <a:avLst/>
          </a:prstGeom>
        </p:spPr>
      </p:pic>
      <p:graphicFrame>
        <p:nvGraphicFramePr>
          <p:cNvPr id="85" name="Object 84"/>
          <p:cNvGraphicFramePr>
            <a:graphicFrameLocks noChangeAspect="1"/>
          </p:cNvGraphicFramePr>
          <p:nvPr>
            <p:extLst>
              <p:ext uri="{D42A27DB-BD31-4B8C-83A1-F6EECF244321}">
                <p14:modId xmlns:p14="http://schemas.microsoft.com/office/powerpoint/2010/main" val="4119686045"/>
              </p:ext>
            </p:extLst>
          </p:nvPr>
        </p:nvGraphicFramePr>
        <p:xfrm>
          <a:off x="12792864" y="16052971"/>
          <a:ext cx="9467177" cy="7315200"/>
        </p:xfrm>
        <a:graphic>
          <a:graphicData uri="http://schemas.openxmlformats.org/presentationml/2006/ole">
            <mc:AlternateContent xmlns:mc="http://schemas.openxmlformats.org/markup-compatibility/2006">
              <mc:Choice xmlns:v="urn:schemas-microsoft-com:vml" Requires="v">
                <p:oleObj spid="_x0000_s1552" name="Graph" r:id="rId18" imgW="4023360" imgH="3108960" progId="Origin50.Graph">
                  <p:embed/>
                </p:oleObj>
              </mc:Choice>
              <mc:Fallback>
                <p:oleObj name="Graph" r:id="rId18" imgW="4023360" imgH="3108960" progId="Origin50.Graph">
                  <p:embed/>
                  <p:pic>
                    <p:nvPicPr>
                      <p:cNvPr id="8" name="Object 7"/>
                      <p:cNvPicPr/>
                      <p:nvPr/>
                    </p:nvPicPr>
                    <p:blipFill>
                      <a:blip r:embed="rId19"/>
                      <a:stretch>
                        <a:fillRect/>
                      </a:stretch>
                    </p:blipFill>
                    <p:spPr>
                      <a:xfrm>
                        <a:off x="12792864" y="16052971"/>
                        <a:ext cx="9467177" cy="7315200"/>
                      </a:xfrm>
                      <a:prstGeom prst="rect">
                        <a:avLst/>
                      </a:prstGeom>
                    </p:spPr>
                  </p:pic>
                </p:oleObj>
              </mc:Fallback>
            </mc:AlternateContent>
          </a:graphicData>
        </a:graphic>
      </p:graphicFrame>
      <p:graphicFrame>
        <p:nvGraphicFramePr>
          <p:cNvPr id="86" name="Object 85"/>
          <p:cNvGraphicFramePr>
            <a:graphicFrameLocks noChangeAspect="1"/>
          </p:cNvGraphicFramePr>
          <p:nvPr>
            <p:extLst>
              <p:ext uri="{D42A27DB-BD31-4B8C-83A1-F6EECF244321}">
                <p14:modId xmlns:p14="http://schemas.microsoft.com/office/powerpoint/2010/main" val="3778435533"/>
              </p:ext>
            </p:extLst>
          </p:nvPr>
        </p:nvGraphicFramePr>
        <p:xfrm>
          <a:off x="20542613" y="16072939"/>
          <a:ext cx="9467164" cy="7315200"/>
        </p:xfrm>
        <a:graphic>
          <a:graphicData uri="http://schemas.openxmlformats.org/presentationml/2006/ole">
            <mc:AlternateContent xmlns:mc="http://schemas.openxmlformats.org/markup-compatibility/2006">
              <mc:Choice xmlns:v="urn:schemas-microsoft-com:vml" Requires="v">
                <p:oleObj spid="_x0000_s1553" name="Graph" r:id="rId20" imgW="4023360" imgH="3108960" progId="Origin50.Graph">
                  <p:embed/>
                </p:oleObj>
              </mc:Choice>
              <mc:Fallback>
                <p:oleObj name="Graph" r:id="rId20" imgW="4023360" imgH="3108960" progId="Origin50.Graph">
                  <p:embed/>
                  <p:pic>
                    <p:nvPicPr>
                      <p:cNvPr id="75" name="Object 74"/>
                      <p:cNvPicPr/>
                      <p:nvPr/>
                    </p:nvPicPr>
                    <p:blipFill>
                      <a:blip r:embed="rId21"/>
                      <a:stretch>
                        <a:fillRect/>
                      </a:stretch>
                    </p:blipFill>
                    <p:spPr>
                      <a:xfrm>
                        <a:off x="20542613" y="16072939"/>
                        <a:ext cx="9467164" cy="7315200"/>
                      </a:xfrm>
                      <a:prstGeom prst="rect">
                        <a:avLst/>
                      </a:prstGeom>
                    </p:spPr>
                  </p:pic>
                </p:oleObj>
              </mc:Fallback>
            </mc:AlternateContent>
          </a:graphicData>
        </a:graphic>
      </p:graphicFrame>
      <p:sp>
        <p:nvSpPr>
          <p:cNvPr id="87" name="Text Box 180"/>
          <p:cNvSpPr txBox="1">
            <a:spLocks noChangeArrowheads="1"/>
          </p:cNvSpPr>
          <p:nvPr/>
        </p:nvSpPr>
        <p:spPr bwMode="auto">
          <a:xfrm>
            <a:off x="13920792" y="14295710"/>
            <a:ext cx="15333215" cy="1105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6102" tIns="33053" rIns="66102" bIns="33053">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just" eaLnBrk="1" hangingPunct="1"/>
            <a:r>
              <a:rPr lang="en-US" sz="2250" b="1" dirty="0">
                <a:latin typeface="Times New Roman" panose="02020603050405020304" pitchFamily="18" charset="0"/>
                <a:cs typeface="Times New Roman" panose="02020603050405020304" pitchFamily="18" charset="0"/>
              </a:rPr>
              <a:t>Figure 4. </a:t>
            </a:r>
            <a:r>
              <a:rPr lang="en-US" sz="2250" dirty="0">
                <a:latin typeface="Times New Roman" panose="02020603050405020304" pitchFamily="18" charset="0"/>
                <a:cs typeface="Times New Roman" panose="02020603050405020304" pitchFamily="18" charset="0"/>
              </a:rPr>
              <a:t>Analog Output Voltage (V) as a function of number concentration for </a:t>
            </a:r>
            <a:r>
              <a:rPr lang="en-US" sz="2250" b="1" dirty="0">
                <a:latin typeface="Times New Roman" panose="02020603050405020304" pitchFamily="18" charset="0"/>
                <a:cs typeface="Times New Roman" panose="02020603050405020304" pitchFamily="18" charset="0"/>
              </a:rPr>
              <a:t>a. </a:t>
            </a:r>
            <a:r>
              <a:rPr lang="en-US" sz="2250" dirty="0">
                <a:latin typeface="Times New Roman" panose="02020603050405020304" pitchFamily="18" charset="0"/>
                <a:cs typeface="Times New Roman" panose="02020603050405020304" pitchFamily="18" charset="0"/>
              </a:rPr>
              <a:t>PPD60PV A </a:t>
            </a:r>
            <a:r>
              <a:rPr lang="en-US" sz="2250" b="1" dirty="0">
                <a:latin typeface="Times New Roman" panose="02020603050405020304" pitchFamily="18" charset="0"/>
                <a:cs typeface="Times New Roman" panose="02020603050405020304" pitchFamily="18" charset="0"/>
              </a:rPr>
              <a:t>b. </a:t>
            </a:r>
            <a:r>
              <a:rPr lang="en-US" sz="2250" dirty="0">
                <a:latin typeface="Times New Roman" panose="02020603050405020304" pitchFamily="18" charset="0"/>
                <a:cs typeface="Times New Roman" panose="02020603050405020304" pitchFamily="18" charset="0"/>
              </a:rPr>
              <a:t>PD60PV C, where in polynomial equation y represents the Analog Output Voltage (V)  provided by the sensor and x the number concentration (pcs per cubic feet) measured by HHPC.</a:t>
            </a:r>
          </a:p>
        </p:txBody>
      </p:sp>
      <p:pic>
        <p:nvPicPr>
          <p:cNvPr id="22" name="Picture 21"/>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5746780" y="449329"/>
            <a:ext cx="4046220" cy="1078435"/>
          </a:xfrm>
          <a:prstGeom prst="rect">
            <a:avLst/>
          </a:prstGeom>
        </p:spPr>
      </p:pic>
      <p:pic>
        <p:nvPicPr>
          <p:cNvPr id="23" name="Picture 22"/>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39806701" y="1773619"/>
            <a:ext cx="3161309" cy="1378682"/>
          </a:xfrm>
          <a:prstGeom prst="rect">
            <a:avLst/>
          </a:prstGeom>
        </p:spPr>
      </p:pic>
      <p:sp>
        <p:nvSpPr>
          <p:cNvPr id="67" name="Rectangle 66"/>
          <p:cNvSpPr/>
          <p:nvPr/>
        </p:nvSpPr>
        <p:spPr>
          <a:xfrm>
            <a:off x="30211074" y="34132221"/>
            <a:ext cx="11315700" cy="5143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r>
              <a:rPr lang="en-US" sz="4500" dirty="0">
                <a:solidFill>
                  <a:schemeClr val="accent3">
                    <a:lumMod val="20000"/>
                    <a:lumOff val="80000"/>
                  </a:schemeClr>
                </a:solidFill>
                <a:latin typeface="Times New Roman" panose="02020603050405020304" pitchFamily="18" charset="0"/>
                <a:cs typeface="Times New Roman" panose="02020603050405020304" pitchFamily="18" charset="0"/>
              </a:rPr>
              <a:t>ACKNOWLEDGEMENTS</a:t>
            </a:r>
          </a:p>
        </p:txBody>
      </p:sp>
      <p:sp>
        <p:nvSpPr>
          <p:cNvPr id="68" name="Text Box 193"/>
          <p:cNvSpPr txBox="1">
            <a:spLocks noChangeArrowheads="1"/>
          </p:cNvSpPr>
          <p:nvPr/>
        </p:nvSpPr>
        <p:spPr bwMode="auto">
          <a:xfrm>
            <a:off x="30211074" y="34679928"/>
            <a:ext cx="11315700" cy="1869743"/>
          </a:xfrm>
          <a:prstGeom prst="rect">
            <a:avLst/>
          </a:prstGeom>
          <a:solidFill>
            <a:schemeClr val="bg1"/>
          </a:solidFill>
          <a:ln w="12700">
            <a:solidFill>
              <a:schemeClr val="accent1">
                <a:lumMod val="75000"/>
              </a:schemeClr>
            </a:solidFill>
          </a:ln>
          <a:effectLst/>
        </p:spPr>
        <p:txBody>
          <a:bodyPr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ctr"/>
            <a:r>
              <a:rPr lang="en-US" altLang="ko-KR" sz="3375" dirty="0">
                <a:latin typeface="Times New Roman" panose="02020603050405020304" pitchFamily="18" charset="0"/>
                <a:ea typeface="굴림" pitchFamily="34" charset="-127"/>
                <a:cs typeface="Times New Roman" panose="02020603050405020304" pitchFamily="18" charset="0"/>
              </a:rPr>
              <a:t>Thanks to the Center For Disease Control’s Innovation Fund to promote the development of new innovations which show promise in making a substantial impact on public health.</a:t>
            </a:r>
          </a:p>
        </p:txBody>
      </p:sp>
      <p:graphicFrame>
        <p:nvGraphicFramePr>
          <p:cNvPr id="71" name="Object 70"/>
          <p:cNvGraphicFramePr>
            <a:graphicFrameLocks noChangeAspect="1"/>
          </p:cNvGraphicFramePr>
          <p:nvPr>
            <p:extLst>
              <p:ext uri="{D42A27DB-BD31-4B8C-83A1-F6EECF244321}">
                <p14:modId xmlns:p14="http://schemas.microsoft.com/office/powerpoint/2010/main" val="383054821"/>
              </p:ext>
            </p:extLst>
          </p:nvPr>
        </p:nvGraphicFramePr>
        <p:xfrm>
          <a:off x="21055184" y="25551979"/>
          <a:ext cx="7100378" cy="5486400"/>
        </p:xfrm>
        <a:graphic>
          <a:graphicData uri="http://schemas.openxmlformats.org/presentationml/2006/ole">
            <mc:AlternateContent xmlns:mc="http://schemas.openxmlformats.org/markup-compatibility/2006">
              <mc:Choice xmlns:v="urn:schemas-microsoft-com:vml" Requires="v">
                <p:oleObj spid="_x0000_s1554" name="Graph" r:id="rId24" imgW="4023360" imgH="3108960" progId="Origin50.Graph">
                  <p:embed/>
                </p:oleObj>
              </mc:Choice>
              <mc:Fallback>
                <p:oleObj name="Graph" r:id="rId24" imgW="4023360" imgH="3108960" progId="Origin50.Graph">
                  <p:embed/>
                  <p:pic>
                    <p:nvPicPr>
                      <p:cNvPr id="3" name="Object 2"/>
                      <p:cNvPicPr/>
                      <p:nvPr/>
                    </p:nvPicPr>
                    <p:blipFill>
                      <a:blip r:embed="rId25"/>
                      <a:stretch>
                        <a:fillRect/>
                      </a:stretch>
                    </p:blipFill>
                    <p:spPr>
                      <a:xfrm>
                        <a:off x="21055184" y="25551979"/>
                        <a:ext cx="7100378" cy="5486400"/>
                      </a:xfrm>
                      <a:prstGeom prst="rect">
                        <a:avLst/>
                      </a:prstGeom>
                    </p:spPr>
                  </p:pic>
                </p:oleObj>
              </mc:Fallback>
            </mc:AlternateContent>
          </a:graphicData>
        </a:graphic>
      </p:graphicFrame>
      <p:graphicFrame>
        <p:nvGraphicFramePr>
          <p:cNvPr id="75" name="Object 74"/>
          <p:cNvGraphicFramePr>
            <a:graphicFrameLocks noChangeAspect="1"/>
          </p:cNvGraphicFramePr>
          <p:nvPr>
            <p:extLst>
              <p:ext uri="{D42A27DB-BD31-4B8C-83A1-F6EECF244321}">
                <p14:modId xmlns:p14="http://schemas.microsoft.com/office/powerpoint/2010/main" val="4211018318"/>
              </p:ext>
            </p:extLst>
          </p:nvPr>
        </p:nvGraphicFramePr>
        <p:xfrm>
          <a:off x="13976259" y="25674730"/>
          <a:ext cx="7100385" cy="5486400"/>
        </p:xfrm>
        <a:graphic>
          <a:graphicData uri="http://schemas.openxmlformats.org/presentationml/2006/ole">
            <mc:AlternateContent xmlns:mc="http://schemas.openxmlformats.org/markup-compatibility/2006">
              <mc:Choice xmlns:v="urn:schemas-microsoft-com:vml" Requires="v">
                <p:oleObj spid="_x0000_s1555" name="Graph" r:id="rId26" imgW="4023360" imgH="3108960" progId="Origin50.Graph">
                  <p:embed/>
                </p:oleObj>
              </mc:Choice>
              <mc:Fallback>
                <p:oleObj name="Graph" r:id="rId26" imgW="4023360" imgH="3108960" progId="Origin50.Graph">
                  <p:embed/>
                  <p:pic>
                    <p:nvPicPr>
                      <p:cNvPr id="9" name="Object 8"/>
                      <p:cNvPicPr/>
                      <p:nvPr/>
                    </p:nvPicPr>
                    <p:blipFill>
                      <a:blip r:embed="rId27"/>
                      <a:stretch>
                        <a:fillRect/>
                      </a:stretch>
                    </p:blipFill>
                    <p:spPr>
                      <a:xfrm>
                        <a:off x="13976259" y="25674730"/>
                        <a:ext cx="7100385" cy="5486400"/>
                      </a:xfrm>
                      <a:prstGeom prst="rect">
                        <a:avLst/>
                      </a:prstGeom>
                    </p:spPr>
                  </p:pic>
                </p:oleObj>
              </mc:Fallback>
            </mc:AlternateContent>
          </a:graphicData>
        </a:graphic>
      </p:graphicFrame>
      <p:graphicFrame>
        <p:nvGraphicFramePr>
          <p:cNvPr id="76" name="Object 75"/>
          <p:cNvGraphicFramePr>
            <a:graphicFrameLocks noChangeAspect="1"/>
          </p:cNvGraphicFramePr>
          <p:nvPr>
            <p:extLst>
              <p:ext uri="{D42A27DB-BD31-4B8C-83A1-F6EECF244321}">
                <p14:modId xmlns:p14="http://schemas.microsoft.com/office/powerpoint/2010/main" val="3090653155"/>
              </p:ext>
            </p:extLst>
          </p:nvPr>
        </p:nvGraphicFramePr>
        <p:xfrm>
          <a:off x="17816664" y="30658742"/>
          <a:ext cx="7100379" cy="5486400"/>
        </p:xfrm>
        <a:graphic>
          <a:graphicData uri="http://schemas.openxmlformats.org/presentationml/2006/ole">
            <mc:AlternateContent xmlns:mc="http://schemas.openxmlformats.org/markup-compatibility/2006">
              <mc:Choice xmlns:v="urn:schemas-microsoft-com:vml" Requires="v">
                <p:oleObj spid="_x0000_s1556" name="Graph" r:id="rId28" imgW="4023360" imgH="3108960" progId="Origin50.Graph">
                  <p:embed/>
                </p:oleObj>
              </mc:Choice>
              <mc:Fallback>
                <p:oleObj name="Graph" r:id="rId28" imgW="4023360" imgH="3108960" progId="Origin50.Graph">
                  <p:embed/>
                  <p:pic>
                    <p:nvPicPr>
                      <p:cNvPr id="10" name="Object 9"/>
                      <p:cNvPicPr/>
                      <p:nvPr/>
                    </p:nvPicPr>
                    <p:blipFill>
                      <a:blip r:embed="rId29"/>
                      <a:stretch>
                        <a:fillRect/>
                      </a:stretch>
                    </p:blipFill>
                    <p:spPr>
                      <a:xfrm>
                        <a:off x="17816664" y="30658742"/>
                        <a:ext cx="7100379" cy="5486400"/>
                      </a:xfrm>
                      <a:prstGeom prst="rect">
                        <a:avLst/>
                      </a:prstGeom>
                    </p:spPr>
                  </p:pic>
                </p:oleObj>
              </mc:Fallback>
            </mc:AlternateContent>
          </a:graphicData>
        </a:graphic>
      </p:graphicFrame>
      <p:sp>
        <p:nvSpPr>
          <p:cNvPr id="77" name="TextBox 76"/>
          <p:cNvSpPr txBox="1"/>
          <p:nvPr/>
        </p:nvSpPr>
        <p:spPr>
          <a:xfrm>
            <a:off x="20980077" y="35825061"/>
            <a:ext cx="600075" cy="438582"/>
          </a:xfrm>
          <a:prstGeom prst="rect">
            <a:avLst/>
          </a:prstGeom>
          <a:noFill/>
        </p:spPr>
        <p:txBody>
          <a:bodyPr wrap="square" rtlCol="0">
            <a:spAutoFit/>
          </a:bodyPr>
          <a:lstStyle/>
          <a:p>
            <a:r>
              <a:rPr lang="en-US" sz="2250" b="1" dirty="0"/>
              <a:t>6c</a:t>
            </a:r>
          </a:p>
        </p:txBody>
      </p:sp>
      <p:sp>
        <p:nvSpPr>
          <p:cNvPr id="84" name="Rectangle 83"/>
          <p:cNvSpPr/>
          <p:nvPr/>
        </p:nvSpPr>
        <p:spPr>
          <a:xfrm>
            <a:off x="30197666" y="5733405"/>
            <a:ext cx="11315700" cy="5143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r>
              <a:rPr lang="en-US" sz="4500" dirty="0">
                <a:solidFill>
                  <a:schemeClr val="accent3">
                    <a:lumMod val="20000"/>
                    <a:lumOff val="80000"/>
                  </a:schemeClr>
                </a:solidFill>
                <a:latin typeface="Times New Roman" panose="02020603050405020304" pitchFamily="18" charset="0"/>
                <a:cs typeface="Times New Roman" panose="02020603050405020304" pitchFamily="18" charset="0"/>
              </a:rPr>
              <a:t>RESULTS</a:t>
            </a:r>
          </a:p>
        </p:txBody>
      </p:sp>
      <p:sp>
        <p:nvSpPr>
          <p:cNvPr id="88" name="Text Box 180"/>
          <p:cNvSpPr txBox="1">
            <a:spLocks noChangeArrowheads="1"/>
          </p:cNvSpPr>
          <p:nvPr/>
        </p:nvSpPr>
        <p:spPr bwMode="auto">
          <a:xfrm>
            <a:off x="13920792" y="23624953"/>
            <a:ext cx="15333215" cy="1105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6102" tIns="33053" rIns="66102" bIns="33053">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just" eaLnBrk="1" hangingPunct="1"/>
            <a:r>
              <a:rPr lang="en-US" sz="2250" b="1" dirty="0">
                <a:latin typeface="Times New Roman" panose="02020603050405020304" pitchFamily="18" charset="0"/>
                <a:cs typeface="Times New Roman" panose="02020603050405020304" pitchFamily="18" charset="0"/>
              </a:rPr>
              <a:t>Figure 5. </a:t>
            </a:r>
            <a:r>
              <a:rPr lang="en-US" sz="2250" dirty="0">
                <a:latin typeface="Times New Roman" panose="02020603050405020304" pitchFamily="18" charset="0"/>
                <a:cs typeface="Times New Roman" panose="02020603050405020304" pitchFamily="18" charset="0"/>
              </a:rPr>
              <a:t>Lo Pulse Occupancy Time (%) as a function of number concentration for </a:t>
            </a:r>
            <a:r>
              <a:rPr lang="en-US" sz="2250" b="1" dirty="0">
                <a:latin typeface="Times New Roman" panose="02020603050405020304" pitchFamily="18" charset="0"/>
                <a:cs typeface="Times New Roman" panose="02020603050405020304" pitchFamily="18" charset="0"/>
              </a:rPr>
              <a:t>a. </a:t>
            </a:r>
            <a:r>
              <a:rPr lang="en-US" sz="2250" dirty="0">
                <a:latin typeface="Times New Roman" panose="02020603050405020304" pitchFamily="18" charset="0"/>
                <a:cs typeface="Times New Roman" panose="02020603050405020304" pitchFamily="18" charset="0"/>
              </a:rPr>
              <a:t>PPD42NS A </a:t>
            </a:r>
            <a:r>
              <a:rPr lang="en-US" sz="2250" b="1" dirty="0">
                <a:latin typeface="Times New Roman" panose="02020603050405020304" pitchFamily="18" charset="0"/>
                <a:cs typeface="Times New Roman" panose="02020603050405020304" pitchFamily="18" charset="0"/>
              </a:rPr>
              <a:t>b. </a:t>
            </a:r>
            <a:r>
              <a:rPr lang="en-US" sz="2250" dirty="0">
                <a:latin typeface="Times New Roman" panose="02020603050405020304" pitchFamily="18" charset="0"/>
                <a:cs typeface="Times New Roman" panose="02020603050405020304" pitchFamily="18" charset="0"/>
              </a:rPr>
              <a:t>PPD42NS C, where in linear equation y represents the lo pulse occupancy time (%) provided by the sensor and x the number concentration (pcs per cubic feet) measured by HHPC.</a:t>
            </a:r>
          </a:p>
        </p:txBody>
      </p:sp>
      <p:pic>
        <p:nvPicPr>
          <p:cNvPr id="98" name="Picture 97"/>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rot="16200000">
            <a:off x="20851708" y="6424797"/>
            <a:ext cx="630593" cy="840790"/>
          </a:xfrm>
          <a:prstGeom prst="rect">
            <a:avLst/>
          </a:prstGeom>
        </p:spPr>
      </p:pic>
      <p:sp>
        <p:nvSpPr>
          <p:cNvPr id="99" name="Rectangle 98"/>
          <p:cNvSpPr/>
          <p:nvPr/>
        </p:nvSpPr>
        <p:spPr>
          <a:xfrm>
            <a:off x="13908502" y="5661309"/>
            <a:ext cx="14807565" cy="573957"/>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r>
              <a:rPr lang="en-US" sz="4500" dirty="0">
                <a:solidFill>
                  <a:schemeClr val="accent3">
                    <a:lumMod val="20000"/>
                    <a:lumOff val="80000"/>
                  </a:schemeClr>
                </a:solidFill>
                <a:latin typeface="Times New Roman" panose="02020603050405020304" pitchFamily="18" charset="0"/>
                <a:cs typeface="Times New Roman" panose="02020603050405020304" pitchFamily="18" charset="0"/>
              </a:rPr>
              <a:t>RESULTS</a:t>
            </a:r>
          </a:p>
        </p:txBody>
      </p:sp>
      <p:sp>
        <p:nvSpPr>
          <p:cNvPr id="100" name="Text Box 194"/>
          <p:cNvSpPr txBox="1">
            <a:spLocks noChangeArrowheads="1"/>
          </p:cNvSpPr>
          <p:nvPr/>
        </p:nvSpPr>
        <p:spPr bwMode="auto">
          <a:xfrm>
            <a:off x="14006888" y="15642687"/>
            <a:ext cx="14709179" cy="1004121"/>
          </a:xfrm>
          <a:prstGeom prst="rect">
            <a:avLst/>
          </a:prstGeom>
          <a:solidFill>
            <a:schemeClr val="bg1"/>
          </a:solidFill>
          <a:ln w="12700">
            <a:solidFill>
              <a:schemeClr val="accent1">
                <a:lumMod val="75000"/>
              </a:schemeClr>
            </a:solidFill>
          </a:ln>
          <a:effectLst/>
        </p:spPr>
        <p:txBody>
          <a:bodyPr wrap="square"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21469" indent="-321469">
              <a:buFont typeface="Arial" panose="020B0604020202020204" pitchFamily="34" charset="0"/>
              <a:buChar char="•"/>
            </a:pPr>
            <a:r>
              <a:rPr lang="en-US" sz="4500" b="1" dirty="0">
                <a:latin typeface="Times New Roman" panose="02020603050405020304" pitchFamily="18" charset="0"/>
                <a:cs typeface="Times New Roman" panose="02020603050405020304" pitchFamily="18" charset="0"/>
              </a:rPr>
              <a:t> PPD42NS (Shinyei)</a:t>
            </a:r>
          </a:p>
        </p:txBody>
      </p:sp>
      <p:pic>
        <p:nvPicPr>
          <p:cNvPr id="101" name="Picture 100"/>
          <p:cNvPicPr>
            <a:picLocks noChangeAspect="1"/>
          </p:cNvPicPr>
          <p:nvPr/>
        </p:nvPicPr>
        <p:blipFill>
          <a:blip r:embed="rId31"/>
          <a:stretch>
            <a:fillRect/>
          </a:stretch>
        </p:blipFill>
        <p:spPr>
          <a:xfrm>
            <a:off x="19873290" y="15722640"/>
            <a:ext cx="825719" cy="860509"/>
          </a:xfrm>
          <a:prstGeom prst="rect">
            <a:avLst/>
          </a:prstGeom>
        </p:spPr>
      </p:pic>
      <p:sp>
        <p:nvSpPr>
          <p:cNvPr id="102" name="Text Box 194"/>
          <p:cNvSpPr txBox="1">
            <a:spLocks noChangeArrowheads="1"/>
          </p:cNvSpPr>
          <p:nvPr/>
        </p:nvSpPr>
        <p:spPr bwMode="auto">
          <a:xfrm>
            <a:off x="14006888" y="25007168"/>
            <a:ext cx="14709179" cy="1004121"/>
          </a:xfrm>
          <a:prstGeom prst="rect">
            <a:avLst/>
          </a:prstGeom>
          <a:solidFill>
            <a:schemeClr val="bg1"/>
          </a:solidFill>
          <a:ln w="12700">
            <a:solidFill>
              <a:schemeClr val="accent1">
                <a:lumMod val="75000"/>
              </a:schemeClr>
            </a:solidFill>
          </a:ln>
          <a:effectLst/>
        </p:spPr>
        <p:txBody>
          <a:bodyPr wrap="square"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685800" indent="-685800">
              <a:buFont typeface="Arial" panose="020B0604020202020204" pitchFamily="34" charset="0"/>
              <a:buChar char="•"/>
            </a:pPr>
            <a:r>
              <a:rPr lang="en-US" sz="4500" b="1" dirty="0">
                <a:latin typeface="Times New Roman" panose="02020603050405020304" pitchFamily="18" charset="0"/>
                <a:cs typeface="Times New Roman" panose="02020603050405020304" pitchFamily="18" charset="0"/>
              </a:rPr>
              <a:t>GP2Y1010AU0F (Sharp) </a:t>
            </a:r>
            <a:endParaRPr lang="en-US" sz="4500" b="1" dirty="0"/>
          </a:p>
        </p:txBody>
      </p:sp>
      <p:pic>
        <p:nvPicPr>
          <p:cNvPr id="103" name="Picture 102"/>
          <p:cNvPicPr>
            <a:picLocks noChangeAspect="1"/>
          </p:cNvPicPr>
          <p:nvPr/>
        </p:nvPicPr>
        <p:blipFill>
          <a:blip r:embed="rId32"/>
          <a:stretch>
            <a:fillRect/>
          </a:stretch>
        </p:blipFill>
        <p:spPr>
          <a:xfrm>
            <a:off x="21366854" y="25234101"/>
            <a:ext cx="797400" cy="758055"/>
          </a:xfrm>
          <a:prstGeom prst="rect">
            <a:avLst/>
          </a:prstGeom>
        </p:spPr>
      </p:pic>
      <p:sp>
        <p:nvSpPr>
          <p:cNvPr id="104" name="Text Box 180"/>
          <p:cNvSpPr txBox="1">
            <a:spLocks noChangeArrowheads="1"/>
          </p:cNvSpPr>
          <p:nvPr/>
        </p:nvSpPr>
        <p:spPr bwMode="auto">
          <a:xfrm>
            <a:off x="14006888" y="36549671"/>
            <a:ext cx="15333215" cy="759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6102" tIns="33053" rIns="66102" bIns="33053">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just" eaLnBrk="1" hangingPunct="1"/>
            <a:r>
              <a:rPr lang="en-US" sz="2250" b="1" dirty="0">
                <a:latin typeface="Times New Roman" panose="02020603050405020304" pitchFamily="18" charset="0"/>
                <a:cs typeface="Times New Roman" panose="02020603050405020304" pitchFamily="18" charset="0"/>
              </a:rPr>
              <a:t>Figure 6 </a:t>
            </a:r>
            <a:r>
              <a:rPr lang="en-US" sz="2250" dirty="0">
                <a:latin typeface="Times New Roman" panose="02020603050405020304" pitchFamily="18" charset="0"/>
                <a:cs typeface="Times New Roman" panose="02020603050405020304" pitchFamily="18" charset="0"/>
              </a:rPr>
              <a:t>Measurement of mass concentration of calibrated GP2Y1010AU0F (Sharp) model in comparison to DustTrak for </a:t>
            </a:r>
            <a:r>
              <a:rPr lang="en-US" sz="2250" b="1" dirty="0">
                <a:latin typeface="Times New Roman" panose="02020603050405020304" pitchFamily="18" charset="0"/>
                <a:cs typeface="Times New Roman" panose="02020603050405020304" pitchFamily="18" charset="0"/>
              </a:rPr>
              <a:t>a. </a:t>
            </a:r>
            <a:r>
              <a:rPr lang="en-US" sz="2250" dirty="0">
                <a:latin typeface="Times New Roman" panose="02020603050405020304" pitchFamily="18" charset="0"/>
                <a:cs typeface="Times New Roman" panose="02020603050405020304" pitchFamily="18" charset="0"/>
              </a:rPr>
              <a:t>Sodium Chloride, </a:t>
            </a:r>
            <a:r>
              <a:rPr lang="en-US" sz="2250" b="1" dirty="0">
                <a:latin typeface="Times New Roman" panose="02020603050405020304" pitchFamily="18" charset="0"/>
                <a:cs typeface="Times New Roman" panose="02020603050405020304" pitchFamily="18" charset="0"/>
              </a:rPr>
              <a:t>b. </a:t>
            </a:r>
            <a:r>
              <a:rPr lang="en-US" sz="2250" dirty="0">
                <a:latin typeface="Times New Roman" panose="02020603050405020304" pitchFamily="18" charset="0"/>
                <a:cs typeface="Times New Roman" panose="02020603050405020304" pitchFamily="18" charset="0"/>
              </a:rPr>
              <a:t>Ammonium Sulfate and </a:t>
            </a:r>
            <a:r>
              <a:rPr lang="en-US" sz="2250" b="1" dirty="0">
                <a:latin typeface="Times New Roman" panose="02020603050405020304" pitchFamily="18" charset="0"/>
                <a:cs typeface="Times New Roman" panose="02020603050405020304" pitchFamily="18" charset="0"/>
              </a:rPr>
              <a:t>c. </a:t>
            </a:r>
            <a:r>
              <a:rPr lang="en-US" sz="2250" dirty="0">
                <a:latin typeface="Times New Roman" panose="02020603050405020304" pitchFamily="18" charset="0"/>
                <a:cs typeface="Times New Roman" panose="02020603050405020304" pitchFamily="18" charset="0"/>
              </a:rPr>
              <a:t>Cellulose. </a:t>
            </a:r>
          </a:p>
        </p:txBody>
      </p:sp>
      <p:sp>
        <p:nvSpPr>
          <p:cNvPr id="105" name="Text Box 191"/>
          <p:cNvSpPr txBox="1">
            <a:spLocks noChangeArrowheads="1"/>
          </p:cNvSpPr>
          <p:nvPr/>
        </p:nvSpPr>
        <p:spPr bwMode="auto">
          <a:xfrm>
            <a:off x="30211074" y="19056245"/>
            <a:ext cx="11315700" cy="7063472"/>
          </a:xfrm>
          <a:prstGeom prst="rect">
            <a:avLst/>
          </a:prstGeom>
          <a:solidFill>
            <a:schemeClr val="bg1"/>
          </a:solidFill>
          <a:ln w="12700">
            <a:solidFill>
              <a:schemeClr val="accent1">
                <a:lumMod val="75000"/>
              </a:schemeClr>
            </a:solidFill>
          </a:ln>
          <a:effectLst/>
        </p:spPr>
        <p:txBody>
          <a:bodyPr lIns="154305" tIns="154305" rIns="154305" bIns="154305">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85763" indent="-385763"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For PPD60PV sensors the particle composition does not affect their response. Moreover, similar behavior is noticeable between different sensors of the same model.</a:t>
            </a:r>
          </a:p>
          <a:p>
            <a:pPr marL="385763" indent="-385763"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For PPD42NS sensors the aerosol source can significantly affect their response, in contrast to model PPD60PV. Additionally, sensors of the same model provide different results. </a:t>
            </a:r>
          </a:p>
          <a:p>
            <a:pPr marL="385763" indent="-385763"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Measurements of the model GP2Y1010AU0F after its calibration are in a good agreement with mass concentration measured by DUSTTRAK™ 8520.</a:t>
            </a:r>
          </a:p>
          <a:p>
            <a:pPr marL="385763" indent="-385763" algn="just">
              <a:buFont typeface="Arial" panose="020B0604020202020204" pitchFamily="34" charset="0"/>
              <a:buChar char="•"/>
            </a:pPr>
            <a:r>
              <a:rPr lang="en-US" sz="3375" dirty="0">
                <a:latin typeface="Times New Roman" panose="02020603050405020304" pitchFamily="18" charset="0"/>
                <a:cs typeface="Times New Roman" panose="02020603050405020304" pitchFamily="18" charset="0"/>
              </a:rPr>
              <a:t>SDS011 sensor’s results showed high linearity with the measurements of DUSTTRAK™ 8520, especially for sodium chloride and ammonium sulfate.</a:t>
            </a:r>
          </a:p>
        </p:txBody>
      </p:sp>
      <p:sp>
        <p:nvSpPr>
          <p:cNvPr id="106" name="Rectangle 105"/>
          <p:cNvSpPr/>
          <p:nvPr/>
        </p:nvSpPr>
        <p:spPr>
          <a:xfrm>
            <a:off x="30197665" y="18541895"/>
            <a:ext cx="11315700" cy="5143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6102" tIns="33053" rIns="66102" bIns="33053" rtlCol="0" anchor="ctr"/>
          <a:lstStyle/>
          <a:p>
            <a:pPr algn="ctr"/>
            <a:r>
              <a:rPr lang="en-US" sz="4500" b="1" dirty="0">
                <a:solidFill>
                  <a:schemeClr val="accent3">
                    <a:lumMod val="20000"/>
                    <a:lumOff val="80000"/>
                  </a:schemeClr>
                </a:solidFill>
                <a:latin typeface="Times New Roman" panose="02020603050405020304" pitchFamily="18" charset="0"/>
                <a:cs typeface="Times New Roman" panose="02020603050405020304" pitchFamily="18" charset="0"/>
              </a:rPr>
              <a:t>DISCUSSION</a:t>
            </a:r>
          </a:p>
        </p:txBody>
      </p:sp>
      <p:sp>
        <p:nvSpPr>
          <p:cNvPr id="107" name="TextBox 106"/>
          <p:cNvSpPr txBox="1"/>
          <p:nvPr/>
        </p:nvSpPr>
        <p:spPr>
          <a:xfrm>
            <a:off x="1480835" y="42649990"/>
            <a:ext cx="4803813" cy="759249"/>
          </a:xfrm>
          <a:prstGeom prst="rect">
            <a:avLst/>
          </a:prstGeom>
          <a:noFill/>
        </p:spPr>
        <p:txBody>
          <a:bodyPr wrap="none" lIns="66102" tIns="33053" rIns="66102" bIns="33053" rtlCol="0">
            <a:spAutoFit/>
          </a:bodyPr>
          <a:lstStyle/>
          <a:p>
            <a:r>
              <a:rPr lang="en-US" sz="4500" b="1" dirty="0">
                <a:latin typeface="Times New Roman" panose="02020603050405020304" pitchFamily="18" charset="0"/>
                <a:cs typeface="Times New Roman" panose="02020603050405020304" pitchFamily="18" charset="0"/>
              </a:rPr>
              <a:t>Poster Number: 32</a:t>
            </a:r>
          </a:p>
        </p:txBody>
      </p:sp>
    </p:spTree>
    <p:extLst>
      <p:ext uri="{BB962C8B-B14F-4D97-AF65-F5344CB8AC3E}">
        <p14:creationId xmlns:p14="http://schemas.microsoft.com/office/powerpoint/2010/main" val="225125186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4428</TotalTime>
  <Words>881</Words>
  <Application>Microsoft Office PowerPoint</Application>
  <PresentationFormat>Custom</PresentationFormat>
  <Paragraphs>69</Paragraphs>
  <Slides>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9" baseType="lpstr">
      <vt:lpstr>굴림</vt:lpstr>
      <vt:lpstr>Arial</vt:lpstr>
      <vt:lpstr>Calibri</vt:lpstr>
      <vt:lpstr>Garamond</vt:lpstr>
      <vt:lpstr>Times New Roman</vt:lpstr>
      <vt:lpstr>Wingdings</vt:lpstr>
      <vt:lpstr>Organic</vt:lpstr>
      <vt:lpstr>Graph</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24x48</dc:title>
  <dc:creator>Jay Larson</dc:creator>
  <dc:description>Quality poster printing
www.genigraphics.com
1-800-790-4001</dc:description>
  <cp:lastModifiedBy>Zarus, Gregory M. (ATSDR/DCHI/WB)</cp:lastModifiedBy>
  <cp:revision>172</cp:revision>
  <cp:lastPrinted>2013-02-12T02:21:55Z</cp:lastPrinted>
  <dcterms:created xsi:type="dcterms:W3CDTF">2013-02-10T21:14:48Z</dcterms:created>
  <dcterms:modified xsi:type="dcterms:W3CDTF">2017-06-22T15:25:28Z</dcterms:modified>
</cp:coreProperties>
</file>